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値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1C7C7D"/>
              </a:solidFill>
            </c:spPr>
          </c:dPt>
          <c:dPt>
            <c:idx val="1"/>
            <c:invertIfNegative val="0"/>
            <c:spPr>
              <a:solidFill>
                <a:srgbClr val="2E7D32"/>
              </a:solidFill>
            </c:spPr>
          </c:dPt>
          <c:dPt>
            <c:idx val="2"/>
            <c:invertIfNegative val="0"/>
            <c:spPr>
              <a:solidFill>
                <a:srgbClr val="C62828"/>
              </a:solidFill>
            </c:spPr>
          </c:dPt>
          <c:dPt>
            <c:idx val="3"/>
            <c:invertIfNegative val="0"/>
            <c:spPr>
              <a:solidFill>
                <a:srgbClr val="0E3B43"/>
              </a:solidFill>
            </c:spPr>
          </c:dPt>
          <c:cat>
            <c:strRef>
              <c:f>Sheet1!$A$2:$A$5</c:f>
              <c:strCache>
                <c:ptCount val="4"/>
                <c:pt idx="0">
                  <c:v>前期PBシェアでの市場成長</c:v>
                </c:pt>
                <c:pt idx="1">
                  <c:v>シェア上昇(上昇したサブカテ)</c:v>
                </c:pt>
                <c:pt idx="2">
                  <c:v>シェア低下(低下したサブカテ)</c:v>
                </c:pt>
                <c:pt idx="3">
                  <c:v>PB売上の純増減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177.8</c:v>
                </c:pt>
                <c:pt idx="1">
                  <c:v>562.3</c:v>
                </c:pt>
                <c:pt idx="2">
                  <c:v>-311.8</c:v>
                </c:pt>
                <c:pt idx="3">
                  <c:v>428.3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>
                  <a:solidFill>
                    <a:srgbClr val="5F6C7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noFill/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値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2E7D32"/>
              </a:solidFill>
            </c:spPr>
          </c:dPt>
          <c:dPt>
            <c:idx val="1"/>
            <c:invertIfNegative val="0"/>
            <c:spPr>
              <a:solidFill>
                <a:srgbClr val="2E7D32"/>
              </a:solidFill>
            </c:spPr>
          </c:dPt>
          <c:dPt>
            <c:idx val="2"/>
            <c:invertIfNegative val="0"/>
            <c:spPr>
              <a:solidFill>
                <a:srgbClr val="2E7D32"/>
              </a:solidFill>
            </c:spPr>
          </c:dPt>
          <c:dPt>
            <c:idx val="3"/>
            <c:invertIfNegative val="0"/>
            <c:spPr>
              <a:solidFill>
                <a:srgbClr val="2E7D32"/>
              </a:solidFill>
            </c:spPr>
          </c:dPt>
          <c:dPt>
            <c:idx val="4"/>
            <c:invertIfNegative val="0"/>
            <c:spPr>
              <a:solidFill>
                <a:srgbClr val="2E7D32"/>
              </a:solidFill>
            </c:spPr>
          </c:dPt>
          <c:dPt>
            <c:idx val="5"/>
            <c:invertIfNegative val="0"/>
            <c:spPr>
              <a:solidFill>
                <a:srgbClr val="2E7D32"/>
              </a:solidFill>
            </c:spPr>
          </c:dPt>
          <c:dPt>
            <c:idx val="6"/>
            <c:invertIfNegative val="0"/>
            <c:spPr>
              <a:solidFill>
                <a:srgbClr val="2E7D32"/>
              </a:solidFill>
            </c:spPr>
          </c:dPt>
          <c:dPt>
            <c:idx val="7"/>
            <c:invertIfNegative val="0"/>
            <c:spPr>
              <a:solidFill>
                <a:srgbClr val="2E7D32"/>
              </a:solidFill>
            </c:spPr>
          </c:dPt>
          <c:dPt>
            <c:idx val="8"/>
            <c:invertIfNegative val="0"/>
            <c:spPr>
              <a:solidFill>
                <a:srgbClr val="C62828"/>
              </a:solidFill>
            </c:spPr>
          </c:dPt>
          <c:dPt>
            <c:idx val="9"/>
            <c:invertIfNegative val="0"/>
            <c:spPr>
              <a:solidFill>
                <a:srgbClr val="C62828"/>
              </a:solidFill>
            </c:spPr>
          </c:dPt>
          <c:dPt>
            <c:idx val="10"/>
            <c:invertIfNegative val="0"/>
            <c:spPr>
              <a:solidFill>
                <a:srgbClr val="C62828"/>
              </a:solidFill>
            </c:spPr>
          </c:dPt>
          <c:dPt>
            <c:idx val="11"/>
            <c:invertIfNegative val="0"/>
            <c:spPr>
              <a:solidFill>
                <a:srgbClr val="C62828"/>
              </a:solidFill>
            </c:spPr>
          </c:dPt>
          <c:dPt>
            <c:idx val="12"/>
            <c:invertIfNegative val="0"/>
            <c:spPr>
              <a:solidFill>
                <a:srgbClr val="C62828"/>
              </a:solidFill>
            </c:spPr>
          </c:dPt>
          <c:cat>
            <c:strRef>
              <c:f>Sheet1!$A$2:$A$14</c:f>
              <c:strCache>
                <c:ptCount val="13"/>
                <c:pt idx="0">
                  <c:v>猫ウェット / 缶</c:v>
                </c:pt>
                <c:pt idx="1">
                  <c:v>猫ウェット / レギュラーパウチ</c:v>
                </c:pt>
                <c:pt idx="2">
                  <c:v>犬スナック / 素材スナック</c:v>
                </c:pt>
                <c:pt idx="3">
                  <c:v>猫スナック / 素材</c:v>
                </c:pt>
                <c:pt idx="4">
                  <c:v>犬トイレタリー / 犬シート</c:v>
                </c:pt>
                <c:pt idx="5">
                  <c:v>猫トイレタリー / 猫砂</c:v>
                </c:pt>
                <c:pt idx="6">
                  <c:v>季節商品 / 春夏</c:v>
                </c:pt>
                <c:pt idx="7">
                  <c:v>季節商品 / 秋冬</c:v>
                </c:pt>
                <c:pt idx="8">
                  <c:v>猫スナック / レトルト</c:v>
                </c:pt>
                <c:pt idx="9">
                  <c:v>犬スナック / レトルト</c:v>
                </c:pt>
                <c:pt idx="10">
                  <c:v>犬スナック / オーラルケアガム</c:v>
                </c:pt>
                <c:pt idx="11">
                  <c:v>犬スナック / 菓子類</c:v>
                </c:pt>
                <c:pt idx="12">
                  <c:v>犬スナック / 練り込み_成形スナック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208.3</c:v>
                </c:pt>
                <c:pt idx="1">
                  <c:v>131.5</c:v>
                </c:pt>
                <c:pt idx="2">
                  <c:v>75.9</c:v>
                </c:pt>
                <c:pt idx="3">
                  <c:v>64.6</c:v>
                </c:pt>
                <c:pt idx="4">
                  <c:v>33.6</c:v>
                </c:pt>
                <c:pt idx="5">
                  <c:v>31.9</c:v>
                </c:pt>
                <c:pt idx="6">
                  <c:v>27.4</c:v>
                </c:pt>
                <c:pt idx="7">
                  <c:v>14.6</c:v>
                </c:pt>
                <c:pt idx="8">
                  <c:v>-194.5</c:v>
                </c:pt>
                <c:pt idx="9">
                  <c:v>-27.8</c:v>
                </c:pt>
                <c:pt idx="10">
                  <c:v>-22.7</c:v>
                </c:pt>
                <c:pt idx="11">
                  <c:v>-2.0</c:v>
                </c:pt>
                <c:pt idx="12">
                  <c:v>-1.3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>
                  <a:solidFill>
                    <a:srgbClr val="5F6C7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noFill/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値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1C7C7D"/>
              </a:solidFill>
            </c:spPr>
          </c:dPt>
          <c:dPt>
            <c:idx val="1"/>
            <c:invertIfNegative val="0"/>
            <c:spPr>
              <a:solidFill>
                <a:srgbClr val="1C7C7D"/>
              </a:solidFill>
            </c:spPr>
          </c:dPt>
          <c:dPt>
            <c:idx val="2"/>
            <c:invertIfNegative val="0"/>
            <c:spPr>
              <a:solidFill>
                <a:srgbClr val="1C7C7D"/>
              </a:solidFill>
            </c:spPr>
          </c:dPt>
          <c:dPt>
            <c:idx val="3"/>
            <c:invertIfNegative val="0"/>
            <c:spPr>
              <a:solidFill>
                <a:srgbClr val="1C7C7D"/>
              </a:solidFill>
            </c:spPr>
          </c:dPt>
          <c:dPt>
            <c:idx val="4"/>
            <c:invertIfNegative val="0"/>
            <c:spPr>
              <a:solidFill>
                <a:srgbClr val="1C7C7D"/>
              </a:solidFill>
            </c:spPr>
          </c:dPt>
          <c:dPt>
            <c:idx val="5"/>
            <c:invertIfNegative val="0"/>
            <c:spPr>
              <a:solidFill>
                <a:srgbClr val="1C7C7D"/>
              </a:solidFill>
            </c:spPr>
          </c:dPt>
          <c:dPt>
            <c:idx val="6"/>
            <c:invertIfNegative val="0"/>
            <c:spPr>
              <a:solidFill>
                <a:srgbClr val="1C7C7D"/>
              </a:solidFill>
            </c:spPr>
          </c:dPt>
          <c:dPt>
            <c:idx val="7"/>
            <c:invertIfNegative val="0"/>
            <c:spPr>
              <a:solidFill>
                <a:srgbClr val="1C7C7D"/>
              </a:solidFill>
            </c:spPr>
          </c:dPt>
          <c:dPt>
            <c:idx val="8"/>
            <c:invertIfNegative val="0"/>
            <c:spPr>
              <a:solidFill>
                <a:srgbClr val="1C7C7D"/>
              </a:solidFill>
            </c:spPr>
          </c:dPt>
          <c:dPt>
            <c:idx val="9"/>
            <c:invertIfNegative val="0"/>
            <c:spPr>
              <a:solidFill>
                <a:srgbClr val="1C7C7D"/>
              </a:solidFill>
            </c:spPr>
          </c:dPt>
          <c:cat>
            <c:strRef>
              <c:f>Sheet1!$A$2:$A$11</c:f>
              <c:strCache>
                <c:ptCount val="10"/>
                <c:pt idx="0">
                  <c:v>猫ドライ / グルメ  (PB 1.3%)</c:v>
                </c:pt>
                <c:pt idx="1">
                  <c:v>猫ウェット / レギュラーパウチ  (PB 7.7%)</c:v>
                </c:pt>
                <c:pt idx="2">
                  <c:v>猫スナック / レトルト  (PB 2.4%)</c:v>
                </c:pt>
                <c:pt idx="3">
                  <c:v>猫ドライ / スタンダード  (PB 20.2%)</c:v>
                </c:pt>
                <c:pt idx="4">
                  <c:v>猫ドライ / 機能食  (PB 0.0%)</c:v>
                </c:pt>
                <c:pt idx="5">
                  <c:v>犬スナック / 練り込み_成形スナック  (PB 3.5%)</c:v>
                </c:pt>
                <c:pt idx="6">
                  <c:v>猫ウェット / ミニパウチ  (PB 0.0%)</c:v>
                </c:pt>
                <c:pt idx="7">
                  <c:v>犬ドライ / 機能食  (PB 0.0%)</c:v>
                </c:pt>
                <c:pt idx="8">
                  <c:v>犬スナック / オーラルケアガム  (PB 2.6%)</c:v>
                </c:pt>
                <c:pt idx="9">
                  <c:v>猫スナック / ドライスナック  (PB 0.0%)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2093.1</c:v>
                </c:pt>
                <c:pt idx="1">
                  <c:v>2087.3</c:v>
                </c:pt>
                <c:pt idx="2">
                  <c:v>1964.6</c:v>
                </c:pt>
                <c:pt idx="3">
                  <c:v>1455.0</c:v>
                </c:pt>
                <c:pt idx="4">
                  <c:v>1315.4</c:v>
                </c:pt>
                <c:pt idx="5">
                  <c:v>937.4</c:v>
                </c:pt>
                <c:pt idx="6">
                  <c:v>889.1</c:v>
                </c:pt>
                <c:pt idx="7">
                  <c:v>824.1</c:v>
                </c:pt>
                <c:pt idx="8">
                  <c:v>823.2</c:v>
                </c:pt>
                <c:pt idx="9">
                  <c:v>659.8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>
                  <a:solidFill>
                    <a:srgbClr val="5F6C7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noFill/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値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1C7C7D"/>
              </a:solidFill>
            </c:spPr>
          </c:dPt>
          <c:dPt>
            <c:idx val="1"/>
            <c:invertIfNegative val="0"/>
            <c:spPr>
              <a:solidFill>
                <a:srgbClr val="1C7C7D"/>
              </a:solidFill>
            </c:spPr>
          </c:dPt>
          <c:dPt>
            <c:idx val="2"/>
            <c:invertIfNegative val="0"/>
            <c:spPr>
              <a:solidFill>
                <a:srgbClr val="1C7C7D"/>
              </a:solidFill>
            </c:spPr>
          </c:dPt>
          <c:dPt>
            <c:idx val="3"/>
            <c:invertIfNegative val="0"/>
            <c:spPr>
              <a:solidFill>
                <a:srgbClr val="1C7C7D"/>
              </a:solidFill>
            </c:spPr>
          </c:dPt>
          <c:dPt>
            <c:idx val="4"/>
            <c:invertIfNegative val="0"/>
            <c:spPr>
              <a:solidFill>
                <a:srgbClr val="1C7C7D"/>
              </a:solidFill>
            </c:spPr>
          </c:dPt>
          <c:cat>
            <c:strRef>
              <c:f>Sheet1!$A$2:$A$6</c:f>
              <c:strCache>
                <c:ptCount val="5"/>
                <c:pt idx="0">
                  <c:v>猫フード</c:v>
                </c:pt>
                <c:pt idx="1">
                  <c:v>犬フード</c:v>
                </c:pt>
                <c:pt idx="2">
                  <c:v>トイレタリー用品</c:v>
                </c:pt>
                <c:pt idx="3">
                  <c:v>ペット用品</c:v>
                </c:pt>
                <c:pt idx="4">
                  <c:v>ペット水物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12.8</c:v>
                </c:pt>
                <c:pt idx="1">
                  <c:v>9.0</c:v>
                </c:pt>
                <c:pt idx="2">
                  <c:v>53.5</c:v>
                </c:pt>
                <c:pt idx="3">
                  <c:v>35.6</c:v>
                </c:pt>
                <c:pt idx="4">
                  <c:v>4.0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>
                  <a:solidFill>
                    <a:srgbClr val="5F6C7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noFill/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PB SKU数の増加率</c:v>
                </c:pt>
              </c:strCache>
            </c:strRef>
          </c:tx>
          <c:spPr>
            <a:solidFill>
              <a:srgbClr val="F2A33A"/>
            </a:solidFill>
          </c:spPr>
          <c:invertIfNegative val="0"/>
          <c:cat>
            <c:strRef>
              <c:f>Sheet1!$A$2:$A$11</c:f>
              <c:strCache>
                <c:ptCount val="10"/>
                <c:pt idx="0">
                  <c:v>猫スナック</c:v>
                </c:pt>
                <c:pt idx="1">
                  <c:v>猫ウェット</c:v>
                </c:pt>
                <c:pt idx="2">
                  <c:v>猫ドライ</c:v>
                </c:pt>
                <c:pt idx="3">
                  <c:v>犬トイレタリー</c:v>
                </c:pt>
                <c:pt idx="4">
                  <c:v>季節商品</c:v>
                </c:pt>
                <c:pt idx="5">
                  <c:v>犬スナック</c:v>
                </c:pt>
                <c:pt idx="6">
                  <c:v>犬ウェット</c:v>
                </c:pt>
                <c:pt idx="7">
                  <c:v>犬猫生活用品</c:v>
                </c:pt>
                <c:pt idx="8">
                  <c:v>犬ドライ</c:v>
                </c:pt>
                <c:pt idx="9">
                  <c:v>猫トイレタリー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1.5714</c:v>
                </c:pt>
                <c:pt idx="1">
                  <c:v>1.1739</c:v>
                </c:pt>
                <c:pt idx="2">
                  <c:v>1.125</c:v>
                </c:pt>
                <c:pt idx="3">
                  <c:v>0.9444</c:v>
                </c:pt>
                <c:pt idx="4">
                  <c:v>0.8679</c:v>
                </c:pt>
                <c:pt idx="5">
                  <c:v>0.7097</c:v>
                </c:pt>
                <c:pt idx="6">
                  <c:v>0.4211</c:v>
                </c:pt>
                <c:pt idx="7">
                  <c:v>0.3684</c:v>
                </c:pt>
                <c:pt idx="8">
                  <c:v>0.0</c:v>
                </c:pt>
                <c:pt idx="9">
                  <c:v>-0.05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PB売上の成長率</c:v>
                </c:pt>
              </c:strCache>
            </c:strRef>
          </c:tx>
          <c:spPr>
            <a:solidFill>
              <a:srgbClr val="0E3B43"/>
            </a:solidFill>
          </c:spPr>
          <c:invertIfNegative val="0"/>
          <c:cat>
            <c:strRef>
              <c:f>Sheet1!$A$2:$A$11</c:f>
              <c:strCache>
                <c:ptCount val="10"/>
                <c:pt idx="0">
                  <c:v>猫スナック</c:v>
                </c:pt>
                <c:pt idx="1">
                  <c:v>猫ウェット</c:v>
                </c:pt>
                <c:pt idx="2">
                  <c:v>猫ドライ</c:v>
                </c:pt>
                <c:pt idx="3">
                  <c:v>犬トイレタリー</c:v>
                </c:pt>
                <c:pt idx="4">
                  <c:v>季節商品</c:v>
                </c:pt>
                <c:pt idx="5">
                  <c:v>犬スナック</c:v>
                </c:pt>
                <c:pt idx="6">
                  <c:v>犬ウェット</c:v>
                </c:pt>
                <c:pt idx="7">
                  <c:v>犬猫生活用品</c:v>
                </c:pt>
                <c:pt idx="8">
                  <c:v>犬ドライ</c:v>
                </c:pt>
                <c:pt idx="9">
                  <c:v>猫トイレタリー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-0.3174</c:v>
                </c:pt>
                <c:pt idx="1">
                  <c:v>0.4501</c:v>
                </c:pt>
                <c:pt idx="2">
                  <c:v>0.0616</c:v>
                </c:pt>
                <c:pt idx="3">
                  <c:v>0.0286</c:v>
                </c:pt>
                <c:pt idx="4">
                  <c:v>0.1571</c:v>
                </c:pt>
                <c:pt idx="5">
                  <c:v>0.0759</c:v>
                </c:pt>
                <c:pt idx="6">
                  <c:v>0.1837</c:v>
                </c:pt>
                <c:pt idx="7">
                  <c:v>0.198</c:v>
                </c:pt>
                <c:pt idx="8">
                  <c:v>0.0589</c:v>
                </c:pt>
                <c:pt idx="9">
                  <c:v>0.0297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noFill/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PB戦略資料。比較期間: 25/6期 vs 26/6期。トライアルの方向性の記載は使用していません。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PB売上は46.97億円→51.25億円(4.28億円、+9.1%)、PB比率は18.4%→19.1%(+0.76pt)。猫ウェットの寄与は3.45億円で、純増の約81%を占めます。</a:t>
            </a:r>
          </a:p>
          <a:p>
            <a:r>
              <a:t>PB SKU数は336→567(+69%)、PB売上は+9%。PB SKU当たり売上は1,398万円→904万円(-35%)。追加SKU1つ当たりのPB売上増は平均185万円。27/6期のPB SKU数は518です。</a:t>
            </a:r>
          </a:p>
          <a:p>
            <a:r>
              <a:t>PB売上は集中しています。上位3サブカテ(犬トイレタリー / 犬シート、猫トイレタリー / 猫砂、猫ウェット / 缶)でPB売上の62%、7サブカテで80%を占めます。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PB比率 18.37%→19.12%(+0.76pt)。 うちサブカテ内のシェア変化が+0.98pt、サブカテ間の売上構成の変化が-0.22pt。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棒グラフは2つの通期間のPB売上(シェア × 全体売上)の増減です。最大の増加: 猫ウェット / 缶(2.08億円)、PBシェア 47.4%→63.4%。 最大の減少: 猫スナック / レトルト(-1.95億円)、PBシェア 13.8%→2.4%。 増加の総額 6.78億円、減少の総額 -2.50億円、純増減 4.28億円。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上位10市場のうち8市場はPBシェアが5%以下です。 非PB売上 = 全体売上 − PB売上。つまりPBがこれから獲得しうる売上です。 規模だけでは推奨になりません。実現性と粗利はこのデータに含まれていません。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部門別のPB比率: 猫フード 12.8%、犬フード 9.0%、トイレタリー用品 53.5%、ペット用品 35.6%、ペット水物 4.0%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PB比率の変化+0.76ptは、部門内のシェア変化+0.98ptと売上構成の変化-0.22ptの合計です。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カテゴリーごとに2本の棒を比較してください。SKUの棒が売上の棒より大きく高い場合、追加したSKUに見合う売上が出ていません。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方向性はPBシェアの水準・推移と、市場の規模・成長に基づいて分類しています。優先度低: 鳥、猫ウェット / ライフサポートパウチ、犬猫生活用品 / 健康、犬猫生活用品 / 美容、小動物 / 小動物用品、猫ウェット / カップ、犬猫生活用品 / 食器、猫ドライ / 療法食、猫トイレタリー / 猫トイレタリー本体、犬ドライ / 療法食、猫トイレタリー / 猫用紙おむつ、犬猫生活用品 / 移動用品、犬トイレタリー / 犬トイレタリー用品、猫ウェット / 療法食、犬ウェット / 療法食、犬ウェット / カップ、猫トイレタリー / 猫トイレタリー用品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PB売上の動き: 最大の増加は猫ウェット / 缶(2.08億円)、最大の減少は猫スナック / レトルト(-1.95億円)です。</a:t>
            </a:r>
          </a:p>
          <a:p>
            <a:r>
              <a:t>非PB売上が最も大きいのは猫ドライ / グルメ(20.93億円、PB比率1.3%)です。</a:t>
            </a:r>
          </a:p>
          <a:p>
            <a:r>
              <a:t>伸びしろの試算(仮定に基づく): 拡大・シェア奪回・横展開の合計で約8.35億円。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PB売上の動き: 最大の増加は犬スナック / 素材スナック(7,595万円)、最大の減少は犬スナック / レトルト(-2,780万円)です。</a:t>
            </a:r>
          </a:p>
          <a:p>
            <a:r>
              <a:t>非PB売上が最も大きいのは犬スナック / 練り込み_成形スナック(9.37億円、PB比率3.5%)です。</a:t>
            </a:r>
          </a:p>
          <a:p>
            <a:r>
              <a:t>伸びしろの試算(仮定に基づく): 拡大・シェア奪回・横展開の合計で約2.36億円。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PB売上の動き: 最大の増加は犬トイレタリー / 犬シート(3,361万円)、最大の減少は猫トイレタリー / システムトイレリフィール(-50万円)です。</a:t>
            </a:r>
          </a:p>
          <a:p>
            <a:r>
              <a:t>非PB売上が最も大きいのは猫トイレタリー / システムトイレリフィール(6.19億円、PB比率1.3%)です。</a:t>
            </a:r>
          </a:p>
          <a:p>
            <a:r>
              <a:t>要注視(PBシェアが2期連続で低下): 猫トイレタリー / 猫砂。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PB売上の動き: 最大の増加は季節商品 / 春夏(2,745万円)、最大の減少は季節商品 / 通年(-101万円)です。</a:t>
            </a:r>
          </a:p>
          <a:p>
            <a:r>
              <a:t>非PB売上が最も大きいのは犬猫生活用品 / 健康(1.24億円、PB比率0.0%)です。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PB売上の動き: 最大の増加は昆虫(875万円)です。</a:t>
            </a:r>
          </a:p>
          <a:p>
            <a:r>
              <a:t>非PB売上が最も大きいのは観賞魚(4.35億円、PB比率0.0%)です。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計画用の仮定による試算です。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27/6期は2ヶ月分のため、PB比率とSKU数の参考表示のみで、成長率の算出には使っていません。</a:t>
            </a:r>
          </a:p>
          <a:p>
            <a:r>
              <a:t>粗利・原価のデータは含まれていません。PBシェアが高くても、利益が高いとは限りません。</a:t>
            </a:r>
          </a:p>
          <a:p>
            <a:r>
              <a:t>平均単価の変化には、価格・容量・商品構成の変化が含まれます。数量に関する記述は参考値です。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554480"/>
            <a:ext cx="10515600" cy="1554480"/>
          </a:xfrm>
        </p:spPr>
        <p:txBody>
          <a:bodyPr wrap="square" anchor="b"/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  <a:ea typeface="Yu Gothic"/>
              </a:rPr>
              <a:t>ペットカテゴリー PB戦略レポート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200400"/>
            <a:ext cx="10515600" cy="822960"/>
          </a:xfrm>
        </p:spPr>
        <p:txBody>
          <a:bodyPr wrap="square"/>
          <a:lstStyle/>
          <a:p>
            <a:pPr algn="l"/>
            <a:r>
              <a:rPr sz="2000" b="0" i="0">
                <a:solidFill>
                  <a:srgbClr val="BFD9DA"/>
                </a:solidFill>
                <a:latin typeface="Calibri"/>
                <a:ea typeface="Yu Gothic"/>
              </a:rPr>
              <a:t>25/6期 vs 26/6期  |  PB比率の推移は27/6期も表示</a:t>
            </a:r>
          </a:p>
          <a:p>
            <a:pPr algn="l"/>
            <a:r>
              <a:rPr sz="1300" b="0" i="0">
                <a:solidFill>
                  <a:srgbClr val="8FB5B7"/>
                </a:solidFill>
                <a:latin typeface="Calibri"/>
                <a:ea typeface="Yu Gothic"/>
              </a:rPr>
              <a:t>作成日 2026-10-02  |  元データ: 開発方向性 コミュニケーション資料2.xlsx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415" cy="86868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0E3B43"/>
                </a:solidFill>
                <a:latin typeface="Calibri"/>
                <a:ea typeface="Yu Gothic"/>
              </a:rPr>
              <a:t>PB成長の81%を猫ウェットが牽引</a:t>
            </a:r>
          </a:p>
        </p:txBody>
      </p:sp>
      <p:sp>
        <p:nvSpPr>
          <p:cNvPr id="3" name="Stat card 1"/>
          <p:cNvSpPr/>
          <p:nvPr/>
        </p:nvSpPr>
        <p:spPr>
          <a:xfrm>
            <a:off x="548640" y="141732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E6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5F6C72"/>
                </a:solidFill>
                <a:latin typeface="Calibri"/>
                <a:ea typeface="Yu Gothic"/>
              </a:rPr>
              <a:t>PB売上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308853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600" b="1" i="0">
                <a:solidFill>
                  <a:srgbClr val="0E3B43"/>
                </a:solidFill>
                <a:latin typeface="Calibri"/>
                <a:ea typeface="Yu Gothic"/>
              </a:rPr>
              <a:t>51.25億円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308853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1C7C7D"/>
                </a:solidFill>
                <a:latin typeface="Calibri"/>
                <a:ea typeface="Yu Gothic"/>
              </a:rPr>
              <a:t>25/6期比 +9.1%(4.28億円)</a:t>
            </a:r>
          </a:p>
        </p:txBody>
      </p:sp>
      <p:sp>
        <p:nvSpPr>
          <p:cNvPr id="7" name="Stat card 2"/>
          <p:cNvSpPr/>
          <p:nvPr/>
        </p:nvSpPr>
        <p:spPr>
          <a:xfrm>
            <a:off x="4322978" y="141732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E6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157276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5F6C72"/>
                </a:solidFill>
                <a:latin typeface="Calibri"/>
                <a:ea typeface="Yu Gothic"/>
              </a:rPr>
              <a:t>PB比率(売上)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1874519"/>
            <a:ext cx="308853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600" b="1" i="0">
                <a:solidFill>
                  <a:srgbClr val="0E3B43"/>
                </a:solidFill>
                <a:latin typeface="Calibri"/>
                <a:ea typeface="Yu Gothic"/>
              </a:rPr>
              <a:t>19.1%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1578" y="2560320"/>
            <a:ext cx="308853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1C7C7D"/>
                </a:solidFill>
                <a:latin typeface="Calibri"/>
                <a:ea typeface="Yu Gothic"/>
              </a:rPr>
              <a:t>25/6期比 +0.76pt</a:t>
            </a:r>
          </a:p>
        </p:txBody>
      </p:sp>
      <p:sp>
        <p:nvSpPr>
          <p:cNvPr id="11" name="Stat card 3"/>
          <p:cNvSpPr/>
          <p:nvPr/>
        </p:nvSpPr>
        <p:spPr>
          <a:xfrm>
            <a:off x="8097316" y="141732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E6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5916" y="157276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5F6C72"/>
                </a:solidFill>
                <a:latin typeface="Calibri"/>
                <a:ea typeface="Yu Gothic"/>
              </a:rPr>
              <a:t>PB SKU当たりPB売上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5916" y="1874519"/>
            <a:ext cx="308853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600" b="1" i="0">
                <a:solidFill>
                  <a:srgbClr val="0E3B43"/>
                </a:solidFill>
                <a:latin typeface="Calibri"/>
                <a:ea typeface="Yu Gothic"/>
              </a:rPr>
              <a:t>904万円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5916" y="2560320"/>
            <a:ext cx="308853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Calibri"/>
                <a:ea typeface="Yu Gothic"/>
              </a:rPr>
              <a:t>25/6期比 -35%(SKU数 +69%)</a:t>
            </a:r>
          </a:p>
        </p:txBody>
      </p:sp>
      <p:sp>
        <p:nvSpPr>
          <p:cNvPr id="15" name="Findings"/>
          <p:cNvSpPr txBox="1"/>
          <p:nvPr/>
        </p:nvSpPr>
        <p:spPr>
          <a:xfrm>
            <a:off x="548640" y="3291840"/>
            <a:ext cx="11094415" cy="3291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spcAft>
                <a:spcPts val="1400"/>
              </a:spcAft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  <a:ea typeface="Yu Gothic"/>
              </a:rPr>
              <a:t>PB売上は46.97億円→51.25億円(4.28億円、+9.1%)、PB比率は18.4%→19.1%(+0.76pt)。猫ウェットの寄与は3.45億円で、純増の約81%を占めます。</a:t>
            </a:r>
          </a:p>
          <a:p>
            <a:pPr marL="201168" indent="-201168">
              <a:spcAft>
                <a:spcPts val="1400"/>
              </a:spcAft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  <a:ea typeface="Yu Gothic"/>
              </a:rPr>
              <a:t>PB SKU数は336→567(+69%)、PB売上は+9%。PB SKU当たり売上は1,398万円→904万円(-35%)。追加SKU1つ当たりのPB売上増は平均185万円。27/6期のPB SKU数は518です。</a:t>
            </a:r>
          </a:p>
          <a:p>
            <a:pPr marL="201168" indent="-201168">
              <a:spcAft>
                <a:spcPts val="1400"/>
              </a:spcAft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  <a:ea typeface="Yu Gothic"/>
              </a:rPr>
              <a:t>PB売上は集中しています。上位3サブカテ(犬トイレタリー / 犬シート、猫トイレタリー / 猫砂、猫ウェット / 缶)でPB売上の62%、7サブカテで80%を占めます。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415" cy="86868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0E3B43"/>
                </a:solidFill>
                <a:latin typeface="Calibri"/>
                <a:ea typeface="Yu Gothic"/>
              </a:rPr>
              <a:t>PB成長の42%は市場成長、残りはシェア上昇による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5F6C72"/>
                </a:solidFill>
                <a:latin typeface="Calibri"/>
                <a:ea typeface="Yu Gothic"/>
              </a:rPr>
              <a:t>PB売上の増減要因 25/6期→26/6期(百万円)</a:t>
            </a:r>
          </a:p>
        </p:txBody>
      </p:sp>
      <p:graphicFrame>
        <p:nvGraphicFramePr>
          <p:cNvPr id="4" name="PB sales bridge chart"/>
          <p:cNvGraphicFramePr>
            <a:graphicFrameLocks noGrp="1"/>
          </p:cNvGraphicFramePr>
          <p:nvPr/>
        </p:nvGraphicFramePr>
        <p:xfrm>
          <a:off x="548640" y="1417320"/>
          <a:ext cx="722376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Bridge notes card"/>
          <p:cNvSpPr/>
          <p:nvPr/>
        </p:nvSpPr>
        <p:spPr>
          <a:xfrm>
            <a:off x="8183879" y="1417320"/>
            <a:ext cx="3459175" cy="3657600"/>
          </a:xfrm>
          <a:prstGeom prst="roundRect">
            <a:avLst>
              <a:gd name="adj" fmla="val 6000"/>
            </a:avLst>
          </a:prstGeom>
          <a:solidFill>
            <a:srgbClr val="E6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645920"/>
            <a:ext cx="3001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0E3B43"/>
                </a:solidFill>
                <a:latin typeface="Calibri"/>
                <a:ea typeface="Yu Gothic"/>
              </a:rPr>
              <a:t>グラフの見方</a:t>
            </a:r>
          </a:p>
        </p:txBody>
      </p:sp>
      <p:sp>
        <p:nvSpPr>
          <p:cNvPr id="7" name="Bridge notes"/>
          <p:cNvSpPr txBox="1"/>
          <p:nvPr/>
        </p:nvSpPr>
        <p:spPr>
          <a:xfrm>
            <a:off x="8412480" y="2148840"/>
            <a:ext cx="3001975" cy="2834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spcAft>
                <a:spcPts val="800"/>
              </a:spcAft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Yu Gothic"/>
              </a:rPr>
              <a:t>PB比率 18.37%→19.12%(+0.76pt)。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Yu Gothic"/>
              </a:rPr>
              <a:t>うちサブカテ内のシェア変化が+0.98pt、サブカテ間の売上構成の変化が-0.22pt。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83480"/>
            <a:ext cx="722376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5F6C72"/>
                </a:solidFill>
                <a:latin typeface="Calibri"/>
                <a:ea typeface="Yu Gothic"/>
              </a:rPr>
              <a:t>市場要因 = 売上の増減 × 前期PBシェア、シェア要因 = 当期売上 × PBシェアの増減。両者の合計はPB売上の増減と完全に一致します。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415" cy="86868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0E3B43"/>
                </a:solidFill>
                <a:latin typeface="Calibri"/>
                <a:ea typeface="Yu Gothic"/>
              </a:rPr>
              <a:t>PB売上の増減 25/6期→26/6期</a:t>
            </a:r>
          </a:p>
        </p:txBody>
      </p:sp>
      <p:graphicFrame>
        <p:nvGraphicFramePr>
          <p:cNvPr id="3" name="PB sales change chart"/>
          <p:cNvGraphicFramePr>
            <a:graphicFrameLocks noGrp="1"/>
          </p:cNvGraphicFramePr>
          <p:nvPr/>
        </p:nvGraphicFramePr>
        <p:xfrm>
          <a:off x="548640" y="1371600"/>
          <a:ext cx="768096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11704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5F6C72"/>
                </a:solidFill>
                <a:latin typeface="Calibri"/>
                <a:ea typeface="Yu Gothic"/>
              </a:rPr>
              <a:t>PB売上の増減(百万円、増減の大きいサブカテ)</a:t>
            </a:r>
          </a:p>
        </p:txBody>
      </p:sp>
      <p:sp>
        <p:nvSpPr>
          <p:cNvPr id="5" name="Mover notes card"/>
          <p:cNvSpPr/>
          <p:nvPr/>
        </p:nvSpPr>
        <p:spPr>
          <a:xfrm>
            <a:off x="8503920" y="1417320"/>
            <a:ext cx="3139135" cy="3657600"/>
          </a:xfrm>
          <a:prstGeom prst="roundRect">
            <a:avLst>
              <a:gd name="adj" fmla="val 6000"/>
            </a:avLst>
          </a:prstGeom>
          <a:solidFill>
            <a:srgbClr val="E6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0" y="1645920"/>
            <a:ext cx="268193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0E3B43"/>
                </a:solidFill>
                <a:latin typeface="Calibri"/>
                <a:ea typeface="Yu Gothic"/>
              </a:rPr>
              <a:t>グラフの見方</a:t>
            </a:r>
          </a:p>
        </p:txBody>
      </p:sp>
      <p:sp>
        <p:nvSpPr>
          <p:cNvPr id="7" name="Mover notes"/>
          <p:cNvSpPr txBox="1"/>
          <p:nvPr/>
        </p:nvSpPr>
        <p:spPr>
          <a:xfrm>
            <a:off x="8732520" y="2148840"/>
            <a:ext cx="2681935" cy="2834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spcAft>
                <a:spcPts val="800"/>
              </a:spcAft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Yu Gothic"/>
              </a:rPr>
              <a:t>最大の増加: 猫ウェット / 缶(2.08億円)、PBシェア 47.4%→63.4%。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Yu Gothic"/>
              </a:rPr>
              <a:t>最大の減少: 猫スナック / レトルト(-1.95億円)、PBシェア 13.8%→2.4%。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Yu Gothic"/>
              </a:rPr>
              <a:t>増加の総額 6.78億円、減少の総額 -2.50億円、純増減 4.28億円。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415" cy="86868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0E3B43"/>
                </a:solidFill>
                <a:latin typeface="Calibri"/>
                <a:ea typeface="Yu Gothic"/>
              </a:rPr>
              <a:t>非PB売上の大きい市場にPBの伸びしろがある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5F6C72"/>
                </a:solidFill>
                <a:latin typeface="Calibri"/>
                <a:ea typeface="Yu Gothic"/>
              </a:rPr>
              <a:t>26/6期の非PB売上(百万円、括弧内はPBシェア)</a:t>
            </a:r>
          </a:p>
        </p:txBody>
      </p:sp>
      <p:graphicFrame>
        <p:nvGraphicFramePr>
          <p:cNvPr id="4" name="Non-PB pools chart"/>
          <p:cNvGraphicFramePr>
            <a:graphicFrameLocks noGrp="1"/>
          </p:cNvGraphicFramePr>
          <p:nvPr/>
        </p:nvGraphicFramePr>
        <p:xfrm>
          <a:off x="548640" y="1371600"/>
          <a:ext cx="786384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Pool notes card"/>
          <p:cNvSpPr/>
          <p:nvPr/>
        </p:nvSpPr>
        <p:spPr>
          <a:xfrm>
            <a:off x="8778240" y="1417320"/>
            <a:ext cx="2864815" cy="3657600"/>
          </a:xfrm>
          <a:prstGeom prst="roundRect">
            <a:avLst>
              <a:gd name="adj" fmla="val 6000"/>
            </a:avLst>
          </a:prstGeom>
          <a:solidFill>
            <a:srgbClr val="E6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1645920"/>
            <a:ext cx="24076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0E3B43"/>
                </a:solidFill>
                <a:latin typeface="Calibri"/>
                <a:ea typeface="Yu Gothic"/>
              </a:rPr>
              <a:t>示唆</a:t>
            </a:r>
          </a:p>
        </p:txBody>
      </p:sp>
      <p:sp>
        <p:nvSpPr>
          <p:cNvPr id="7" name="Pool notes"/>
          <p:cNvSpPr txBox="1"/>
          <p:nvPr/>
        </p:nvSpPr>
        <p:spPr>
          <a:xfrm>
            <a:off x="9006840" y="2148840"/>
            <a:ext cx="2407615" cy="2834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spcAft>
                <a:spcPts val="800"/>
              </a:spcAft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Yu Gothic"/>
              </a:rPr>
              <a:t>上位10市場のうち8市場はPBシェアが5%以下です。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Yu Gothic"/>
              </a:rPr>
              <a:t>非PB売上 = 全体売上 − PB売上。つまりPBがこれから獲得しうる売上です。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  <a:ea typeface="Yu Gothic"/>
              </a:rPr>
              <a:t>規模だけでは推奨になりません。実現性と粗利はこのデータに含まれていません。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415" cy="86868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0E3B43"/>
                </a:solidFill>
                <a:latin typeface="Calibri"/>
                <a:ea typeface="Yu Gothic"/>
              </a:rPr>
              <a:t>部門別の売上とPB比率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5F6C72"/>
                </a:solidFill>
                <a:latin typeface="Calibri"/>
                <a:ea typeface="Yu Gothic"/>
              </a:rPr>
              <a:t>PB比率 26/6期(%)</a:t>
            </a:r>
          </a:p>
        </p:txBody>
      </p:sp>
      <p:graphicFrame>
        <p:nvGraphicFramePr>
          <p:cNvPr id="4" name="PB ratio by department chart"/>
          <p:cNvGraphicFramePr>
            <a:graphicFrameLocks noGrp="1"/>
          </p:cNvGraphicFramePr>
          <p:nvPr/>
        </p:nvGraphicFramePr>
        <p:xfrm>
          <a:off x="548640" y="1417320"/>
          <a:ext cx="475488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Department table"/>
          <p:cNvGraphicFramePr>
            <a:graphicFrameLocks noGrp="1"/>
          </p:cNvGraphicFramePr>
          <p:nvPr/>
        </p:nvGraphicFramePr>
        <p:xfrm>
          <a:off x="5532120" y="1417320"/>
          <a:ext cx="6080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868680"/>
                <a:gridCol w="777240"/>
                <a:gridCol w="868680"/>
                <a:gridCol w="1234440"/>
                <a:gridCol w="8686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部門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売上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市場前年比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PB売上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PB比率 前期→当期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 SKU数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猫フード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139.6億円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+5.8%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17.84億円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11.7%→12.8%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38→85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犬フード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61.59億円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+3.2%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5.56億円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8.5%→9.0%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51→81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トイレタリー用品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42.90億円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+3.9%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22.97億円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54.0%→53.5%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38→54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ペット用品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12.45億円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+8.0%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4.43億円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32.8%→35.6%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178→323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ペット水物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11.54億円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+1.9%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4,622万円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3.0%→4.0%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31→24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ペット計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268.0億円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+4.8%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51.25億円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18.4%→19.1%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336→567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02920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5F6C72"/>
                </a:solidFill>
                <a:latin typeface="Calibri"/>
                <a:ea typeface="Yu Gothic"/>
              </a:rPr>
              <a:t>ペット全体のPB比率19.1%は、PB比率の大きく異なる部門の平均です。部門ごとに状況が違うため、次のスライド以降は部門別に見ていきます。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415" cy="86868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0E3B43"/>
                </a:solidFill>
                <a:latin typeface="Calibri"/>
                <a:ea typeface="Yu Gothic"/>
              </a:rPr>
              <a:t>PB売上とPB比率の増減要因(部門別)</a:t>
            </a:r>
          </a:p>
        </p:txBody>
      </p:sp>
      <p:graphicFrame>
        <p:nvGraphicFramePr>
          <p:cNvPr id="3" name="Department bridge table"/>
          <p:cNvGraphicFramePr>
            <a:graphicFrameLocks noGrp="1"/>
          </p:cNvGraphicFramePr>
          <p:nvPr/>
        </p:nvGraphicFramePr>
        <p:xfrm>
          <a:off x="548640" y="141732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54480"/>
                <a:gridCol w="1554480"/>
                <a:gridCol w="1554480"/>
                <a:gridCol w="2103120"/>
                <a:gridCol w="210312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部門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PB売上の増減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うち市場成長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うちシェア変化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PB比率への寄与: 部門内のシェア変化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PB比率への寄与: 売上構成の変化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猫フード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2.40億円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3,477万円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2.05億円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+0.81pt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-0.29pt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犬フード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4,723万円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3,212万円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1,511万円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+0.05pt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+0.10pt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トイレタリー用品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6,505万円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7,346万円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-841万円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-0.03pt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-0.10pt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ペット用品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6,431万円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3,100万円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3,331万円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+0.12pt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+0.02pt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ペット水物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1,217万円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642万円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575万円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+0.02pt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+0.04pt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ペット計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4.28億円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1.78億円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2.51億円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+0.98pt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-0.22pt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257800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5F6C72"/>
                </a:solidFill>
                <a:latin typeface="Calibri"/>
                <a:ea typeface="Yu Gothic"/>
              </a:rPr>
              <a:t>売上構成の変化は、PB比率の高い部門へ売上が移ると+、低い部門へ移ると−になります。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415" cy="86868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0E3B43"/>
                </a:solidFill>
                <a:latin typeface="Calibri"/>
                <a:ea typeface="Yu Gothic"/>
              </a:rPr>
              <a:t>PB SKU数+69%に対しPB売上+9%: SKU増が売上増を上回る</a:t>
            </a:r>
          </a:p>
        </p:txBody>
      </p:sp>
      <p:graphicFrame>
        <p:nvGraphicFramePr>
          <p:cNvPr id="3" name="SKU vs sales growth chart"/>
          <p:cNvGraphicFramePr>
            <a:graphicFrameLocks noGrp="1"/>
          </p:cNvGraphicFramePr>
          <p:nvPr/>
        </p:nvGraphicFramePr>
        <p:xfrm>
          <a:off x="548640" y="1600200"/>
          <a:ext cx="704088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128016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5F6C72"/>
                </a:solidFill>
                <a:latin typeface="Calibri"/>
                <a:ea typeface="Yu Gothic"/>
              </a:rPr>
              <a:t>カテゴリー別の伸び 25/6期→26/6期(前期PB売上5,000万円以上)</a:t>
            </a:r>
          </a:p>
        </p:txBody>
      </p:sp>
      <p:graphicFrame>
        <p:nvGraphicFramePr>
          <p:cNvPr id="5" name="SKU verdict table"/>
          <p:cNvGraphicFramePr>
            <a:graphicFrameLocks noGrp="1"/>
          </p:cNvGraphicFramePr>
          <p:nvPr/>
        </p:nvGraphicFramePr>
        <p:xfrm>
          <a:off x="7818120" y="1600200"/>
          <a:ext cx="4114800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822960"/>
                <a:gridCol w="196596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カテゴリー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SKU当たり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判定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猫スナック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-73%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SKU増・売上減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猫ウェット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-33%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SKU増が売上増を上回る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猫ドライ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-50%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SKU増が売上増を上回る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犬トイレタリー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-47%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SKU増が売上増を上回る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季節商品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-38%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SKU増が売上増を上回る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犬スナック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-37%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SKU増が売上増を上回る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犬ウェット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-17%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SKU増が売上増を上回る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犬猫生活用品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-12%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SKU増が売上増を上回る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犬ドライ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SKU横ばい・売上増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猫トイレタリー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+8%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SKU横ばい・売上増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415" cy="86868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0E3B43"/>
                </a:solidFill>
                <a:latin typeface="Calibri"/>
                <a:ea typeface="Yu Gothic"/>
              </a:rPr>
              <a:t>サブカテ別の方向性(提案)</a:t>
            </a:r>
          </a:p>
        </p:txBody>
      </p:sp>
      <p:sp>
        <p:nvSpPr>
          <p:cNvPr id="3" name="Direction card 1"/>
          <p:cNvSpPr/>
          <p:nvPr/>
        </p:nvSpPr>
        <p:spPr>
          <a:xfrm>
            <a:off x="548640" y="1371600"/>
            <a:ext cx="3545738" cy="2194560"/>
          </a:xfrm>
          <a:prstGeom prst="roundRect">
            <a:avLst>
              <a:gd name="adj" fmla="val 6000"/>
            </a:avLst>
          </a:prstGeom>
          <a:solidFill>
            <a:srgbClr val="E6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unt 1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Yu Gothic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1627632"/>
            <a:ext cx="2494178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0E3B43"/>
                </a:solidFill>
                <a:latin typeface="Calibri"/>
                <a:ea typeface="Yu Gothic"/>
              </a:rPr>
              <a:t>拡大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3088538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C72"/>
                </a:solidFill>
                <a:latin typeface="Calibri"/>
                <a:ea typeface="Yu Gothic"/>
              </a:rPr>
              <a:t>PBシェアが上昇しており、PB売上の規模があり、非PBの伸びしろも残っています。SKU開発はまずここに注力します。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99232"/>
            <a:ext cx="308853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1F2933"/>
                </a:solidFill>
                <a:latin typeface="Calibri"/>
                <a:ea typeface="Yu Gothic"/>
              </a:rPr>
              <a:t>主な対象: 猫ウェット / レギュラーパウチ、猫ウェット / 缶</a:t>
            </a:r>
          </a:p>
        </p:txBody>
      </p:sp>
      <p:sp>
        <p:nvSpPr>
          <p:cNvPr id="8" name="Direction card 2"/>
          <p:cNvSpPr/>
          <p:nvPr/>
        </p:nvSpPr>
        <p:spPr>
          <a:xfrm>
            <a:off x="4322978" y="1371600"/>
            <a:ext cx="3545738" cy="2194560"/>
          </a:xfrm>
          <a:prstGeom prst="roundRect">
            <a:avLst>
              <a:gd name="adj" fmla="val 6000"/>
            </a:avLst>
          </a:prstGeom>
          <a:solidFill>
            <a:srgbClr val="E6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unt 2"/>
          <p:cNvSpPr/>
          <p:nvPr/>
        </p:nvSpPr>
        <p:spPr>
          <a:xfrm>
            <a:off x="4505858" y="1554480"/>
            <a:ext cx="502920" cy="502920"/>
          </a:xfrm>
          <a:prstGeom prst="ellipse">
            <a:avLst/>
          </a:prstGeom>
          <a:solidFill>
            <a:srgbClr val="1C7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Yu Gothic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91658" y="1627632"/>
            <a:ext cx="2494178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0E3B43"/>
                </a:solidFill>
                <a:latin typeface="Calibri"/>
                <a:ea typeface="Yu Gothic"/>
              </a:rPr>
              <a:t>横展開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1578" y="2148840"/>
            <a:ext cx="3088538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C72"/>
                </a:solidFill>
                <a:latin typeface="Calibri"/>
                <a:ea typeface="Yu Gothic"/>
              </a:rPr>
              <a:t>PBはまだほぼ未展開ですが、同じカテゴリー内に「拡大」の実績があるサブカテがあります。その成功パターンを横展開します。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1578" y="2999232"/>
            <a:ext cx="308853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1F2933"/>
                </a:solidFill>
                <a:latin typeface="Calibri"/>
                <a:ea typeface="Yu Gothic"/>
              </a:rPr>
              <a:t>主な対象: 犬スナック / 練り込み_成形スナック、猫ウェット / ミニパウチ</a:t>
            </a:r>
          </a:p>
        </p:txBody>
      </p:sp>
      <p:sp>
        <p:nvSpPr>
          <p:cNvPr id="13" name="Direction card 3"/>
          <p:cNvSpPr/>
          <p:nvPr/>
        </p:nvSpPr>
        <p:spPr>
          <a:xfrm>
            <a:off x="8097316" y="1371600"/>
            <a:ext cx="3545738" cy="2194560"/>
          </a:xfrm>
          <a:prstGeom prst="roundRect">
            <a:avLst>
              <a:gd name="adj" fmla="val 6000"/>
            </a:avLst>
          </a:prstGeom>
          <a:solidFill>
            <a:srgbClr val="E6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unt 3"/>
          <p:cNvSpPr/>
          <p:nvPr/>
        </p:nvSpPr>
        <p:spPr>
          <a:xfrm>
            <a:off x="8280196" y="1554480"/>
            <a:ext cx="502920" cy="502920"/>
          </a:xfrm>
          <a:prstGeom prst="ellipse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5996" y="1627632"/>
            <a:ext cx="2494178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0E3B43"/>
                </a:solidFill>
                <a:latin typeface="Calibri"/>
                <a:ea typeface="Yu Gothic"/>
              </a:rPr>
              <a:t>シェア奪回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5916" y="2148840"/>
            <a:ext cx="3088538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C72"/>
                </a:solidFill>
                <a:latin typeface="Calibri"/>
                <a:ea typeface="Yu Gothic"/>
              </a:rPr>
              <a:t>PBシェアが前期から大きく低下しました。投資の前に原因(取扱終了、競合、価格)を特定します。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5916" y="2999232"/>
            <a:ext cx="308853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1F2933"/>
                </a:solidFill>
                <a:latin typeface="Calibri"/>
                <a:ea typeface="Yu Gothic"/>
              </a:rPr>
              <a:t>主な対象: 猫スナック / レトルト、犬スナック / レトルト</a:t>
            </a:r>
          </a:p>
        </p:txBody>
      </p:sp>
      <p:sp>
        <p:nvSpPr>
          <p:cNvPr id="18" name="Direction card 4"/>
          <p:cNvSpPr/>
          <p:nvPr/>
        </p:nvSpPr>
        <p:spPr>
          <a:xfrm>
            <a:off x="548640" y="3794760"/>
            <a:ext cx="3545738" cy="2194560"/>
          </a:xfrm>
          <a:prstGeom prst="roundRect">
            <a:avLst>
              <a:gd name="adj" fmla="val 6000"/>
            </a:avLst>
          </a:prstGeom>
          <a:solidFill>
            <a:srgbClr val="E6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unt 4"/>
          <p:cNvSpPr/>
          <p:nvPr/>
        </p:nvSpPr>
        <p:spPr>
          <a:xfrm>
            <a:off x="731520" y="3977640"/>
            <a:ext cx="502920" cy="50292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Yu Gothic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050792"/>
            <a:ext cx="2494178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0E3B43"/>
                </a:solidFill>
                <a:latin typeface="Calibri"/>
                <a:ea typeface="Yu Gothic"/>
              </a:rPr>
              <a:t>小規模テスト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72000"/>
            <a:ext cx="3088538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C72"/>
                </a:solidFill>
                <a:latin typeface="Calibri"/>
                <a:ea typeface="Yu Gothic"/>
              </a:rPr>
              <a:t>PB未展開の大きな市場で、同カテゴリー内に実績のあるサブカテもありません。実現性はこのデータでは判断できないため、1〜2SKUでテストします。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22392"/>
            <a:ext cx="308853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1F2933"/>
                </a:solidFill>
                <a:latin typeface="Calibri"/>
                <a:ea typeface="Yu Gothic"/>
              </a:rPr>
              <a:t>主な対象: 猫ドライ / グルメ、猫ドライ / 機能食</a:t>
            </a:r>
          </a:p>
        </p:txBody>
      </p:sp>
      <p:sp>
        <p:nvSpPr>
          <p:cNvPr id="23" name="Direction card 5"/>
          <p:cNvSpPr/>
          <p:nvPr/>
        </p:nvSpPr>
        <p:spPr>
          <a:xfrm>
            <a:off x="4322978" y="3794760"/>
            <a:ext cx="3545738" cy="2194560"/>
          </a:xfrm>
          <a:prstGeom prst="roundRect">
            <a:avLst>
              <a:gd name="adj" fmla="val 6000"/>
            </a:avLst>
          </a:prstGeom>
          <a:solidFill>
            <a:srgbClr val="E6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unt 5"/>
          <p:cNvSpPr/>
          <p:nvPr/>
        </p:nvSpPr>
        <p:spPr>
          <a:xfrm>
            <a:off x="4505858" y="3977640"/>
            <a:ext cx="502920" cy="50292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Yu Gothic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1658" y="4050792"/>
            <a:ext cx="2494178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0E3B43"/>
                </a:solidFill>
                <a:latin typeface="Calibri"/>
                <a:ea typeface="Yu Gothic"/>
              </a:rPr>
              <a:t>要点検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1578" y="4572000"/>
            <a:ext cx="3088538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C72"/>
                </a:solidFill>
                <a:latin typeface="Calibri"/>
                <a:ea typeface="Yu Gothic"/>
              </a:rPr>
              <a:t>PBシェアが低下傾向です。商品・価格・売場のどこに問題があるかを確認します。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1578" y="5422392"/>
            <a:ext cx="308853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1F2933"/>
                </a:solidFill>
                <a:latin typeface="Calibri"/>
                <a:ea typeface="Yu Gothic"/>
              </a:rPr>
              <a:t>主な対象: 犬スナック / オーラルケアガム、犬猫生活用品 / つめとぎ</a:t>
            </a:r>
          </a:p>
        </p:txBody>
      </p:sp>
      <p:sp>
        <p:nvSpPr>
          <p:cNvPr id="28" name="Direction card 6"/>
          <p:cNvSpPr/>
          <p:nvPr/>
        </p:nvSpPr>
        <p:spPr>
          <a:xfrm>
            <a:off x="8097316" y="3794760"/>
            <a:ext cx="3545738" cy="2194560"/>
          </a:xfrm>
          <a:prstGeom prst="roundRect">
            <a:avLst>
              <a:gd name="adj" fmla="val 6000"/>
            </a:avLst>
          </a:prstGeom>
          <a:solidFill>
            <a:srgbClr val="E6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unt 6"/>
          <p:cNvSpPr/>
          <p:nvPr/>
        </p:nvSpPr>
        <p:spPr>
          <a:xfrm>
            <a:off x="8280196" y="3977640"/>
            <a:ext cx="502920" cy="502920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Yu Gothic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5996" y="4050792"/>
            <a:ext cx="2494178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0E3B43"/>
                </a:solidFill>
                <a:latin typeface="Calibri"/>
                <a:ea typeface="Yu Gothic"/>
              </a:rPr>
              <a:t>防衛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5916" y="4572000"/>
            <a:ext cx="3088538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C72"/>
                </a:solidFill>
                <a:latin typeface="Calibri"/>
                <a:ea typeface="Yu Gothic"/>
              </a:rPr>
              <a:t>PBシェアはすでに高い水準です。シェアを守り、生産性を下げるだけのSKU追加は避けます。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5916" y="5422392"/>
            <a:ext cx="308853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1F2933"/>
                </a:solidFill>
                <a:latin typeface="Calibri"/>
                <a:ea typeface="Yu Gothic"/>
              </a:rPr>
              <a:t>主な対象: 猫トイレタリー / 猫砂、犬トイレタリー / 犬シート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5F6C72"/>
                </a:solidFill>
                <a:latin typeface="Calibri"/>
                <a:ea typeface="Yu Gothic"/>
              </a:rPr>
              <a:t>このほか、PB未展開で小規模または縮小中の市場が17件(優先度低)、明確なシグナルのないものが18件(経過観察)。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415" cy="86868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0E3B43"/>
                </a:solidFill>
                <a:latin typeface="Calibri"/>
                <a:ea typeface="Yu Gothic"/>
              </a:rPr>
              <a:t>猫フード: PB売上 17.84億円(+16%)、PB比率 12.8%</a:t>
            </a:r>
          </a:p>
        </p:txBody>
      </p:sp>
      <p:graphicFrame>
        <p:nvGraphicFramePr>
          <p:cNvPr id="3" name="Category table"/>
          <p:cNvGraphicFramePr>
            <a:graphicFrameLocks noGrp="1"/>
          </p:cNvGraphicFramePr>
          <p:nvPr/>
        </p:nvGraphicFramePr>
        <p:xfrm>
          <a:off x="548640" y="1371600"/>
          <a:ext cx="1110996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17320"/>
                <a:gridCol w="1417320"/>
                <a:gridCol w="868680"/>
                <a:gridCol w="960120"/>
                <a:gridCol w="1600200"/>
                <a:gridCol w="1554480"/>
                <a:gridCol w="192024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カテゴリー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PB売上(部門内順位)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PBシェア(増減pt)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PB成長率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市場成長率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 SKU数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SKU当たりPB売上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判定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猫ウェット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11.12億円(1位)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22.6%(+6.3)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+45%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+4.5%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23→50(+117%)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2,223万円(-33%)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SKU増が売上増を上回る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猫ドライ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3.95億円(2位)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7.4%(+0.2)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+6%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+2.7%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8→17(+112%)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2,326万円(-50%)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SKU増が売上増を上回る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猫スナック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2.76億円(3位)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7.5%(-4.9)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-32%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+12.7%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7→18(+157%)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1,535万円(-73%)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SKU増・売上減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Sub-category table"/>
          <p:cNvGraphicFramePr>
            <a:graphicFrameLocks noGrp="1"/>
          </p:cNvGraphicFramePr>
          <p:nvPr/>
        </p:nvGraphicFramePr>
        <p:xfrm>
          <a:off x="548640" y="2889504"/>
          <a:ext cx="1106424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914400"/>
                <a:gridCol w="1097280"/>
                <a:gridCol w="1828800"/>
                <a:gridCol w="1097280"/>
                <a:gridCol w="868680"/>
                <a:gridCol w="86868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サブカテ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市場前年比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非PB売上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PBシェア 25/6→26/6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PB売上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PB成長率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 SKU数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方向性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猫ウェット / レギュラーパウチ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+11.3%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20.87億円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2.1%→7.7%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1.75億円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+304%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4→13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拡大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猫ウェット / 缶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-3.0%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5.25億円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47.4%→63.4%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9.09億円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+30%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17→35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拡大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猫スナック / 素材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+15.3%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4.95億円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25.8%→31.3%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2.26億円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+40%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5→14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拡大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猫ウェット / ミニパウチ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+1.0%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8.89億円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0.0%→0.0%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－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0→0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横展開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猫スナック / ドライスナック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+8.8%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6.60億円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0.0%→0.0%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0→0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横展開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猫スナック / ジャーキー・機能スナック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+9.4%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2.65億円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0.0%→0.5%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141万円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－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0→2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横展開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猫スナック / レトルト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+13.7%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19.65億円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13.8%→2.4%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4,914万円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-80%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2→2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シェア奪回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猫ドライ / グルメ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+4.0%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20.93億円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1.0%→1.3%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2,784万円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+43%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1→1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小規模テスト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猫ドライ / 機能食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+17.1%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13.15億円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0.0%→0.0%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0→0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小規模テスト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猫ウェット / ライフサポートパウチ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+19.5%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1.62億円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0.0%→0.0%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－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0→0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優先度低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5F6C72"/>
                </a:solidFill>
                <a:latin typeface="Calibri"/>
                <a:ea typeface="Yu Gothic"/>
              </a:rPr>
              <a:t>ほか6件(PDFレポート参照)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415" cy="86868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0E3B43"/>
                </a:solidFill>
                <a:latin typeface="Calibri"/>
                <a:ea typeface="Yu Gothic"/>
              </a:rPr>
              <a:t>犬フード: PB売上 5.56億円(+9%)、PB比率 9.0%</a:t>
            </a:r>
          </a:p>
        </p:txBody>
      </p:sp>
      <p:graphicFrame>
        <p:nvGraphicFramePr>
          <p:cNvPr id="3" name="Category table"/>
          <p:cNvGraphicFramePr>
            <a:graphicFrameLocks noGrp="1"/>
          </p:cNvGraphicFramePr>
          <p:nvPr/>
        </p:nvGraphicFramePr>
        <p:xfrm>
          <a:off x="548640" y="1371600"/>
          <a:ext cx="1110996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17320"/>
                <a:gridCol w="1417320"/>
                <a:gridCol w="868680"/>
                <a:gridCol w="960120"/>
                <a:gridCol w="1600200"/>
                <a:gridCol w="1554480"/>
                <a:gridCol w="192024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カテゴリー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PB売上(部門内順位)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PBシェア(増減pt)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PB成長率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市場成長率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 SKU数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SKU当たりPB売上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判定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犬スナック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3.15億円(1位)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10.3%(+0.0)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+7.3%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31→53(+71%)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594万円(-37%)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SKU増が売上増を上回る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犬ドライ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1.25億円(2位)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6.2%(+0.5)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+6%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-2.5%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1→1(+0%)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1.25億円(+6%)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SKU横ばい・売上増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犬ウェット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1.17億円(3位)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10.8%(+1.4)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+18%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+3.4%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19→27(+42%)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432万円(-17%)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SKU増が売上増を上回る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Sub-category table"/>
          <p:cNvGraphicFramePr>
            <a:graphicFrameLocks noGrp="1"/>
          </p:cNvGraphicFramePr>
          <p:nvPr/>
        </p:nvGraphicFramePr>
        <p:xfrm>
          <a:off x="548640" y="2889504"/>
          <a:ext cx="1106424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914400"/>
                <a:gridCol w="1097280"/>
                <a:gridCol w="1828800"/>
                <a:gridCol w="1097280"/>
                <a:gridCol w="868680"/>
                <a:gridCol w="86868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サブカテ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市場前年比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非PB売上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PBシェア 25/6→26/6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PB売上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PB成長率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 SKU数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方向性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犬スナック / 素材スナック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+17.1%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4.42億円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28.2%→35.2%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2.40億円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+46%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15→26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拡大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犬ウェット / 缶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-1.1%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2.53億円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18.9%→21.8%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7,074万円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+15%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10→11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拡大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犬スナック / 練り込み_成形スナック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+2.5%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9.37億円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3.7%→3.5%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3,424万円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5→12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横展開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犬ウェット / パウチ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+5.8%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2.80億円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0.0%→0.0%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－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0→0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横展開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犬スナック / レトルト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+6.4%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3.69億円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8.6%→0.6%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224万円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-93%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1→1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シェア奪回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犬ドライ / 機能食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+1.0%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8.24億円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0.0%→0.0%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－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0→0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小規模テスト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犬ドライ / グルメ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-1.6%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4.26億円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0.0%→0.0%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0→0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小規模テスト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犬スナック / オーラルケアガム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+5.9%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8.23億円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5.6%→2.6%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2,212万円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-51%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7→6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要点検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犬ドライ / 療法食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-70.0%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2,470万円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0.0%→0.0%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0→0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優先度低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犬ウェット / 療法食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-98.8%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11万円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0.0%→0.0%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－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0→0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優先度低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5F6C72"/>
                </a:solidFill>
                <a:latin typeface="Calibri"/>
                <a:ea typeface="Yu Gothic"/>
              </a:rPr>
              <a:t>ほか8件(PDFレポート参照)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415" cy="86868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0E3B43"/>
                </a:solidFill>
                <a:latin typeface="Calibri"/>
                <a:ea typeface="Yu Gothic"/>
              </a:rPr>
              <a:t>トイレタリー用品: PB売上 22.97億円(+3%)、PB比率 53.5%</a:t>
            </a:r>
          </a:p>
        </p:txBody>
      </p:sp>
      <p:graphicFrame>
        <p:nvGraphicFramePr>
          <p:cNvPr id="3" name="Category table"/>
          <p:cNvGraphicFramePr>
            <a:graphicFrameLocks noGrp="1"/>
          </p:cNvGraphicFramePr>
          <p:nvPr/>
        </p:nvGraphicFramePr>
        <p:xfrm>
          <a:off x="548640" y="1371600"/>
          <a:ext cx="1110996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17320"/>
                <a:gridCol w="1417320"/>
                <a:gridCol w="868680"/>
                <a:gridCol w="960120"/>
                <a:gridCol w="1600200"/>
                <a:gridCol w="1554480"/>
                <a:gridCol w="192024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カテゴリー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PB売上(部門内順位)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PBシェア(増減pt)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PB成長率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市場成長率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 SKU数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SKU当たりPB売上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判定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犬トイレタリー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12.07億円(1位)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60.7%(-0.5)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+3.7%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18→35(+94%)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3,448万円(-47%)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SKU増が売上増を上回る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猫トイレタリー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10.90億円(2位)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47.3%(-0.5)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+3%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+4.0%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20→19(-5%)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5,735万円(+8%)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SKU横ばい・売上増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Sub-category table"/>
          <p:cNvGraphicFramePr>
            <a:graphicFrameLocks noGrp="1"/>
          </p:cNvGraphicFramePr>
          <p:nvPr/>
        </p:nvGraphicFramePr>
        <p:xfrm>
          <a:off x="548640" y="2578608"/>
          <a:ext cx="110642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914400"/>
                <a:gridCol w="1097280"/>
                <a:gridCol w="1828800"/>
                <a:gridCol w="1097280"/>
                <a:gridCol w="868680"/>
                <a:gridCol w="86868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サブカテ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市場前年比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非PB売上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PBシェア 25/6→26/6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PB売上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PB成長率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 SKU数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方向性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猫トイレタリー / システムトイレリフィール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+3.1%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6.19億円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1.4%→1.3%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822万円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1→1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小規模テスト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犬トイレタリー / 紙おむつ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+10.4%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4.50億円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0.0%→0.0%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－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0→0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小規模テスト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猫トイレタリー / 猫砂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+4.8%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5.25億円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68.4%→67.3%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10.81億円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19→18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防衛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犬トイレタリー / 犬シート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+2.0%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3.19億円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78.4%→79.1%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12.07億円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+3%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18→35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防衛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猫トイレタリー / 猫トイレタリー本体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-11.9%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4,463万円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0.0%→0.0%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0→0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優先度低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猫トイレタリー / 猫用紙おむつ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+7.8%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2,261万円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0.0%→0.0%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－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0→0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優先度低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犬トイレタリー / 犬トイレタリー用品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-2.4%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1,302万円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0.0%→0.0%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0→0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優先度低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猫トイレタリー / 猫トイレタリー用品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-100.0%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0.0%→0.0%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－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0→0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優先度低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415" cy="86868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0E3B43"/>
                </a:solidFill>
                <a:latin typeface="Calibri"/>
                <a:ea typeface="Yu Gothic"/>
              </a:rPr>
              <a:t>ペット用品: PB売上 4.43億円(+17%)、PB比率 35.6%</a:t>
            </a:r>
          </a:p>
        </p:txBody>
      </p:sp>
      <p:graphicFrame>
        <p:nvGraphicFramePr>
          <p:cNvPr id="3" name="Category table"/>
          <p:cNvGraphicFramePr>
            <a:graphicFrameLocks noGrp="1"/>
          </p:cNvGraphicFramePr>
          <p:nvPr/>
        </p:nvGraphicFramePr>
        <p:xfrm>
          <a:off x="548640" y="1371600"/>
          <a:ext cx="1110996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17320"/>
                <a:gridCol w="1417320"/>
                <a:gridCol w="868680"/>
                <a:gridCol w="960120"/>
                <a:gridCol w="1600200"/>
                <a:gridCol w="1554480"/>
                <a:gridCol w="192024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カテゴリー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PB売上(部門内順位)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PBシェア(増減pt)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PB成長率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市場成長率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 SKU数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SKU当たりPB売上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判定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季節商品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3.02億円(1位)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85.4%(+6.7)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+16%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+6.6%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159→297(+87%)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102万円(-38%)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SKU増が売上増を上回る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犬猫生活用品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1.41億円(2位)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15.8%(+1.5)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+20%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+8.5%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19→26(+37%)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541万円(-12%)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SKU増が売上増を上回る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Sub-category table"/>
          <p:cNvGraphicFramePr>
            <a:graphicFrameLocks noGrp="1"/>
          </p:cNvGraphicFramePr>
          <p:nvPr/>
        </p:nvGraphicFramePr>
        <p:xfrm>
          <a:off x="548640" y="2578608"/>
          <a:ext cx="1106424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914400"/>
                <a:gridCol w="1097280"/>
                <a:gridCol w="1828800"/>
                <a:gridCol w="1097280"/>
                <a:gridCol w="868680"/>
                <a:gridCol w="86868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サブカテ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市場前年比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非PB売上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PBシェア 25/6→26/6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PB売上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PB成長率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 SKU数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方向性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犬猫生活用品 / つめとぎ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+15.3%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7,081万円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29.7%→27.1%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2,627万円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4→12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要点検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季節商品 / 秋冬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-0.2%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4,209万円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77.2%→83.2%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2.08億円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+8%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76→162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防衛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犬猫生活用品 / 健康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+5.2%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1.24億円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0.1%→0.0%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-53%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1→1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優先度低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犬猫生活用品 / 美容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+4.5%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1.23億円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0.0%→0.0%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－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0→0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優先度低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犬猫生活用品 / 食器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+9.2%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7,751万円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0.0%→0.0%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1→0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優先度低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犬猫生活用品 / 移動用品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-1.7%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1,791万円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0.0%→0.0%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－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0→0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優先度低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犬猫生活用品 / 衛生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+10.3%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9,534万円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39.8%→44.6%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7,679万円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+24%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4→3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経過観察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犬猫生活用品 / 首輪・リード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+9.8%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8,900万円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21.7%→22.5%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2,591万円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+14%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1→1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経過観察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犬猫生活用品 / 猫おもちゃ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+13.3%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8,101万円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2.6%→6.0%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516万円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+159%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2→3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経過観察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犬猫生活用品 / 犬おもちゃ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+13.5%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6,117万円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6.0%→5.5%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358万円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+5%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5→5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経過観察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犬猫生活用品 / 住居用品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-27.7%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1,001万円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11.3%→22.5%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290万円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+43%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1→1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経過観察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5F6C72"/>
                </a:solidFill>
                <a:latin typeface="Calibri"/>
                <a:ea typeface="Yu Gothic"/>
              </a:rPr>
              <a:t>ほか2件(PDFレポート参照)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415" cy="86868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0E3B43"/>
                </a:solidFill>
                <a:latin typeface="Calibri"/>
                <a:ea typeface="Yu Gothic"/>
              </a:rPr>
              <a:t>ペット水物: PB売上 4,622万円(+36%)、PB比率 4.0%</a:t>
            </a:r>
          </a:p>
        </p:txBody>
      </p:sp>
      <p:graphicFrame>
        <p:nvGraphicFramePr>
          <p:cNvPr id="3" name="Category table"/>
          <p:cNvGraphicFramePr>
            <a:graphicFrameLocks noGrp="1"/>
          </p:cNvGraphicFramePr>
          <p:nvPr/>
        </p:nvGraphicFramePr>
        <p:xfrm>
          <a:off x="548640" y="1371600"/>
          <a:ext cx="111099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17320"/>
                <a:gridCol w="1417320"/>
                <a:gridCol w="868680"/>
                <a:gridCol w="960120"/>
                <a:gridCol w="1600200"/>
                <a:gridCol w="1554480"/>
                <a:gridCol w="192024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カテゴリー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PB売上(部門内順位)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PBシェア(増減pt)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PB成長率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市場成長率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 SKU数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SKU当たりPB売上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判定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昆虫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3,408万円(1位)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42.1%(+3.2)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+35%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+24.4%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29→22(-24%)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155万円(+77%)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小規模(判定外)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小動物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1,213万円(2位)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2.6%(+0.7)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+39%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+1.9%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2→2(+0%)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607万円(+39%)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小規模(判定外)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0円(3位)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0.0%(+0.0)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+4.2%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0→0(－)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－(－)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小規模(判定外)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観賞魚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0円(3位)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0.0%(+0.0)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－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-2.2%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0→0(－)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－(－)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小規模(判定外)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Sub-category table"/>
          <p:cNvGraphicFramePr>
            <a:graphicFrameLocks noGrp="1"/>
          </p:cNvGraphicFramePr>
          <p:nvPr/>
        </p:nvGraphicFramePr>
        <p:xfrm>
          <a:off x="548640" y="3200400"/>
          <a:ext cx="1106424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914400"/>
                <a:gridCol w="1097280"/>
                <a:gridCol w="1828800"/>
                <a:gridCol w="1097280"/>
                <a:gridCol w="868680"/>
                <a:gridCol w="86868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サブカテ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市場前年比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非PB売上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PBシェア 25/6→26/6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PB売上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PB成長率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 SKU数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方向性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観賞魚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-2.2%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4.35億円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0.0%→0.0%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0→0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小規模テスト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小動物 / 小動物フード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+2.6%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3.65億円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2.4%→3.2%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1,213万円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+39%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2→2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小規模テスト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+4.2%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1.69億円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0.0%→0.0%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0→0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優先度低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小動物 / 小動物用品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-1.1%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9,236万円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0.0%→0.0%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－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0→0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優先度低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昆虫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+24.4%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4,688万円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38.9%→42.1%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3,408万円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+35%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29→22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経過観察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415" cy="86868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0E3B43"/>
                </a:solidFill>
                <a:latin typeface="Calibri"/>
                <a:ea typeface="Yu Gothic"/>
              </a:rPr>
              <a:t>伸びしろの試算: PB売上 約10.71億円増</a:t>
            </a:r>
          </a:p>
        </p:txBody>
      </p:sp>
      <p:graphicFrame>
        <p:nvGraphicFramePr>
          <p:cNvPr id="3" name="Upside table"/>
          <p:cNvGraphicFramePr>
            <a:graphicFrameLocks noGrp="1"/>
          </p:cNvGraphicFramePr>
          <p:nvPr/>
        </p:nvGraphicFramePr>
        <p:xfrm>
          <a:off x="548640" y="1417320"/>
          <a:ext cx="78638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234440"/>
                <a:gridCol w="2011680"/>
                <a:gridCol w="132588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サブカテ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方向性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PBシェア 現在→目標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PB売上の増加額</a:t>
                      </a:r>
                    </a:p>
                  </a:txBody>
                  <a:tcPr marL="73152" marR="73152" marT="27432" marB="27432" anchor="ctr">
                    <a:solidFill>
                      <a:srgbClr val="0E3B4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猫ウェット / レギュラーパウチ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拡大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7.7%→18.9%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2.53億円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猫スナック / レトルト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シェア奪回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2.4%→13.8%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2.28億円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犬スナック / 素材スナック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拡大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35.2%→49.3%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9,591万円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猫ウェット / 缶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拡大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63.4%→70.0%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9,444万円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猫ウェット / ミニパウチ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横展開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0.0%→10.0%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8,891万円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猫スナック / 素材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拡大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31.3%→42.4%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7,989万円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猫スナック / ドライスナック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横展開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0.0%→10.0%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6,598万円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犬スナック / 練り込み_成形スナック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横展開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3.5%→10.0%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Yu Gothic"/>
                        </a:rPr>
                        <a:t>6,293万円</a:t>
                      </a:r>
                    </a:p>
                  </a:txBody>
                  <a:tcPr marL="73152" marR="73152" marT="27432" marB="27432" anchor="ctr">
                    <a:solidFill>
                      <a:srgbClr val="F3F6F6"/>
                    </a:solidFill>
                  </a:tcPr>
                </a:tc>
              </a:tr>
            </a:tbl>
          </a:graphicData>
        </a:graphic>
      </p:graphicFrame>
      <p:sp>
        <p:nvSpPr>
          <p:cNvPr id="4" name="Upside callout"/>
          <p:cNvSpPr/>
          <p:nvPr/>
        </p:nvSpPr>
        <p:spPr>
          <a:xfrm>
            <a:off x="8732520" y="1417320"/>
            <a:ext cx="2910535" cy="2148840"/>
          </a:xfrm>
          <a:prstGeom prst="roundRect">
            <a:avLst>
              <a:gd name="adj" fmla="val 6000"/>
            </a:avLst>
          </a:prstGeom>
          <a:solidFill>
            <a:srgbClr val="0E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0" y="1600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BFD9DA"/>
                </a:solidFill>
                <a:latin typeface="Calibri"/>
                <a:ea typeface="Yu Gothic"/>
              </a:rPr>
              <a:t>PB売上の増加額(合計)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920240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  <a:ea typeface="Yu Gothic"/>
              </a:rPr>
              <a:t>+10.71億円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65176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F2A33A"/>
                </a:solidFill>
                <a:latin typeface="Calibri"/>
                <a:ea typeface="Yu Gothic"/>
              </a:rPr>
              <a:t>PB比率 19.1%→23.1%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97180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BFD9DA"/>
                </a:solidFill>
                <a:latin typeface="Calibri"/>
                <a:ea typeface="Yu Gothic"/>
              </a:rPr>
              <a:t>現在のPB売上比 +21%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3886200"/>
            <a:ext cx="2910535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5F6C72"/>
                </a:solidFill>
                <a:latin typeface="Calibri"/>
                <a:ea typeface="Yu Gothic"/>
              </a:rPr>
              <a:t>予測ではなく仮定です。拡大: 現在のシェアに直近の上昇幅2年分を加算(上限70%)。シェア奪回: 前期シェアに回復。横展開: シェア10%。小規模テストは対象外。売上はNBから獲得し全体売上は横ばいと仮定。粗利は考慮していません。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415" cy="86868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0E3B43"/>
                </a:solidFill>
                <a:latin typeface="Calibri"/>
                <a:ea typeface="Yu Gothic"/>
              </a:rPr>
              <a:t>前提・注意事項</a:t>
            </a:r>
          </a:p>
        </p:txBody>
      </p:sp>
      <p:sp>
        <p:nvSpPr>
          <p:cNvPr id="3" name="Notes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spcAft>
                <a:spcPts val="1600"/>
              </a:spcAft>
              <a:buChar char="•"/>
            </a:pPr>
            <a:r>
              <a:rPr sz="1800" b="0" i="0">
                <a:solidFill>
                  <a:srgbClr val="1F2933"/>
                </a:solidFill>
                <a:latin typeface="Calibri"/>
                <a:ea typeface="Yu Gothic"/>
              </a:rPr>
              <a:t>27/6期は2ヶ月分のため、PB比率とSKU数の参考表示のみで、成長率の算出には使っていません。</a:t>
            </a:r>
          </a:p>
          <a:p>
            <a:pPr marL="201168" indent="-201168">
              <a:spcAft>
                <a:spcPts val="1600"/>
              </a:spcAft>
              <a:buChar char="•"/>
            </a:pPr>
            <a:r>
              <a:rPr sz="1800" b="0" i="0">
                <a:solidFill>
                  <a:srgbClr val="1F2933"/>
                </a:solidFill>
                <a:latin typeface="Calibri"/>
                <a:ea typeface="Yu Gothic"/>
              </a:rPr>
              <a:t>粗利・原価のデータは含まれていません。PBシェアが高くても、利益が高いとは限りません。</a:t>
            </a:r>
          </a:p>
          <a:p>
            <a:pPr marL="201168" indent="-201168">
              <a:spcAft>
                <a:spcPts val="1600"/>
              </a:spcAft>
              <a:buChar char="•"/>
            </a:pPr>
            <a:r>
              <a:rPr sz="1800" b="0" i="0">
                <a:solidFill>
                  <a:srgbClr val="1F2933"/>
                </a:solidFill>
                <a:latin typeface="Calibri"/>
                <a:ea typeface="Yu Gothic"/>
              </a:rPr>
              <a:t>平均単価の変化には、価格・容量・商品構成の変化が含まれます。数量に関する記述は参考値です。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ペットカテゴリー PB戦略レポート</dc:title>
  <dc:subject/>
  <dc:creator>PB戦略レポート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