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2E7D32"/>
              </a:solidFill>
            </c:spPr>
          </c:dPt>
          <c:dPt>
            <c:idx val="1"/>
            <c:invertIfNegative val="0"/>
            <c:spPr>
              <a:solidFill>
                <a:srgbClr val="2E7D32"/>
              </a:solidFill>
            </c:spPr>
          </c:dPt>
          <c:dPt>
            <c:idx val="2"/>
            <c:invertIfNegative val="0"/>
            <c:spPr>
              <a:solidFill>
                <a:srgbClr val="2E7D32"/>
              </a:solidFill>
            </c:spPr>
          </c:dPt>
          <c:dPt>
            <c:idx val="3"/>
            <c:invertIfNegative val="0"/>
            <c:spPr>
              <a:solidFill>
                <a:srgbClr val="2E7D32"/>
              </a:solidFill>
            </c:spPr>
          </c:dPt>
          <c:dPt>
            <c:idx val="4"/>
            <c:invertIfNegative val="0"/>
            <c:spPr>
              <a:solidFill>
                <a:srgbClr val="2E7D32"/>
              </a:solidFill>
            </c:spPr>
          </c:dPt>
          <c:dPt>
            <c:idx val="5"/>
            <c:invertIfNegative val="0"/>
            <c:spPr>
              <a:solidFill>
                <a:srgbClr val="2E7D32"/>
              </a:solidFill>
            </c:spPr>
          </c:dPt>
          <c:dPt>
            <c:idx val="6"/>
            <c:invertIfNegative val="0"/>
            <c:spPr>
              <a:solidFill>
                <a:srgbClr val="2E7D32"/>
              </a:solidFill>
            </c:spPr>
          </c:dPt>
          <c:dPt>
            <c:idx val="7"/>
            <c:invertIfNegative val="0"/>
            <c:spPr>
              <a:solidFill>
                <a:srgbClr val="2E7D32"/>
              </a:solidFill>
            </c:spPr>
          </c:dPt>
          <c:dPt>
            <c:idx val="8"/>
            <c:invertIfNegative val="0"/>
            <c:spPr>
              <a:solidFill>
                <a:srgbClr val="C62828"/>
              </a:solidFill>
            </c:spPr>
          </c:dPt>
          <c:dPt>
            <c:idx val="9"/>
            <c:invertIfNegative val="0"/>
            <c:spPr>
              <a:solidFill>
                <a:srgbClr val="C62828"/>
              </a:solidFill>
            </c:spPr>
          </c:dPt>
          <c:dPt>
            <c:idx val="10"/>
            <c:invertIfNegative val="0"/>
            <c:spPr>
              <a:solidFill>
                <a:srgbClr val="C62828"/>
              </a:solidFill>
            </c:spPr>
          </c:dPt>
          <c:dPt>
            <c:idx val="11"/>
            <c:invertIfNegative val="0"/>
            <c:spPr>
              <a:solidFill>
                <a:srgbClr val="C62828"/>
              </a:solidFill>
            </c:spPr>
          </c:dPt>
          <c:dPt>
            <c:idx val="12"/>
            <c:invertIfNegative val="0"/>
            <c:spPr>
              <a:solidFill>
                <a:srgbClr val="C62828"/>
              </a:solidFill>
            </c:spPr>
          </c:dPt>
          <c:cat>
            <c:strRef>
              <c:f>Sheet1!$A$2:$A$14</c:f>
              <c:strCache>
                <c:ptCount val="13"/>
                <c:pt idx="0">
                  <c:v>猫ウェット / 缶</c:v>
                </c:pt>
                <c:pt idx="1">
                  <c:v>季節商品 / 春夏</c:v>
                </c:pt>
                <c:pt idx="2">
                  <c:v>犬スナック / 素材スナック</c:v>
                </c:pt>
                <c:pt idx="3">
                  <c:v>季節商品 / 秋冬</c:v>
                </c:pt>
                <c:pt idx="4">
                  <c:v>猫ウェット / レギュラーパウチ</c:v>
                </c:pt>
                <c:pt idx="5">
                  <c:v>猫スナック / 素材</c:v>
                </c:pt>
                <c:pt idx="6">
                  <c:v>犬猫生活用品 / 衛生</c:v>
                </c:pt>
                <c:pt idx="7">
                  <c:v>犬ドライ / 大袋</c:v>
                </c:pt>
                <c:pt idx="8">
                  <c:v>猫スナック / レトルト</c:v>
                </c:pt>
                <c:pt idx="9">
                  <c:v>犬スナック / レトルト</c:v>
                </c:pt>
                <c:pt idx="10">
                  <c:v>犬スナック / オーラルケアガム</c:v>
                </c:pt>
                <c:pt idx="11">
                  <c:v>犬スナック / 菓子類</c:v>
                </c:pt>
                <c:pt idx="12">
                  <c:v>猫トイレタリー / 猫砂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16.0</c:v>
                </c:pt>
                <c:pt idx="1">
                  <c:v>7.9</c:v>
                </c:pt>
                <c:pt idx="2">
                  <c:v>7.0</c:v>
                </c:pt>
                <c:pt idx="3">
                  <c:v>6.0</c:v>
                </c:pt>
                <c:pt idx="4">
                  <c:v>5.6</c:v>
                </c:pt>
                <c:pt idx="5">
                  <c:v>5.5</c:v>
                </c:pt>
                <c:pt idx="6">
                  <c:v>4.8</c:v>
                </c:pt>
                <c:pt idx="7">
                  <c:v>3.6</c:v>
                </c:pt>
                <c:pt idx="8">
                  <c:v>-11.3</c:v>
                </c:pt>
                <c:pt idx="9">
                  <c:v>-8.0</c:v>
                </c:pt>
                <c:pt idx="10">
                  <c:v>-3.0</c:v>
                </c:pt>
                <c:pt idx="11">
                  <c:v>-1.9</c:v>
                </c:pt>
                <c:pt idx="12">
                  <c:v>-1.1</c:v>
                </c:pt>
              </c:numCache>
            </c:numRef>
          </c:val>
        </c:ser>
        <c:dLbls>
          <c:numFmt formatCode="+0.0&quot;pt&quot;;-0.0&quot;pt&quot;" sourceLinked="0"/>
          <c:txPr>
            <a:bodyPr/>
            <a:lstStyle/>
            <a:p>
              <a:pPr>
                <a:defRPr sz="1100">
                  <a:solidFill>
                    <a:srgbClr val="5F6C7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1C7C7D"/>
              </a:solidFill>
            </c:spPr>
          </c:dPt>
          <c:dPt>
            <c:idx val="1"/>
            <c:invertIfNegative val="0"/>
            <c:spPr>
              <a:solidFill>
                <a:srgbClr val="1C7C7D"/>
              </a:solidFill>
            </c:spPr>
          </c:dPt>
          <c:dPt>
            <c:idx val="2"/>
            <c:invertIfNegative val="0"/>
            <c:spPr>
              <a:solidFill>
                <a:srgbClr val="1C7C7D"/>
              </a:solidFill>
            </c:spPr>
          </c:dPt>
          <c:dPt>
            <c:idx val="3"/>
            <c:invertIfNegative val="0"/>
            <c:spPr>
              <a:solidFill>
                <a:srgbClr val="1C7C7D"/>
              </a:solidFill>
            </c:spPr>
          </c:dPt>
          <c:dPt>
            <c:idx val="4"/>
            <c:invertIfNegative val="0"/>
            <c:spPr>
              <a:solidFill>
                <a:srgbClr val="1C7C7D"/>
              </a:solidFill>
            </c:spPr>
          </c:dPt>
          <c:dPt>
            <c:idx val="5"/>
            <c:invertIfNegative val="0"/>
            <c:spPr>
              <a:solidFill>
                <a:srgbClr val="1C7C7D"/>
              </a:solidFill>
            </c:spPr>
          </c:dPt>
          <c:dPt>
            <c:idx val="6"/>
            <c:invertIfNegative val="0"/>
            <c:spPr>
              <a:solidFill>
                <a:srgbClr val="1C7C7D"/>
              </a:solidFill>
            </c:spPr>
          </c:dPt>
          <c:dPt>
            <c:idx val="7"/>
            <c:invertIfNegative val="0"/>
            <c:spPr>
              <a:solidFill>
                <a:srgbClr val="1C7C7D"/>
              </a:solidFill>
            </c:spPr>
          </c:dPt>
          <c:dPt>
            <c:idx val="8"/>
            <c:invertIfNegative val="0"/>
            <c:spPr>
              <a:solidFill>
                <a:srgbClr val="1C7C7D"/>
              </a:solidFill>
            </c:spPr>
          </c:dPt>
          <c:dPt>
            <c:idx val="9"/>
            <c:invertIfNegative val="0"/>
            <c:spPr>
              <a:solidFill>
                <a:srgbClr val="1C7C7D"/>
              </a:solidFill>
            </c:spPr>
          </c:dPt>
          <c:cat>
            <c:strRef>
              <c:f>Sheet1!$A$2:$A$11</c:f>
              <c:strCache>
                <c:ptCount val="10"/>
                <c:pt idx="0">
                  <c:v>猫ドライ / グルメ  (PB 1.3%)</c:v>
                </c:pt>
                <c:pt idx="1">
                  <c:v>猫スナック / レトルト  (PB 2.4%)</c:v>
                </c:pt>
                <c:pt idx="2">
                  <c:v>猫ドライ / 機能食  (PB 0.0%)</c:v>
                </c:pt>
                <c:pt idx="3">
                  <c:v>犬スナック / 練り込み_成形スナック  (PB 3.5%)</c:v>
                </c:pt>
                <c:pt idx="4">
                  <c:v>猫ウェット / ミニパウチ  (PB 0.0%)</c:v>
                </c:pt>
                <c:pt idx="5">
                  <c:v>犬スナック / オーラルケアガム  (PB 2.6%)</c:v>
                </c:pt>
                <c:pt idx="6">
                  <c:v>犬ドライ / 機能食  (PB 0.0%)</c:v>
                </c:pt>
                <c:pt idx="7">
                  <c:v>猫スナック / ドライスナック  (PB 0.0%)</c:v>
                </c:pt>
                <c:pt idx="8">
                  <c:v>猫トイレタリー / システムトイレリフィール  (PB 1.3%)</c:v>
                </c:pt>
                <c:pt idx="9">
                  <c:v>犬トイレタリー / 紙おむつ  (PB 0.0%)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2121.0</c:v>
                </c:pt>
                <c:pt idx="1">
                  <c:v>2013.7</c:v>
                </c:pt>
                <c:pt idx="2">
                  <c:v>1315.4</c:v>
                </c:pt>
                <c:pt idx="3">
                  <c:v>971.6</c:v>
                </c:pt>
                <c:pt idx="4">
                  <c:v>889.1</c:v>
                </c:pt>
                <c:pt idx="5">
                  <c:v>845.4</c:v>
                </c:pt>
                <c:pt idx="6">
                  <c:v>824.1</c:v>
                </c:pt>
                <c:pt idx="7">
                  <c:v>659.8</c:v>
                </c:pt>
                <c:pt idx="8">
                  <c:v>627.5</c:v>
                </c:pt>
                <c:pt idx="9">
                  <c:v>449.5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5F6C7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9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25/6期</c:v>
                </c:pt>
              </c:strCache>
            </c:strRef>
          </c:tx>
          <c:spPr>
            <a:solidFill>
              <a:srgbClr val="B8C9CA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猫フード</c:v>
                </c:pt>
                <c:pt idx="1">
                  <c:v>犬フード</c:v>
                </c:pt>
                <c:pt idx="2">
                  <c:v>トイレタリー用品</c:v>
                </c:pt>
                <c:pt idx="3">
                  <c:v>ペット用品</c:v>
                </c:pt>
                <c:pt idx="4">
                  <c:v>ペット水物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11.7</c:v>
                </c:pt>
                <c:pt idx="1">
                  <c:v>8.5</c:v>
                </c:pt>
                <c:pt idx="2">
                  <c:v>54.0</c:v>
                </c:pt>
                <c:pt idx="3">
                  <c:v>32.8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26/6期</c:v>
                </c:pt>
              </c:strCache>
            </c:strRef>
          </c:tx>
          <c:spPr>
            <a:solidFill>
              <a:srgbClr val="1C7C7D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猫フード</c:v>
                </c:pt>
                <c:pt idx="1">
                  <c:v>犬フード</c:v>
                </c:pt>
                <c:pt idx="2">
                  <c:v>トイレタリー用品</c:v>
                </c:pt>
                <c:pt idx="3">
                  <c:v>ペット用品</c:v>
                </c:pt>
                <c:pt idx="4">
                  <c:v>ペット水物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12.8</c:v>
                </c:pt>
                <c:pt idx="1">
                  <c:v>9.0</c:v>
                </c:pt>
                <c:pt idx="2">
                  <c:v>53.5</c:v>
                </c:pt>
                <c:pt idx="3">
                  <c:v>35.6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27/6期*</c:v>
                </c:pt>
              </c:strCache>
            </c:strRef>
          </c:tx>
          <c:spPr>
            <a:solidFill>
              <a:srgbClr val="F2A33A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猫フード</c:v>
                </c:pt>
                <c:pt idx="1">
                  <c:v>犬フード</c:v>
                </c:pt>
                <c:pt idx="2">
                  <c:v>トイレタリー用品</c:v>
                </c:pt>
                <c:pt idx="3">
                  <c:v>ペット用品</c:v>
                </c:pt>
                <c:pt idx="4">
                  <c:v>ペット水物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12.8</c:v>
                </c:pt>
                <c:pt idx="1">
                  <c:v>9.1</c:v>
                </c:pt>
                <c:pt idx="2">
                  <c:v>52.0</c:v>
                </c:pt>
                <c:pt idx="3">
                  <c:v>26.6</c:v>
                </c:pt>
                <c:pt idx="4">
                  <c:v>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PB SKU数の増加率</c:v>
                </c:pt>
              </c:strCache>
            </c:strRef>
          </c:tx>
          <c:spPr>
            <a:solidFill>
              <a:srgbClr val="F2A33A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猫スナック</c:v>
                </c:pt>
                <c:pt idx="1">
                  <c:v>猫ウェット</c:v>
                </c:pt>
                <c:pt idx="2">
                  <c:v>猫ドライ</c:v>
                </c:pt>
                <c:pt idx="3">
                  <c:v>犬トイレタリー</c:v>
                </c:pt>
                <c:pt idx="4">
                  <c:v>季節商品</c:v>
                </c:pt>
                <c:pt idx="5">
                  <c:v>犬スナック</c:v>
                </c:pt>
                <c:pt idx="6">
                  <c:v>犬ウェット</c:v>
                </c:pt>
                <c:pt idx="7">
                  <c:v>犬猫生活用品</c:v>
                </c:pt>
                <c:pt idx="8">
                  <c:v>犬ドライ</c:v>
                </c:pt>
                <c:pt idx="9">
                  <c:v>猫トイレタリー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1.5714</c:v>
                </c:pt>
                <c:pt idx="1">
                  <c:v>1.1739</c:v>
                </c:pt>
                <c:pt idx="2">
                  <c:v>1.125</c:v>
                </c:pt>
                <c:pt idx="3">
                  <c:v>0.9444</c:v>
                </c:pt>
                <c:pt idx="4">
                  <c:v>0.8679</c:v>
                </c:pt>
                <c:pt idx="5">
                  <c:v>0.7097</c:v>
                </c:pt>
                <c:pt idx="6">
                  <c:v>0.4211</c:v>
                </c:pt>
                <c:pt idx="7">
                  <c:v>0.3684</c:v>
                </c:pt>
                <c:pt idx="8">
                  <c:v>0.0</c:v>
                </c:pt>
                <c:pt idx="9">
                  <c:v>-0.05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PB比率の増加率(相対)</c:v>
                </c:pt>
              </c:strCache>
            </c:strRef>
          </c:tx>
          <c:spPr>
            <a:solidFill>
              <a:srgbClr val="0E3B43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猫スナック</c:v>
                </c:pt>
                <c:pt idx="1">
                  <c:v>猫ウェット</c:v>
                </c:pt>
                <c:pt idx="2">
                  <c:v>猫ドライ</c:v>
                </c:pt>
                <c:pt idx="3">
                  <c:v>犬トイレタリー</c:v>
                </c:pt>
                <c:pt idx="4">
                  <c:v>季節商品</c:v>
                </c:pt>
                <c:pt idx="5">
                  <c:v>犬スナック</c:v>
                </c:pt>
                <c:pt idx="6">
                  <c:v>犬ウェット</c:v>
                </c:pt>
                <c:pt idx="7">
                  <c:v>犬猫生活用品</c:v>
                </c:pt>
                <c:pt idx="8">
                  <c:v>犬ドライ</c:v>
                </c:pt>
                <c:pt idx="9">
                  <c:v>猫トイレタリー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-0.3946</c:v>
                </c:pt>
                <c:pt idx="1">
                  <c:v>0.3883</c:v>
                </c:pt>
                <c:pt idx="2">
                  <c:v>0.0338</c:v>
                </c:pt>
                <c:pt idx="3">
                  <c:v>-0.0084</c:v>
                </c:pt>
                <c:pt idx="4">
                  <c:v>0.0854</c:v>
                </c:pt>
                <c:pt idx="5">
                  <c:v>0.0024</c:v>
                </c:pt>
                <c:pt idx="6">
                  <c:v>0.145</c:v>
                </c:pt>
                <c:pt idx="7">
                  <c:v>0.1042</c:v>
                </c:pt>
                <c:pt idx="8">
                  <c:v>0.0859</c:v>
                </c:pt>
                <c:pt idx="9">
                  <c:v>-0.0095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PB戦略資料。比較期間: 25/6期 vs 26/6期。トライアルの方向性の記載は使用していません。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ペット全体の売上は255.7億円→268.0億円(+4.8%)、PB比率は18.4%→19.1%(+0.76pt)。PB比率の上昇が最も大きいカテゴリーは季節商品(78.7%→85.4%、+6.7pt)です。</a:t>
            </a:r>
          </a:p>
          <a:p>
            <a:r>
              <a:t>PB SKU数は336→567(+69%)、PB比率は18.4%→19.1%(+0.76pt)。27/6期のPB SKU数は518です。</a:t>
            </a:r>
          </a:p>
          <a:p>
            <a:r>
              <a:t>部門によってPB比率は大きく異なります。最も高いのはトイレタリー用品(53.5%)、最も低いのはペット水物(4.0%)です。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棒グラフは2つの通期間のPB比率(元資料の値)の差(pt)です。最大の上昇: 猫ウェット / 缶(PB比率 47.4%→63.4%、+16.0pt)。 最大の低下: 猫スナック / レトルト(PB比率 13.8%→2.4%、-11.3pt)。 PB比率は元資料の値です。売上の大きさは考慮せず、比率の変化(pt)だけを並べています。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PB比率が5%以下のサブカテは全60件中37件です。売上の大きい順に上位10件を表示しています。 全体売上は元資料の値です。PB売上額は元資料にないため表示していません。 規模だけでは推奨になりません。実現性と粗利はこのデータに含まれていません。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部門別のPB比率: 猫フード 12.8%、犬フード 9.0%、トイレタリー用品 53.5%、ペット用品 35.6%、ペット水物 4.0%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 27/6期は他の期より対象期間が短く(売上は26/6期の24%)、売上は他の期と比べられないため、増減は表示していません。PB比率とPB SKU数は並べて比較できます。 27/6期: 売上 65.22億円、PB比率 18.6%。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テゴリーごとに2本の棒を比較してください。SKUの棒がPB比率の棒より大きく高い場合、追加したSKUに見合うPB比率の上昇が出ていません。PB比率の増加率は、前期のPB比率に対する当期のPB比率の変化率(元資料の値から算出)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方向性はPBシェアの水準・推移と、市場の規模・成長に基づいて分類しています。優先度低: 鳥、猫ウェット / ライフサポートパウチ、犬猫生活用品 / 健康、犬猫生活用品 / 美容、小動物 / 小動物用品、猫ウェット / カップ、犬猫生活用品 / 食器、猫ドライ / 療法食、猫トイレタリー / 猫トイレタリー本体、犬ドライ / 療法食、猫トイレタリー / 猫用紙おむつ、犬猫生活用品 / 移動用品、犬トイレタリー / 犬トイレタリー用品、猫ウェット / 療法食、犬ウェット / 療法食、犬ウェット / カップ、猫トイレタリー / 猫トイレタリー用品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PB比率の動き: PB比率の上昇が最大: 猫ウェット / 缶(47.4%→63.4%、+16.0pt)、PB比率の低下が最大: 猫スナック / レトルト(13.8%→2.4%、-11.3pt)です。</a:t>
            </a:r>
          </a:p>
          <a:p>
            <a:r>
              <a:t>27/6期: PB比率 12.8%(26/6期比 -0.03pt)。27/6期は他の期より対象期間が短いため、売上の増減は比較していません。</a:t>
            </a:r>
          </a:p>
          <a:p>
            <a:r>
              <a:t>PB比率の最新の動き(27/6期、26/6期比): 上昇 猫ウェット / 缶(+3.7pt)、猫ウェット / レギュラーパウチ(+2.6pt) / 低下 猫スナック / レトルト(-2.4pt)。</a:t>
            </a:r>
          </a:p>
          <a:p>
            <a:r>
              <a:t>PB比率が5%以下で最も売上が大きいのは猫ドライ / グルメ(21.21億円、PB比率1.3%)です。</a:t>
            </a:r>
          </a:p>
          <a:p>
            <a:r>
              <a:t>要注視(PB比率が2期連続で低下): 猫スナック / レトルト。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PB比率の動き: PB比率の上昇が最大: 犬スナック / 素材スナック(28.2%→35.2%、+7.0pt)、PB比率の低下が最大: 犬スナック / レトルト(8.6%→0.6%、-8.0pt)です。</a:t>
            </a:r>
          </a:p>
          <a:p>
            <a:r>
              <a:t>27/6期: PB比率 9.1%(26/6期比 +0.07pt)。27/6期は他の期より対象期間が短いため、売上の増減は比較していません。</a:t>
            </a:r>
          </a:p>
          <a:p>
            <a:r>
              <a:t>PB比率の最新の動き(27/6期、26/6期比): 上昇 犬ウェット / トッパー(+10.0pt)、犬ウェット / 缶(+2.4pt) / 低下 犬スナック / 素材スナック(-2.0pt)。</a:t>
            </a:r>
          </a:p>
          <a:p>
            <a:r>
              <a:t>要注意: 「拡大」の対象ですが、直近のPB比率が低下しています: 犬スナック / 素材スナック。</a:t>
            </a:r>
          </a:p>
          <a:p>
            <a:r>
              <a:t>PB比率が5%以下で最も売上が大きいのは犬スナック / 練り込み_成形スナック(9.72億円、PB比率3.5%)です。</a:t>
            </a:r>
          </a:p>
          <a:p>
            <a:r>
              <a:t>要注視(PB比率が2期連続で低下): 犬スナック / レトルト。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PB比率の動き: PB比率の上昇が最大: 犬トイレタリー / 犬シート(78.4%→79.1%、+0.7pt)、PB比率の低下が最大: 猫トイレタリー / 猫砂(68.4%→67.3%、-1.1pt)です。</a:t>
            </a:r>
          </a:p>
          <a:p>
            <a:r>
              <a:t>27/6期: PB比率 52.0%(26/6期比 -1.52pt)。27/6期は他の期より対象期間が短いため、売上の増減は比較していません。</a:t>
            </a:r>
          </a:p>
          <a:p>
            <a:r>
              <a:t>PB比率が5%以下で最も売上が大きいのは猫トイレタリー / システムトイレリフィール(6.27億円、PB比率1.3%)です。</a:t>
            </a:r>
          </a:p>
          <a:p>
            <a:r>
              <a:t>要注視(PB比率が2期連続で低下): 猫トイレタリー / 猫砂。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PB比率の動き: PB比率の上昇が最大: 季節商品 / 春夏(83.5%→91.4%、+7.9pt)です。</a:t>
            </a:r>
          </a:p>
          <a:p>
            <a:r>
              <a:t>27/6期: PB比率 26.6%(26/6期比 -8.98pt)。27/6期は他の期より対象期間が短いため、売上の増減は比較していません。</a:t>
            </a:r>
          </a:p>
          <a:p>
            <a:r>
              <a:t>PB比率の最新の動き(27/6期、26/6期比): 低下 季節商品 / 春夏(-7.2pt)、犬猫生活用品 / 衛生(-2.5pt)。</a:t>
            </a:r>
          </a:p>
          <a:p>
            <a:r>
              <a:t>PB比率が5%以下で最も売上が大きいのは犬猫生活用品 / 健康(1.25億円、PB比率0.0%)です。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PB比率の動き: PB比率の上昇が最大: 小動物 / 小動物フード(2.4%→3.2%、+0.8pt)です。</a:t>
            </a:r>
          </a:p>
          <a:p>
            <a:r>
              <a:t>27/6期: PB比率 8.8%(26/6期比 +4.79pt)。27/6期は他の期より対象期間が短いため、売上の増減は比較していません。</a:t>
            </a:r>
          </a:p>
          <a:p>
            <a:r>
              <a:t>PB比率が5%以下で最も売上が大きいのは観賞魚(4.35億円、PB比率0.0%)です。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27/6期は他の期より対象期間が短く(売上は26/6期の24%)、売上は他の期と比べられません。PB比率・SKU数・シェア動向のみ26/6期と並べて表示しており、成長率や方向性の判定には使っていません。</a:t>
            </a:r>
          </a:p>
          <a:p>
            <a:r>
              <a:t>元資料にPB売上額はないため、PB比率(売上に占めるPBの割合)と売上は元資料の値をそのまま表示しています。</a:t>
            </a:r>
          </a:p>
          <a:p>
            <a:r>
              <a:t>粗利・原価のデータは含まれていません。PB比率が高くても、利益が高いとは限りません。</a:t>
            </a:r>
          </a:p>
          <a:p>
            <a:r>
              <a:t>平均単価の変化には、価格・容量・商品構成の変化が含まれます。数量に関する記述は参考値です。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554480"/>
            <a:ext cx="10515600" cy="1554480"/>
          </a:xfrm>
        </p:spPr>
        <p:txBody>
          <a:bodyPr wrap="square" anchor="b"/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Yu Gothic"/>
              </a:rPr>
              <a:t>ペットカテゴリー PB戦略レポート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200400"/>
            <a:ext cx="10515600" cy="822960"/>
          </a:xfrm>
        </p:spPr>
        <p:txBody>
          <a:bodyPr wrap="square"/>
          <a:lstStyle/>
          <a:p>
            <a:pPr algn="l"/>
            <a:r>
              <a:rPr sz="2000" b="0" i="0">
                <a:solidFill>
                  <a:srgbClr val="BFD9DA"/>
                </a:solidFill>
                <a:latin typeface="Calibri"/>
                <a:ea typeface="Yu Gothic"/>
              </a:rPr>
              <a:t>25/6期 vs 26/6期  |  27/6期も並べて表示</a:t>
            </a:r>
          </a:p>
          <a:p>
            <a:pPr algn="l"/>
            <a:r>
              <a:rPr sz="1300" b="0" i="0">
                <a:solidFill>
                  <a:srgbClr val="8FB5B7"/>
                </a:solidFill>
                <a:latin typeface="Calibri"/>
                <a:ea typeface="Yu Gothic"/>
              </a:rPr>
              <a:t>作成日 2026-10-02  |  元データ: 開発方向性 コミュニケーション資料2.xlsx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PB比率 18.4%→19.1%(+0.76pt)、PB SKU数 +69%</a:t>
            </a:r>
          </a:p>
        </p:txBody>
      </p:sp>
      <p:sp>
        <p:nvSpPr>
          <p:cNvPr id="3" name="Findings"/>
          <p:cNvSpPr txBox="1"/>
          <p:nvPr/>
        </p:nvSpPr>
        <p:spPr>
          <a:xfrm>
            <a:off x="548640" y="1554480"/>
            <a:ext cx="11094415" cy="4754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01168" indent="-201168">
              <a:spcAft>
                <a:spcPts val="2200"/>
              </a:spcAft>
              <a:buChar char="•"/>
            </a:pPr>
            <a:r>
              <a:rPr sz="2000" b="0" i="0">
                <a:solidFill>
                  <a:srgbClr val="1F2933"/>
                </a:solidFill>
                <a:latin typeface="Calibri"/>
                <a:ea typeface="Yu Gothic"/>
              </a:rPr>
              <a:t>ペット全体の売上は255.7億円→268.0億円(+4.8%)、PB比率は18.4%→19.1%(+0.76pt)。PB比率の上昇が最も大きいカテゴリーは季節商品(78.7%→85.4%、+6.7pt)です。</a:t>
            </a:r>
          </a:p>
          <a:p>
            <a:pPr marL="201168" indent="-201168">
              <a:spcAft>
                <a:spcPts val="2200"/>
              </a:spcAft>
              <a:buChar char="•"/>
            </a:pPr>
            <a:r>
              <a:rPr sz="2000" b="0" i="0">
                <a:solidFill>
                  <a:srgbClr val="1F2933"/>
                </a:solidFill>
                <a:latin typeface="Calibri"/>
                <a:ea typeface="Yu Gothic"/>
              </a:rPr>
              <a:t>PB SKU数は336→567(+69%)、PB比率は18.4%→19.1%(+0.76pt)。27/6期のPB SKU数は518です。</a:t>
            </a:r>
          </a:p>
          <a:p>
            <a:pPr marL="201168" indent="-201168">
              <a:spcAft>
                <a:spcPts val="2200"/>
              </a:spcAft>
              <a:buChar char="•"/>
            </a:pPr>
            <a:r>
              <a:rPr sz="2000" b="0" i="0">
                <a:solidFill>
                  <a:srgbClr val="1F2933"/>
                </a:solidFill>
                <a:latin typeface="Calibri"/>
                <a:ea typeface="Yu Gothic"/>
              </a:rPr>
              <a:t>部門によってPB比率は大きく異なります。最も高いのはトイレタリー用品(53.5%)、最も低いのはペット水物(4.0%)です。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PB比率の増減 25/6期→26/6期</a:t>
            </a:r>
          </a:p>
        </p:txBody>
      </p:sp>
      <p:graphicFrame>
        <p:nvGraphicFramePr>
          <p:cNvPr id="3" name="PB ratio change chart"/>
          <p:cNvGraphicFramePr>
            <a:graphicFrameLocks noGrp="1"/>
          </p:cNvGraphicFramePr>
          <p:nvPr/>
        </p:nvGraphicFramePr>
        <p:xfrm>
          <a:off x="548640" y="1371600"/>
          <a:ext cx="76809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117043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PB比率の増減(pt、売上1.00億円以上のサブカテの上位・下位)</a:t>
            </a:r>
          </a:p>
        </p:txBody>
      </p:sp>
      <p:sp>
        <p:nvSpPr>
          <p:cNvPr id="5" name="Mover notes card"/>
          <p:cNvSpPr/>
          <p:nvPr/>
        </p:nvSpPr>
        <p:spPr>
          <a:xfrm>
            <a:off x="8503920" y="1417320"/>
            <a:ext cx="3139135" cy="365760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1645920"/>
            <a:ext cx="268193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0E3B43"/>
                </a:solidFill>
                <a:latin typeface="Calibri"/>
                <a:ea typeface="Yu Gothic"/>
              </a:rPr>
              <a:t>グラフの見方</a:t>
            </a:r>
          </a:p>
        </p:txBody>
      </p:sp>
      <p:sp>
        <p:nvSpPr>
          <p:cNvPr id="7" name="Mover notes"/>
          <p:cNvSpPr txBox="1"/>
          <p:nvPr/>
        </p:nvSpPr>
        <p:spPr>
          <a:xfrm>
            <a:off x="8732520" y="2148840"/>
            <a:ext cx="2681935" cy="2834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最大の上昇: 猫ウェット / 缶(PB比率 47.4%→63.4%、+16.0pt)。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最大の低下: 猫スナック / レトルト(PB比率 13.8%→2.4%、-11.3pt)。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PB比率は元資料の値です。売上の大きさは考慮せず、比率の変化(pt)だけを並べています。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売上の大きい市場にPB比率の低いところがある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26/6期の全体売上(百万円、括弧内はPB比率)。PB比率5%以下のサブカテの上位10</a:t>
            </a:r>
          </a:p>
        </p:txBody>
      </p:sp>
      <p:graphicFrame>
        <p:nvGraphicFramePr>
          <p:cNvPr id="4" name="Low PB ratio markets chart"/>
          <p:cNvGraphicFramePr>
            <a:graphicFrameLocks noGrp="1"/>
          </p:cNvGraphicFramePr>
          <p:nvPr/>
        </p:nvGraphicFramePr>
        <p:xfrm>
          <a:off x="548640" y="1371600"/>
          <a:ext cx="78638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Pool notes card"/>
          <p:cNvSpPr/>
          <p:nvPr/>
        </p:nvSpPr>
        <p:spPr>
          <a:xfrm>
            <a:off x="8778240" y="1417320"/>
            <a:ext cx="2864815" cy="365760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6840" y="1645920"/>
            <a:ext cx="24076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0E3B43"/>
                </a:solidFill>
                <a:latin typeface="Calibri"/>
                <a:ea typeface="Yu Gothic"/>
              </a:rPr>
              <a:t>示唆</a:t>
            </a:r>
          </a:p>
        </p:txBody>
      </p:sp>
      <p:sp>
        <p:nvSpPr>
          <p:cNvPr id="7" name="Pool notes"/>
          <p:cNvSpPr txBox="1"/>
          <p:nvPr/>
        </p:nvSpPr>
        <p:spPr>
          <a:xfrm>
            <a:off x="9006840" y="2148840"/>
            <a:ext cx="2407615" cy="2834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PB比率が5%以下のサブカテは全60件中37件です。売上の大きい順に上位10件を表示しています。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全体売上は元資料の値です。PB売上額は元資料にないため表示していません。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1F2933"/>
                </a:solidFill>
                <a:latin typeface="Calibri"/>
                <a:ea typeface="Yu Gothic"/>
              </a:rPr>
              <a:t>規模だけでは推奨になりません。実現性と粗利はこのデータに含まれていません。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部門別の売上とPB比率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PB比率の推移(%)</a:t>
            </a:r>
          </a:p>
        </p:txBody>
      </p:sp>
      <p:graphicFrame>
        <p:nvGraphicFramePr>
          <p:cNvPr id="4" name="PB ratio by department chart"/>
          <p:cNvGraphicFramePr>
            <a:graphicFrameLocks noGrp="1"/>
          </p:cNvGraphicFramePr>
          <p:nvPr/>
        </p:nvGraphicFramePr>
        <p:xfrm>
          <a:off x="548640" y="1417320"/>
          <a:ext cx="475488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Department table"/>
          <p:cNvGraphicFramePr>
            <a:graphicFrameLocks noGrp="1"/>
          </p:cNvGraphicFramePr>
          <p:nvPr/>
        </p:nvGraphicFramePr>
        <p:xfrm>
          <a:off x="5532120" y="1417320"/>
          <a:ext cx="6080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005840"/>
                <a:gridCol w="13716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部門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前期→当期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猫フード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139.6億円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+5.8%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11.7%→12.8%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38→85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犬フード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61.59億円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+3.2%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8.5%→9.0%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51→81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トイレタリー用品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42.90億円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+3.9%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54.0%→53.5%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38→54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ペット用品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12.45億円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+8.0%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32.8%→35.6%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178→323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ペット水物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11.54億円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3.0%→4.0%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31→24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268.0億円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18.4%→19.1%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336→567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5F6C72"/>
                </a:solidFill>
                <a:latin typeface="Calibri"/>
                <a:ea typeface="Yu Gothic"/>
              </a:rPr>
              <a:t>ペット全体のPB比率19.1%は、PB比率の大きく異なる部門の平均です。部門ごとに状況が違うため、次のスライド以降は部門別に見ていきます。売上とPB比率は元資料の値です。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3期の推移(部門別)</a:t>
            </a:r>
          </a:p>
        </p:txBody>
      </p:sp>
      <p:graphicFrame>
        <p:nvGraphicFramePr>
          <p:cNvPr id="3" name="Three-period table"/>
          <p:cNvGraphicFramePr>
            <a:graphicFrameLocks noGrp="1"/>
          </p:cNvGraphicFramePr>
          <p:nvPr/>
        </p:nvGraphicFramePr>
        <p:xfrm>
          <a:off x="548640" y="14173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143000"/>
                <a:gridCol w="914400"/>
                <a:gridCol w="914400"/>
                <a:gridCol w="1005840"/>
                <a:gridCol w="1051560"/>
                <a:gridCol w="1051560"/>
                <a:gridCol w="11430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部門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 25/6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 26/6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 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26/6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 25/6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 26/6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 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猫フード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131.9億円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139.6億円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33.81億円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犬フード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59.66億円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61.59億円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14.77億円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8.5%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81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75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トイレタリー用品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41.31億円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42.90億円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10.42億円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52.0%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ペット用品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11.53億円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12.45億円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2.91億円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32.8%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35.6%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26.6%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178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323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298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ペット水物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11.33億円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11.54億円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3.31億円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ペット計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255.7億円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268.0億円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65.22億円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18.4%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19.1%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336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567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518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PB SKU数+69%に対しPB比率18.4%→19.1%: SKU増がPB比率の上昇を上回る</a:t>
            </a:r>
          </a:p>
        </p:txBody>
      </p:sp>
      <p:graphicFrame>
        <p:nvGraphicFramePr>
          <p:cNvPr id="3" name="SKU vs PB ratio growth chart"/>
          <p:cNvGraphicFramePr>
            <a:graphicFrameLocks noGrp="1"/>
          </p:cNvGraphicFramePr>
          <p:nvPr/>
        </p:nvGraphicFramePr>
        <p:xfrm>
          <a:off x="548640" y="1600200"/>
          <a:ext cx="704088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128016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カテゴリー別の伸び 25/6期→26/6期(前期PB比率2%以上、売上1.00億円以上)</a:t>
            </a:r>
          </a:p>
        </p:txBody>
      </p:sp>
      <p:graphicFrame>
        <p:nvGraphicFramePr>
          <p:cNvPr id="5" name="SKU verdict table"/>
          <p:cNvGraphicFramePr>
            <a:graphicFrameLocks noGrp="1"/>
          </p:cNvGraphicFramePr>
          <p:nvPr/>
        </p:nvGraphicFramePr>
        <p:xfrm>
          <a:off x="7818120" y="1600200"/>
          <a:ext cx="4114799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14400"/>
                <a:gridCol w="1874519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PB比率の増減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-4.9pt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SKU増・PB比率低下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+6.3pt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猫ドライ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+0.2pt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犬トイレタリー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-0.5pt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SKU増・PB比率低下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季節商品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+6.7pt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+0.0pt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犬ウェット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+1.4pt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+1.5pt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犬ドライ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+0.5pt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SKU横ばい・PB比率上昇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-0.5pt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SKU横ばい・PB比率低下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サブカテ別の方向性(提案)</a:t>
            </a:r>
          </a:p>
        </p:txBody>
      </p:sp>
      <p:sp>
        <p:nvSpPr>
          <p:cNvPr id="3" name="Direction card 1"/>
          <p:cNvSpPr/>
          <p:nvPr/>
        </p:nvSpPr>
        <p:spPr>
          <a:xfrm>
            <a:off x="548640" y="137160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unt 1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2763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拡大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PB比率が上昇しており、売上の規模があり、PB比率の伸びしろも残っています。SKU開発はまずここに注力します。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9923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猫ウェット / レギュラーパウチ、猫ウェット / 缶</a:t>
            </a:r>
          </a:p>
        </p:txBody>
      </p:sp>
      <p:sp>
        <p:nvSpPr>
          <p:cNvPr id="8" name="Direction card 2"/>
          <p:cNvSpPr/>
          <p:nvPr/>
        </p:nvSpPr>
        <p:spPr>
          <a:xfrm>
            <a:off x="4322978" y="137160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ount 2"/>
          <p:cNvSpPr/>
          <p:nvPr/>
        </p:nvSpPr>
        <p:spPr>
          <a:xfrm>
            <a:off x="4505858" y="1554480"/>
            <a:ext cx="502920" cy="502920"/>
          </a:xfrm>
          <a:prstGeom prst="ellipse">
            <a:avLst/>
          </a:prstGeom>
          <a:solidFill>
            <a:srgbClr val="1C7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1658" y="162763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横展開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14884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PBはまだほぼ未展開ですが、同じカテゴリー内に「拡大」の実績があるサブカテがあります。その成功パターンを横展開します。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99923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犬スナック / 練り込み_成形スナック、猫ウェット / ミニパウチ</a:t>
            </a:r>
          </a:p>
        </p:txBody>
      </p:sp>
      <p:sp>
        <p:nvSpPr>
          <p:cNvPr id="13" name="Direction card 3"/>
          <p:cNvSpPr/>
          <p:nvPr/>
        </p:nvSpPr>
        <p:spPr>
          <a:xfrm>
            <a:off x="8097316" y="137160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ount 3"/>
          <p:cNvSpPr/>
          <p:nvPr/>
        </p:nvSpPr>
        <p:spPr>
          <a:xfrm>
            <a:off x="8280196" y="1554480"/>
            <a:ext cx="502920" cy="502920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5996" y="162763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シェア奪回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214884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PB比率が前期から大きく低下しました。投資の前に原因(取扱終了、競合、価格)を特定します。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5916" y="299923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猫スナック / レトルト、犬スナック / レトルト</a:t>
            </a:r>
          </a:p>
        </p:txBody>
      </p:sp>
      <p:sp>
        <p:nvSpPr>
          <p:cNvPr id="18" name="Direction card 4"/>
          <p:cNvSpPr/>
          <p:nvPr/>
        </p:nvSpPr>
        <p:spPr>
          <a:xfrm>
            <a:off x="548640" y="379476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ount 4"/>
          <p:cNvSpPr/>
          <p:nvPr/>
        </p:nvSpPr>
        <p:spPr>
          <a:xfrm>
            <a:off x="731520" y="3977640"/>
            <a:ext cx="502920" cy="50292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05079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小規模テスト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PB未展開の大きな市場で、同カテゴリー内に実績のあるサブカテもありません。実現性はこのデータでは判断できないため、1〜2SKUでテストします。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2239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猫ドライ / グルメ、猫ドライ / 機能食</a:t>
            </a:r>
          </a:p>
        </p:txBody>
      </p:sp>
      <p:sp>
        <p:nvSpPr>
          <p:cNvPr id="23" name="Direction card 5"/>
          <p:cNvSpPr/>
          <p:nvPr/>
        </p:nvSpPr>
        <p:spPr>
          <a:xfrm>
            <a:off x="4322978" y="379476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ount 5"/>
          <p:cNvSpPr/>
          <p:nvPr/>
        </p:nvSpPr>
        <p:spPr>
          <a:xfrm>
            <a:off x="4505858" y="3977640"/>
            <a:ext cx="502920" cy="50292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1658" y="405079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要点検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1578" y="457200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PB比率が低下傾向です。商品・価格・売場のどこに問題があるかを確認します。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1578" y="542239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犬スナック / オーラルケアガム</a:t>
            </a:r>
          </a:p>
        </p:txBody>
      </p:sp>
      <p:sp>
        <p:nvSpPr>
          <p:cNvPr id="28" name="Direction card 6"/>
          <p:cNvSpPr/>
          <p:nvPr/>
        </p:nvSpPr>
        <p:spPr>
          <a:xfrm>
            <a:off x="8097316" y="3794760"/>
            <a:ext cx="3545738" cy="2194560"/>
          </a:xfrm>
          <a:prstGeom prst="roundRect">
            <a:avLst>
              <a:gd name="adj" fmla="val 6000"/>
            </a:avLst>
          </a:prstGeom>
          <a:solidFill>
            <a:srgbClr val="E6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ount 6"/>
          <p:cNvSpPr/>
          <p:nvPr/>
        </p:nvSpPr>
        <p:spPr>
          <a:xfrm>
            <a:off x="8280196" y="3977640"/>
            <a:ext cx="502920" cy="502920"/>
          </a:xfrm>
          <a:prstGeom prst="ellipse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996" y="4050792"/>
            <a:ext cx="2494178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E3B43"/>
                </a:solidFill>
                <a:latin typeface="Calibri"/>
                <a:ea typeface="Yu Gothic"/>
              </a:rPr>
              <a:t>防衛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5916" y="4572000"/>
            <a:ext cx="308853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C72"/>
                </a:solidFill>
                <a:latin typeface="Calibri"/>
                <a:ea typeface="Yu Gothic"/>
              </a:rPr>
              <a:t>PB比率はすでに高い水準です。シェアを守り、PB比率の上昇につながらないSKU追加は避けます。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5916" y="542239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1F2933"/>
                </a:solidFill>
                <a:latin typeface="Calibri"/>
                <a:ea typeface="Yu Gothic"/>
              </a:rPr>
              <a:t>主な対象: 猫トイレタリー / 猫砂、犬トイレタリー / 犬シート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このほか、PB未展開で小規模または縮小中の市場が17件(優先度低)、明確なシグナルのないものが19件(経過観察)。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猫フード: 売上 139.6億円(+5.8%)、PB比率 12.8%(+1.1pt)</a:t>
            </a:r>
          </a:p>
        </p:txBody>
      </p:sp>
      <p:graphicFrame>
        <p:nvGraphicFramePr>
          <p:cNvPr id="3" name="Category table"/>
          <p:cNvGraphicFramePr>
            <a:graphicFrameLocks noGrp="1"/>
          </p:cNvGraphicFramePr>
          <p:nvPr/>
        </p:nvGraphicFramePr>
        <p:xfrm>
          <a:off x="548640" y="1371600"/>
          <a:ext cx="110642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1005840"/>
                <a:gridCol w="1463040"/>
                <a:gridCol w="1645920"/>
                <a:gridCol w="26517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売上(部門内順位)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市場成長率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PB比率(増減pt)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27/6期* PB比率/SKU数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猫ドライ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53.70億円(1位)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7.4%(+0.2)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8→17(+112%)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6.5%/16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49.24億円(2位)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+4.5%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22.6%(+6.3)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23→50(+117%)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23.7%/43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36.61億円(3位)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+12.7%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7.5%(-4.9)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7→18(+157%)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SKU増・PB比率低下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6.6%/20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Sub-category table"/>
          <p:cNvGraphicFramePr>
            <a:graphicFrameLocks noGrp="1"/>
          </p:cNvGraphicFramePr>
          <p:nvPr/>
        </p:nvGraphicFramePr>
        <p:xfrm>
          <a:off x="548640" y="2889504"/>
          <a:ext cx="110642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05840"/>
                <a:gridCol w="2194560"/>
                <a:gridCol w="1097280"/>
                <a:gridCol w="12801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サブカテ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25/6→26/6→27/6期*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シェア動向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方向性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 / レギュラーパウチ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22.62億円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+11.3%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2.1%→7.7%→10.3%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4→13→13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↑ +2.6pt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拡大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 / 缶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14.34億円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-3.0%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47.4%→63.4%→67.1%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17→35→29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↑ +3.7pt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拡大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 / 素材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7.21億円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+15.3%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25.8%→31.3%→33.5%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5→14→17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↑ +2.2pt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拡大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 / ミニパウチ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8.89億円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横展開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 / ドライスナック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6.60億円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+8.8%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横展開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 / ジャーキー・機能スナック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2.66億円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+9.4%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0.0%→0.5%→0.6%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0→2→2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横展開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猫スナック / レトルト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20.14億円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+13.7%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13.8%→2.4%→0.0%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2→2→1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↓ -2.4pt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シェア奪回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猫ドライ / グルメ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21.21億円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1.0%→1.3%→0.0%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猫ドライ / 機能食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13.15億円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+17.1%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猫ウェット / ライフサポートパウチ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1.62億円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+19.5%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ほか6件(PDFレポート参照)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6400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5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 シェア動向は27/6期と26/6期のPB比率の差(±2pt以上で上昇・低下)。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犬フード: 売上 61.59億円(+3.2%)、PB比率 9.0%(+0.5pt)</a:t>
            </a:r>
          </a:p>
        </p:txBody>
      </p:sp>
      <p:graphicFrame>
        <p:nvGraphicFramePr>
          <p:cNvPr id="3" name="Category table"/>
          <p:cNvGraphicFramePr>
            <a:graphicFrameLocks noGrp="1"/>
          </p:cNvGraphicFramePr>
          <p:nvPr/>
        </p:nvGraphicFramePr>
        <p:xfrm>
          <a:off x="548640" y="1371600"/>
          <a:ext cx="110642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1005840"/>
                <a:gridCol w="1463040"/>
                <a:gridCol w="1645920"/>
                <a:gridCol w="26517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売上(部門内順位)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市場成長率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PB比率(増減pt)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27/6期* PB比率/SKU数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30.60億円(1位)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+7.3%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10.3%(+0.0)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31→53(+71%)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9.8%/46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犬ドライ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20.21億円(2位)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-2.5%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6.2%(+0.5)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1→1(+0%)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SKU横ばい・PB比率上昇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5.7%/2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犬ウェット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10.78億円(3位)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+3.4%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10.8%(+1.4)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19→27(+42%)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12.8%/27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Sub-category table"/>
          <p:cNvGraphicFramePr>
            <a:graphicFrameLocks noGrp="1"/>
          </p:cNvGraphicFramePr>
          <p:nvPr/>
        </p:nvGraphicFramePr>
        <p:xfrm>
          <a:off x="548640" y="2889504"/>
          <a:ext cx="110642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05840"/>
                <a:gridCol w="2194560"/>
                <a:gridCol w="1097280"/>
                <a:gridCol w="12801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サブカテ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25/6→26/6→27/6期*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シェア動向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方向性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 / 素材スナック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6.82億円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+17.1%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28.2%→35.2%→33.2%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15→26→26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↓ -2.0pt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拡大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犬ウェット / 缶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3.24億円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18.9%→21.8%→24.2%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10→11→11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↑ +2.4pt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拡大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 / 練り込み_成形スナック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9.72億円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3.7%→3.5%→4.1%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5→12→9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+0.6pt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横展開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犬ウェット / パウチ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2.80億円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+5.8%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横展開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 / レトルト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3.72億円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+6.4%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8.6%→0.6%→0.0%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1→1→1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シェア奪回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犬ドライ / 機能食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8.24億円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犬ドライ / グルメ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4.26億円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犬スナック / オーラルケアガム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8.45億円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+5.9%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5.6%→2.6%→2.6%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7→6→3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-0.0pt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要点検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犬ドライ / 療法食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2,470万円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-70.0%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犬ウェット / 療法食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11万円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-98.8%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ほか8件(PDFレポート参照)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6400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5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 シェア動向は27/6期と26/6期のPB比率の差(±2pt以上で上昇・低下)。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トイレタリー用品: 売上 42.90億円(+3.9%)、PB比率 53.5%(-0.5pt)</a:t>
            </a:r>
          </a:p>
        </p:txBody>
      </p:sp>
      <p:graphicFrame>
        <p:nvGraphicFramePr>
          <p:cNvPr id="3" name="Category table"/>
          <p:cNvGraphicFramePr>
            <a:graphicFrameLocks noGrp="1"/>
          </p:cNvGraphicFramePr>
          <p:nvPr/>
        </p:nvGraphicFramePr>
        <p:xfrm>
          <a:off x="548640" y="1371600"/>
          <a:ext cx="110642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1005840"/>
                <a:gridCol w="1463040"/>
                <a:gridCol w="1645920"/>
                <a:gridCol w="26517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売上(部門内順位)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市場成長率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PB比率(増減pt)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27/6期* PB比率/SKU数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23.02億円(1位)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47.3%(-0.5)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20→19(-5%)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SKU横ばい・PB比率低下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45.5%/15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犬トイレタリー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19.89億円(2位)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+3.7%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60.7%(-0.5)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18→35(+94%)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SKU増・PB比率低下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59.7%/27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Sub-category table"/>
          <p:cNvGraphicFramePr>
            <a:graphicFrameLocks noGrp="1"/>
          </p:cNvGraphicFramePr>
          <p:nvPr/>
        </p:nvGraphicFramePr>
        <p:xfrm>
          <a:off x="548640" y="2578608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05840"/>
                <a:gridCol w="2194560"/>
                <a:gridCol w="1097280"/>
                <a:gridCol w="12801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サブカテ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25/6→26/6→27/6期*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シェア動向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方向性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 / システムトイレリフィール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6.27億円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1.4%→1.3%→1.2%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1→1→1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犬トイレタリー / 紙おむつ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4.50億円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+10.4%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 / 猫砂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16.07億円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68.4%→67.3%→66.4%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19→18→14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-0.9pt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防衛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犬トイレタリー / 犬シート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15.26億円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78.4%→79.1%→79.3%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18→35→27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+0.2pt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防衛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 / 猫トイレタリー本体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4,463万円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-11.9%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 / 猫用紙おむつ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2,261万円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+7.8%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犬トイレタリー / 犬トイレタリー用品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1,302万円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-2.4%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猫トイレタリー / 猫トイレタリー用品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-100.0%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5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 シェア動向は27/6期と26/6期のPB比率の差(±2pt以上で上昇・低下)。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ペット用品: 売上 12.45億円(+8.0%)、PB比率 35.6%(+2.7pt)</a:t>
            </a:r>
          </a:p>
        </p:txBody>
      </p:sp>
      <p:graphicFrame>
        <p:nvGraphicFramePr>
          <p:cNvPr id="3" name="Category table"/>
          <p:cNvGraphicFramePr>
            <a:graphicFrameLocks noGrp="1"/>
          </p:cNvGraphicFramePr>
          <p:nvPr/>
        </p:nvGraphicFramePr>
        <p:xfrm>
          <a:off x="548640" y="1371600"/>
          <a:ext cx="110642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1005840"/>
                <a:gridCol w="1463040"/>
                <a:gridCol w="1645920"/>
                <a:gridCol w="26517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売上(部門内順位)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市場成長率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PB比率(増減pt)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27/6期* PB比率/SKU数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8.91億円(1位)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+8.5%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15.8%(+1.5)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19→26(+37%)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14.1%/23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季節商品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3.54億円(2位)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+6.6%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85.4%(+6.7)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159→297(+87%)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SKU増がPB比率上昇を上回る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84.1%/275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Sub-category table"/>
          <p:cNvGraphicFramePr>
            <a:graphicFrameLocks noGrp="1"/>
          </p:cNvGraphicFramePr>
          <p:nvPr/>
        </p:nvGraphicFramePr>
        <p:xfrm>
          <a:off x="548640" y="2578608"/>
          <a:ext cx="1106424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05840"/>
                <a:gridCol w="2194560"/>
                <a:gridCol w="1097280"/>
                <a:gridCol w="12801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サブカテ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25/6→26/6→27/6期*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シェア動向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方向性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季節商品 / 秋冬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2.50億円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-0.2%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77.2%→83.2%→84.1%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76→162→159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+0.9pt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防衛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健康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1.25億円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+5.2%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0.1%→0.0%→0.0%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1→1→1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美容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1.23億円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食器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7,751万円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+9.2%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移動用品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1,791万円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衛生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1.72億円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+10.3%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39.8%→44.6%→42.1%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4→3→3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↓ -2.5pt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首輪・リード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1.15億円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+9.8%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21.7%→22.5%→22.0%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1→1→1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-0.5pt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季節商品 / 春夏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1.03億円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+29.0%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83.5%→91.4%→84.2%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81→128→116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↓ -7.2pt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つめとぎ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9,708万円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+15.3%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29.7%→27.1%→25.2%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4→12→9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猫おもちゃ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8,618万円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+13.3%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2.6%→6.0%→5.0%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2→3→3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犬猫生活用品 / 犬おもちゃ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6,475万円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6.0%→5.5%→5.0%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5→5→5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5F6C72"/>
                </a:solidFill>
                <a:latin typeface="Calibri"/>
                <a:ea typeface="Yu Gothic"/>
              </a:rPr>
              <a:t>ほか2件(PDFレポート参照)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6400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5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 シェア動向は27/6期と26/6期のPB比率の差(±2pt以上で上昇・低下)。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ペット水物: 売上 11.54億円(+1.9%)、PB比率 4.0%(+1.0pt)</a:t>
            </a:r>
          </a:p>
        </p:txBody>
      </p:sp>
      <p:graphicFrame>
        <p:nvGraphicFramePr>
          <p:cNvPr id="3" name="Category table"/>
          <p:cNvGraphicFramePr>
            <a:graphicFrameLocks noGrp="1"/>
          </p:cNvGraphicFramePr>
          <p:nvPr/>
        </p:nvGraphicFramePr>
        <p:xfrm>
          <a:off x="548640" y="1371600"/>
          <a:ext cx="110642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554480"/>
                <a:gridCol w="1005840"/>
                <a:gridCol w="1463040"/>
                <a:gridCol w="1645920"/>
                <a:gridCol w="26517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カテゴリー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売上(部門内順位)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市場成長率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PB比率(増減pt)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判定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27/6期* PB比率/SKU数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小動物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4.69億円(1位)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+1.9%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2.6%(+0.7)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2→2(+0%)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小規模(判定外)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2.2%/2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観賞魚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4.35億円(2位)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-2.2%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0.0%(+0.0)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0→0(－)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小規模(判定外)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0.0%/0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1.69億円(3位)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0.0%(+0.0)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0→0(－)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小規模(判定外)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0.0%/0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昆虫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8,096万円(4位)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+24.4%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42.1%(+3.2)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29→22(-24%)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小規模(判定外)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42.7%/22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Sub-category table"/>
          <p:cNvGraphicFramePr>
            <a:graphicFrameLocks noGrp="1"/>
          </p:cNvGraphicFramePr>
          <p:nvPr/>
        </p:nvGraphicFramePr>
        <p:xfrm>
          <a:off x="548640" y="3200400"/>
          <a:ext cx="110642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05840"/>
                <a:gridCol w="2194560"/>
                <a:gridCol w="1097280"/>
                <a:gridCol w="12801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サブカテ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売上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市場前年比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PB比率 25/6→26/6→27/6期*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PB SKU数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シェア動向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Yu Gothic"/>
                        </a:rPr>
                        <a:t>方向性</a:t>
                      </a:r>
                    </a:p>
                  </a:txBody>
                  <a:tcPr marL="73152" marR="73152" marT="27432" marB="27432" anchor="ctr"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観賞魚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4.35億円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-2.2%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小動物 / 小動物フード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3.77億円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+2.6%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2.4%→3.2%→2.8%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2→2→2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→ -0.4pt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小規模テスト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1.69億円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+4.2%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小動物 / 小動物用品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9,236万円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-1.1%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0.0%→0.0%→0.0%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0→0→0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優先度低</a:t>
                      </a:r>
                    </a:p>
                  </a:txBody>
                  <a:tcPr marL="73152" marR="73152" marT="27432" marB="27432" anchor="ctr">
                    <a:solidFill>
                      <a:srgbClr val="F3F6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昆虫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8,096万円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+24.4%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38.9%→42.1%→42.7%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29→22→22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3"/>
                          </a:solidFill>
                          <a:latin typeface="Calibri"/>
                          <a:ea typeface="Yu Gothic"/>
                        </a:rPr>
                        <a:t>経過観察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50" b="0" i="0">
                <a:solidFill>
                  <a:srgbClr val="5F6C72"/>
                </a:solidFill>
                <a:latin typeface="Calibri"/>
                <a:ea typeface="Yu Gothic"/>
              </a:rPr>
              <a:t>* 27/6期は他の期より対象期間が短く(売上は26/6期の24%)、売上は他の期と比べられないため、増減は表示していません。PB比率とPB SKU数は並べて比較できます。 シェア動向は27/6期と26/6期のPB比率の差(±2pt以上で上昇・低下)。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415" cy="86868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0E3B43"/>
                </a:solidFill>
                <a:latin typeface="Calibri"/>
                <a:ea typeface="Yu Gothic"/>
              </a:rPr>
              <a:t>前提・注意事項</a:t>
            </a:r>
          </a:p>
        </p:txBody>
      </p:sp>
      <p:sp>
        <p:nvSpPr>
          <p:cNvPr id="3" name="Notes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01168" indent="-201168">
              <a:spcAft>
                <a:spcPts val="16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  <a:ea typeface="Yu Gothic"/>
              </a:rPr>
              <a:t>27/6期は他の期より対象期間が短く(売上は26/6期の24%)、売上は他の期と比べられません。PB比率・SKU数・シェア動向のみ26/6期と並べて表示しており、成長率や方向性の判定には使っていません。</a:t>
            </a:r>
          </a:p>
          <a:p>
            <a:pPr marL="201168" indent="-201168">
              <a:spcAft>
                <a:spcPts val="16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  <a:ea typeface="Yu Gothic"/>
              </a:rPr>
              <a:t>元資料にPB売上額はないため、PB比率(売上に占めるPBの割合)と売上は元資料の値をそのまま表示しています。</a:t>
            </a:r>
          </a:p>
          <a:p>
            <a:pPr marL="201168" indent="-201168">
              <a:spcAft>
                <a:spcPts val="16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  <a:ea typeface="Yu Gothic"/>
              </a:rPr>
              <a:t>粗利・原価のデータは含まれていません。PB比率が高くても、利益が高いとは限りません。</a:t>
            </a:r>
          </a:p>
          <a:p>
            <a:pPr marL="201168" indent="-201168">
              <a:spcAft>
                <a:spcPts val="16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  <a:ea typeface="Yu Gothic"/>
              </a:rPr>
              <a:t>平均単価の変化には、価格・容量・商品構成の変化が含まれます。数量に関する記述は参考値です。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ペットカテゴリー PB戦略レポート</dc:title>
  <dc:subject/>
  <dc:creator>PB戦略レポート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