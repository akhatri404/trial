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増加</c:v>
                </c:pt>
              </c:strCache>
            </c:strRef>
          </c:tx>
          <c:spPr>
            <a:solidFill>
              <a:srgbClr val="2E7D32"/>
            </a:solidFill>
            <a:effectLst/>
          </c:spPr>
          <c:invertIfNegative val="0"/>
          <c:dLbls>
            <c:numFmt formatCode="#,##0;-#,##0;;" sourceLinked="0"/>
            <c:txPr>
              <a:bodyPr/>
              <a:lstStyle/>
              <a:p>
                <a:pPr>
                  <a:defRPr b="0" i="0" strike="noStrike" sz="900" u="none">
                    <a:solidFill>
                      <a:srgbClr val="1F2933"/>
                    </a:solidFill>
                    <a:latin typeface="Yu Gothic"/>
                  </a:defRPr>
                </a:pPr>
              </a:p>
            </c:txPr>
            <c:dLblPos val="inBase"/>
            <c:showLegendKey val="0"/>
            <c:showVal val="1"/>
            <c:showCatName val="0"/>
            <c:showSerName val="0"/>
            <c:showPercent val="0"/>
            <c:showBubbleSize val="0"/>
            <c:showLeaderLines val="0"/>
          </c:dLbls>
          <c:cat>
            <c:multiLvlStrRef>
              <c:f>Sheet1!$A$2:$A$14</c:f>
              <c:multiLvlStrCache>
                <c:ptCount val="13"/>
                <c:lvl>
                  <c:pt idx="0">
                    <c:v>猫ウェット / 缶</c:v>
                  </c:pt>
                  <c:pt idx="1">
                    <c:v>猫ウェット / レギュラーパウチ</c:v>
                  </c:pt>
                  <c:pt idx="2">
                    <c:v>犬スナック / 素材スナック</c:v>
                  </c:pt>
                  <c:pt idx="3">
                    <c:v>猫スナック / 素材</c:v>
                  </c:pt>
                  <c:pt idx="4">
                    <c:v>犬トイレタリー / 犬シート</c:v>
                  </c:pt>
                  <c:pt idx="5">
                    <c:v>猫トイレタリー / 猫砂</c:v>
                  </c:pt>
                  <c:pt idx="6">
                    <c:v>季節商品 / 春夏</c:v>
                  </c:pt>
                  <c:pt idx="7">
                    <c:v>季節商品 / 秋冬</c:v>
                  </c:pt>
                  <c:pt idx="8">
                    <c:v>猫スナック / レトルト</c:v>
                  </c:pt>
                  <c:pt idx="9">
                    <c:v>犬スナック / レトルト</c:v>
                  </c:pt>
                  <c:pt idx="10">
                    <c:v>犬スナック / オーラルケアガム</c:v>
                  </c:pt>
                  <c:pt idx="11">
                    <c:v>犬スナック / 菓子類</c:v>
                  </c:pt>
                  <c:pt idx="12">
                    <c:v>犬スナック / 練り込み_成形</c:v>
                  </c:pt>
                </c:lvl>
              </c:multiLvlStrCache>
            </c:multiLvlStrRef>
          </c:cat>
          <c:val>
            <c:numRef>
              <c:f>Sheet1!$B$2:$B$14</c:f>
              <c:numCache>
                <c:formatCode>General</c:formatCode>
                <c:ptCount val="13"/>
                <c:pt idx="0">
                  <c:v>208.3</c:v>
                </c:pt>
                <c:pt idx="1">
                  <c:v>131.5</c:v>
                </c:pt>
                <c:pt idx="2">
                  <c:v>75.9</c:v>
                </c:pt>
                <c:pt idx="3">
                  <c:v>64.6</c:v>
                </c:pt>
                <c:pt idx="4">
                  <c:v>33.6</c:v>
                </c:pt>
                <c:pt idx="5">
                  <c:v>31.9</c:v>
                </c:pt>
                <c:pt idx="6">
                  <c:v>27.4</c:v>
                </c:pt>
                <c:pt idx="7">
                  <c:v>14.6</c:v>
                </c:pt>
                <c:pt idx="8">
                  <c:v>0</c:v>
                </c:pt>
                <c:pt idx="9">
                  <c:v>0</c:v>
                </c:pt>
                <c:pt idx="10">
                  <c:v>0</c:v>
                </c:pt>
                <c:pt idx="11">
                  <c:v>0</c:v>
                </c:pt>
                <c:pt idx="12">
                  <c:v>0</c:v>
                </c:pt>
              </c:numCache>
            </c:numRef>
          </c:val>
        </c:ser>
        <c:ser>
          <c:idx val="1"/>
          <c:order val="1"/>
          <c:tx>
            <c:strRef>
              <c:f>Sheet1!$C$1</c:f>
              <c:strCache>
                <c:ptCount val="1"/>
                <c:pt idx="0">
                  <c:v>減少</c:v>
                </c:pt>
              </c:strCache>
            </c:strRef>
          </c:tx>
          <c:spPr>
            <a:solidFill>
              <a:srgbClr val="C62828"/>
            </a:solidFill>
            <a:effectLst/>
          </c:spPr>
          <c:invertIfNegative val="0"/>
          <c:dLbls>
            <c:numFmt formatCode="#,##0;-#,##0;;" sourceLinked="0"/>
            <c:txPr>
              <a:bodyPr/>
              <a:lstStyle/>
              <a:p>
                <a:pPr>
                  <a:defRPr b="0" i="0" strike="noStrike" sz="900" u="none">
                    <a:solidFill>
                      <a:srgbClr val="1F2933"/>
                    </a:solidFill>
                    <a:latin typeface="Yu Gothic"/>
                  </a:defRPr>
                </a:pPr>
              </a:p>
            </c:txPr>
            <c:dLblPos val="inBase"/>
            <c:showLegendKey val="0"/>
            <c:showVal val="1"/>
            <c:showCatName val="0"/>
            <c:showSerName val="0"/>
            <c:showPercent val="0"/>
            <c:showBubbleSize val="0"/>
            <c:showLeaderLines val="0"/>
          </c:dLbls>
          <c:cat>
            <c:multiLvlStrRef>
              <c:f>Sheet1!$A$2:$A$14</c:f>
              <c:multiLvlStrCache>
                <c:ptCount val="13"/>
                <c:lvl>
                  <c:pt idx="0">
                    <c:v>猫ウェット / 缶</c:v>
                  </c:pt>
                  <c:pt idx="1">
                    <c:v>猫ウェット / レギュラーパウチ</c:v>
                  </c:pt>
                  <c:pt idx="2">
                    <c:v>犬スナック / 素材スナック</c:v>
                  </c:pt>
                  <c:pt idx="3">
                    <c:v>猫スナック / 素材</c:v>
                  </c:pt>
                  <c:pt idx="4">
                    <c:v>犬トイレタリー / 犬シート</c:v>
                  </c:pt>
                  <c:pt idx="5">
                    <c:v>猫トイレタリー / 猫砂</c:v>
                  </c:pt>
                  <c:pt idx="6">
                    <c:v>季節商品 / 春夏</c:v>
                  </c:pt>
                  <c:pt idx="7">
                    <c:v>季節商品 / 秋冬</c:v>
                  </c:pt>
                  <c:pt idx="8">
                    <c:v>猫スナック / レトルト</c:v>
                  </c:pt>
                  <c:pt idx="9">
                    <c:v>犬スナック / レトルト</c:v>
                  </c:pt>
                  <c:pt idx="10">
                    <c:v>犬スナック / オーラルケアガム</c:v>
                  </c:pt>
                  <c:pt idx="11">
                    <c:v>犬スナック / 菓子類</c:v>
                  </c:pt>
                  <c:pt idx="12">
                    <c:v>犬スナック / 練り込み_成形</c:v>
                  </c:pt>
                </c:lvl>
              </c:multiLvlStrCache>
            </c:multiLvlStrRef>
          </c:cat>
          <c:val>
            <c:numRef>
              <c:f>Sheet1!$C$2:$C$14</c:f>
              <c:numCache>
                <c:formatCode>General</c:formatCode>
                <c:ptCount val="13"/>
                <c:pt idx="0">
                  <c:v>0</c:v>
                </c:pt>
                <c:pt idx="1">
                  <c:v>0</c:v>
                </c:pt>
                <c:pt idx="2">
                  <c:v>0</c:v>
                </c:pt>
                <c:pt idx="3">
                  <c:v>0</c:v>
                </c:pt>
                <c:pt idx="4">
                  <c:v>0</c:v>
                </c:pt>
                <c:pt idx="5">
                  <c:v>0</c:v>
                </c:pt>
                <c:pt idx="6">
                  <c:v>0</c:v>
                </c:pt>
                <c:pt idx="7">
                  <c:v>0</c:v>
                </c:pt>
                <c:pt idx="8">
                  <c:v>-194.5</c:v>
                </c:pt>
                <c:pt idx="9">
                  <c:v>-27.8</c:v>
                </c:pt>
                <c:pt idx="10">
                  <c:v>-22.7</c:v>
                </c:pt>
                <c:pt idx="11">
                  <c:v>-2</c:v>
                </c:pt>
                <c:pt idx="12">
                  <c:v>-1.3</c:v>
                </c:pt>
              </c:numCache>
            </c:numRef>
          </c:val>
        </c:ser>
        <c:dLbls>
          <c:numFmt formatCode="#,##0;-#,##0;;" sourceLinked="0"/>
          <c:txPr>
            <a:bodyPr/>
            <a:lstStyle/>
            <a:p>
              <a:pPr>
                <a:defRPr b="0" i="0" strike="noStrike" sz="900" u="none">
                  <a:solidFill>
                    <a:srgbClr val="1F2933"/>
                  </a:solidFill>
                  <a:latin typeface="Yu Gothic"/>
                </a:defRPr>
              </a:pPr>
            </a:p>
          </c:txPr>
          <c:dLblPos val="inBase"/>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F2933"/>
                </a:solidFill>
                <a:latin typeface="Yu Gothic"/>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8EA"/>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900" b="0" i="0" u="none" strike="noStrike">
                <a:solidFill>
                  <a:srgbClr val="5F6C72"/>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5F6C72"/>
                </a:solidFill>
                <a:latin typeface="Yu Gothic"/>
              </a:defRPr>
            </a:pPr>
            <a:r>
              <a:rPr sz="1100" b="0" i="0" u="none" strike="noStrike">
                <a:solidFill>
                  <a:srgbClr val="5F6C72"/>
                </a:solidFill>
                <a:latin typeface="Yu Gothic"/>
              </a:rPr>
              <a:t>PB比率 26/6期(%)</a:t>
            </a:r>
          </a:p>
        </c:rich>
      </c:tx>
      <c:layout/>
      <c:overlay val="0"/>
    </c:title>
    <c:autoTitleDeleted val="0"/>
    <c:plotArea>
      <c:layout/>
      <c:barChart>
        <c:barDir val="bar"/>
        <c:grouping val="clustered"/>
        <c:varyColors val="0"/>
        <c:ser>
          <c:idx val="0"/>
          <c:order val="0"/>
          <c:tx>
            <c:strRef>
              <c:f>Sheet1!$B$1</c:f>
              <c:strCache>
                <c:ptCount val="1"/>
                <c:pt idx="0">
                  <c:v>PB比率</c:v>
                </c:pt>
              </c:strCache>
            </c:strRef>
          </c:tx>
          <c:spPr>
            <a:solidFill>
              <a:srgbClr val="1C7C7D"/>
            </a:solidFill>
            <a:effectLst/>
          </c:spPr>
          <c:invertIfNegative val="0"/>
          <c:dLbls>
            <c:numFmt formatCode="0.0&quot;%&quot;" sourceLinked="0"/>
            <c:txPr>
              <a:bodyPr/>
              <a:lstStyle/>
              <a:p>
                <a:pPr>
                  <a:defRPr b="0" i="0" strike="noStrike" sz="1000" u="none">
                    <a:solidFill>
                      <a:srgbClr val="1F2933"/>
                    </a:solidFill>
                    <a:latin typeface="Yu Gothic"/>
                  </a:defRPr>
                </a:pPr>
              </a:p>
            </c:txPr>
            <c:showLegendKey val="0"/>
            <c:showVal val="1"/>
            <c:showCatName val="0"/>
            <c:showSerName val="0"/>
            <c:showPercent val="0"/>
            <c:showBubbleSize val="0"/>
            <c:showLeaderLines val="0"/>
          </c:dLbls>
          <c:cat>
            <c:multiLvlStrRef>
              <c:f>Sheet1!$A$2:$A$6</c:f>
              <c:multiLvlStrCache>
                <c:ptCount val="5"/>
                <c:lvl>
                  <c:pt idx="0">
                    <c:v>猫フード</c:v>
                  </c:pt>
                  <c:pt idx="1">
                    <c:v>犬フード</c:v>
                  </c:pt>
                  <c:pt idx="2">
                    <c:v>トイレタリー用品</c:v>
                  </c:pt>
                  <c:pt idx="3">
                    <c:v>ペット用品</c:v>
                  </c:pt>
                  <c:pt idx="4">
                    <c:v>ペット水物</c:v>
                  </c:pt>
                </c:lvl>
              </c:multiLvlStrCache>
            </c:multiLvlStrRef>
          </c:cat>
          <c:val>
            <c:numRef>
              <c:f>Sheet1!$B$2:$B$6</c:f>
              <c:numCache>
                <c:formatCode>General</c:formatCode>
                <c:ptCount val="5"/>
                <c:pt idx="0">
                  <c:v>12.8</c:v>
                </c:pt>
                <c:pt idx="1">
                  <c:v>9</c:v>
                </c:pt>
                <c:pt idx="2">
                  <c:v>53.5</c:v>
                </c:pt>
                <c:pt idx="3">
                  <c:v>35.6</c:v>
                </c:pt>
                <c:pt idx="4">
                  <c:v>4</c:v>
                </c:pt>
              </c:numCache>
            </c:numRef>
          </c:val>
        </c:ser>
        <c:dLbls>
          <c:numFmt formatCode="0.0&quot;%&quot;" sourceLinked="0"/>
          <c:txPr>
            <a:bodyPr/>
            <a:lstStyle/>
            <a:p>
              <a:pPr>
                <a:defRPr b="0" i="0" strike="noStrike" sz="1000" u="none">
                  <a:solidFill>
                    <a:srgbClr val="1F2933"/>
                  </a:solidFill>
                  <a:latin typeface="Yu Gothic"/>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3"/>
                </a:solidFill>
                <a:latin typeface="Yu Gothic"/>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PB SKU数の増加率</c:v>
                </c:pt>
              </c:strCache>
            </c:strRef>
          </c:tx>
          <c:spPr>
            <a:solidFill>
              <a:srgbClr val="E67E22"/>
            </a:solidFill>
            <a:effectLst/>
          </c:spPr>
          <c:invertIfNegative val="0"/>
          <c:dLbls>
            <c:numFmt formatCode="0&quot;%&quot;" sourceLinked="0"/>
            <c:txPr>
              <a:bodyPr/>
              <a:lstStyle/>
              <a:p>
                <a:pPr>
                  <a:defRPr b="0" i="0" strike="noStrike" sz="900" u="none">
                    <a:solidFill>
                      <a:srgbClr val="1F2933"/>
                    </a:solidFill>
                    <a:latin typeface="Yu Gothic"/>
                  </a:defRPr>
                </a:pPr>
              </a:p>
            </c:txPr>
            <c:showLegendKey val="0"/>
            <c:showVal val="1"/>
            <c:showCatName val="0"/>
            <c:showSerName val="0"/>
            <c:showPercent val="0"/>
            <c:showBubbleSize val="0"/>
            <c:showLeaderLines val="0"/>
          </c:dLbls>
          <c:cat>
            <c:multiLvlStrRef>
              <c:f>Sheet1!$A$2:$A$11</c:f>
              <c:multiLvlStrCache>
                <c:ptCount val="10"/>
                <c:lvl>
                  <c:pt idx="0">
                    <c:v>猫スナック</c:v>
                  </c:pt>
                  <c:pt idx="1">
                    <c:v>猫ウェット</c:v>
                  </c:pt>
                  <c:pt idx="2">
                    <c:v>猫ドライ</c:v>
                  </c:pt>
                  <c:pt idx="3">
                    <c:v>犬トイレタリー</c:v>
                  </c:pt>
                  <c:pt idx="4">
                    <c:v>季節商品</c:v>
                  </c:pt>
                  <c:pt idx="5">
                    <c:v>犬スナック</c:v>
                  </c:pt>
                  <c:pt idx="6">
                    <c:v>犬ウェット</c:v>
                  </c:pt>
                  <c:pt idx="7">
                    <c:v>犬猫生活用品</c:v>
                  </c:pt>
                  <c:pt idx="8">
                    <c:v>犬ドライ</c:v>
                  </c:pt>
                  <c:pt idx="9">
                    <c:v>猫トイレタリー</c:v>
                  </c:pt>
                </c:lvl>
              </c:multiLvlStrCache>
            </c:multiLvlStrRef>
          </c:cat>
          <c:val>
            <c:numRef>
              <c:f>Sheet1!$B$2:$B$11</c:f>
              <c:numCache>
                <c:formatCode>General</c:formatCode>
                <c:ptCount val="10"/>
                <c:pt idx="0">
                  <c:v>157</c:v>
                </c:pt>
                <c:pt idx="1">
                  <c:v>117</c:v>
                </c:pt>
                <c:pt idx="2">
                  <c:v>113</c:v>
                </c:pt>
                <c:pt idx="3">
                  <c:v>94</c:v>
                </c:pt>
                <c:pt idx="4">
                  <c:v>87</c:v>
                </c:pt>
                <c:pt idx="5">
                  <c:v>71</c:v>
                </c:pt>
                <c:pt idx="6">
                  <c:v>42</c:v>
                </c:pt>
                <c:pt idx="7">
                  <c:v>37</c:v>
                </c:pt>
                <c:pt idx="8">
                  <c:v>0</c:v>
                </c:pt>
                <c:pt idx="9">
                  <c:v>-5</c:v>
                </c:pt>
              </c:numCache>
            </c:numRef>
          </c:val>
        </c:ser>
        <c:ser>
          <c:idx val="1"/>
          <c:order val="1"/>
          <c:tx>
            <c:strRef>
              <c:f>Sheet1!$C$1</c:f>
              <c:strCache>
                <c:ptCount val="1"/>
                <c:pt idx="0">
                  <c:v>PB売上の成長率</c:v>
                </c:pt>
              </c:strCache>
            </c:strRef>
          </c:tx>
          <c:spPr>
            <a:solidFill>
              <a:srgbClr val="0E3B43"/>
            </a:solidFill>
            <a:effectLst/>
          </c:spPr>
          <c:invertIfNegative val="0"/>
          <c:dLbls>
            <c:numFmt formatCode="0&quot;%&quot;" sourceLinked="0"/>
            <c:txPr>
              <a:bodyPr/>
              <a:lstStyle/>
              <a:p>
                <a:pPr>
                  <a:defRPr b="0" i="0" strike="noStrike" sz="900" u="none">
                    <a:solidFill>
                      <a:srgbClr val="1F2933"/>
                    </a:solidFill>
                    <a:latin typeface="Yu Gothic"/>
                  </a:defRPr>
                </a:pPr>
              </a:p>
            </c:txPr>
            <c:showLegendKey val="0"/>
            <c:showVal val="1"/>
            <c:showCatName val="0"/>
            <c:showSerName val="0"/>
            <c:showPercent val="0"/>
            <c:showBubbleSize val="0"/>
            <c:showLeaderLines val="0"/>
          </c:dLbls>
          <c:cat>
            <c:multiLvlStrRef>
              <c:f>Sheet1!$A$2:$A$11</c:f>
              <c:multiLvlStrCache>
                <c:ptCount val="10"/>
                <c:lvl>
                  <c:pt idx="0">
                    <c:v>猫スナック</c:v>
                  </c:pt>
                  <c:pt idx="1">
                    <c:v>猫ウェット</c:v>
                  </c:pt>
                  <c:pt idx="2">
                    <c:v>猫ドライ</c:v>
                  </c:pt>
                  <c:pt idx="3">
                    <c:v>犬トイレタリー</c:v>
                  </c:pt>
                  <c:pt idx="4">
                    <c:v>季節商品</c:v>
                  </c:pt>
                  <c:pt idx="5">
                    <c:v>犬スナック</c:v>
                  </c:pt>
                  <c:pt idx="6">
                    <c:v>犬ウェット</c:v>
                  </c:pt>
                  <c:pt idx="7">
                    <c:v>犬猫生活用品</c:v>
                  </c:pt>
                  <c:pt idx="8">
                    <c:v>犬ドライ</c:v>
                  </c:pt>
                  <c:pt idx="9">
                    <c:v>猫トイレタリー</c:v>
                  </c:pt>
                </c:lvl>
              </c:multiLvlStrCache>
            </c:multiLvlStrRef>
          </c:cat>
          <c:val>
            <c:numRef>
              <c:f>Sheet1!$C$2:$C$11</c:f>
              <c:numCache>
                <c:formatCode>General</c:formatCode>
                <c:ptCount val="10"/>
                <c:pt idx="0">
                  <c:v>-32</c:v>
                </c:pt>
                <c:pt idx="1">
                  <c:v>45</c:v>
                </c:pt>
                <c:pt idx="2">
                  <c:v>6</c:v>
                </c:pt>
                <c:pt idx="3">
                  <c:v>3</c:v>
                </c:pt>
                <c:pt idx="4">
                  <c:v>16</c:v>
                </c:pt>
                <c:pt idx="5">
                  <c:v>8</c:v>
                </c:pt>
                <c:pt idx="6">
                  <c:v>18</c:v>
                </c:pt>
                <c:pt idx="7">
                  <c:v>20</c:v>
                </c:pt>
                <c:pt idx="8">
                  <c:v>6</c:v>
                </c:pt>
                <c:pt idx="9">
                  <c:v>3</c:v>
                </c:pt>
              </c:numCache>
            </c:numRef>
          </c:val>
        </c:ser>
        <c:dLbls>
          <c:numFmt formatCode="0&quot;%&quot;" sourceLinked="0"/>
          <c:txPr>
            <a:bodyPr/>
            <a:lstStyle/>
            <a:p>
              <a:pPr>
                <a:defRPr b="0" i="0" strike="noStrike" sz="900" u="none">
                  <a:solidFill>
                    <a:srgbClr val="1F2933"/>
                  </a:solidFill>
                  <a:latin typeface="Yu Gothic"/>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F2933"/>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F6C72"/>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latin typeface="Yu Gothic"/>
              <a:cs typeface="Yu Gothic"/>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推計NB売上</c:v>
                </c:pt>
              </c:strCache>
            </c:strRef>
          </c:tx>
          <c:spPr>
            <a:solidFill>
              <a:srgbClr val="1C7C7D"/>
            </a:solidFill>
            <a:effectLst/>
          </c:spPr>
          <c:invertIfNegative val="0"/>
          <c:dLbls>
            <c:numFmt formatCode="#,##0" sourceLinked="0"/>
            <c:txPr>
              <a:bodyPr/>
              <a:lstStyle/>
              <a:p>
                <a:pPr>
                  <a:defRPr b="0" i="0" strike="noStrike" sz="1000" u="none">
                    <a:solidFill>
                      <a:srgbClr val="1F2933"/>
                    </a:solidFill>
                    <a:latin typeface="Yu Gothic"/>
                  </a:defRPr>
                </a:pPr>
              </a:p>
            </c:txPr>
            <c:showLegendKey val="0"/>
            <c:showVal val="1"/>
            <c:showCatName val="0"/>
            <c:showSerName val="0"/>
            <c:showPercent val="0"/>
            <c:showBubbleSize val="0"/>
            <c:showLeaderLines val="0"/>
          </c:dLbls>
          <c:cat>
            <c:multiLvlStrRef>
              <c:f>Sheet1!$A$2:$A$11</c:f>
              <c:multiLvlStrCache>
                <c:ptCount val="10"/>
                <c:lvl>
                  <c:pt idx="0">
                    <c:v>猫ドライ / グルメ (PB 1.3%)</c:v>
                  </c:pt>
                  <c:pt idx="1">
                    <c:v>猫ウェット / レギュラーパウチ (PB 7.7%)</c:v>
                  </c:pt>
                  <c:pt idx="2">
                    <c:v>猫スナック / レトルト (PB 2.4%)</c:v>
                  </c:pt>
                  <c:pt idx="3">
                    <c:v>猫ドライ / スタンダード (PB 20.2%)</c:v>
                  </c:pt>
                  <c:pt idx="4">
                    <c:v>猫ドライ / 機能食 (PB 0%)</c:v>
                  </c:pt>
                  <c:pt idx="5">
                    <c:v>犬スナック / 練り込み_成形 (PB 3.5%)</c:v>
                  </c:pt>
                  <c:pt idx="6">
                    <c:v>猫ウェット / ミニパウチ (PB 0%)</c:v>
                  </c:pt>
                  <c:pt idx="7">
                    <c:v>犬ドライ / 機能食 (PB 0%)</c:v>
                  </c:pt>
                  <c:pt idx="8">
                    <c:v>犬スナック / オーラルケアガム (PB 2.6%)</c:v>
                  </c:pt>
                  <c:pt idx="9">
                    <c:v>猫スナック / ドライスナック (PB 0%)</c:v>
                  </c:pt>
                </c:lvl>
              </c:multiLvlStrCache>
            </c:multiLvlStrRef>
          </c:cat>
          <c:val>
            <c:numRef>
              <c:f>Sheet1!$B$2:$B$11</c:f>
              <c:numCache>
                <c:formatCode>General</c:formatCode>
                <c:ptCount val="10"/>
                <c:pt idx="0">
                  <c:v>2093</c:v>
                </c:pt>
                <c:pt idx="1">
                  <c:v>2087</c:v>
                </c:pt>
                <c:pt idx="2">
                  <c:v>1965</c:v>
                </c:pt>
                <c:pt idx="3">
                  <c:v>1455</c:v>
                </c:pt>
                <c:pt idx="4">
                  <c:v>1315</c:v>
                </c:pt>
                <c:pt idx="5">
                  <c:v>937</c:v>
                </c:pt>
                <c:pt idx="6">
                  <c:v>889</c:v>
                </c:pt>
                <c:pt idx="7">
                  <c:v>824</c:v>
                </c:pt>
                <c:pt idx="8">
                  <c:v>823</c:v>
                </c:pt>
                <c:pt idx="9">
                  <c:v>660</c:v>
                </c:pt>
              </c:numCache>
            </c:numRef>
          </c:val>
        </c:ser>
        <c:dLbls>
          <c:numFmt formatCode="#,##0" sourceLinked="0"/>
          <c:txPr>
            <a:bodyPr/>
            <a:lstStyle/>
            <a:p>
              <a:pPr>
                <a:defRPr b="0" i="0" strike="noStrike" sz="1000" u="none">
                  <a:solidFill>
                    <a:srgbClr val="1F2933"/>
                  </a:solidFill>
                  <a:latin typeface="Yu Gothic"/>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F2933"/>
                </a:solidFill>
                <a:latin typeface="Yu Gothic"/>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販売データをPythonで定量分析し、6つのAIモデルで独立分析した結果をもとに、重点カテゴリーと協業方針を整理した資料です。27/6期は2ヶ月分のため、売上金額の増減比較には使っていません。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6期のペット全体売上は268.04億円、PB比率19.12%、PB売上51.25億円、推計NB売上216.79億円(元Excelの方向性シートと一致)。PB比率が低いことだけを開発機会とは判断せず、PBが存在しない理由・後退した理由・成功している理由を分けて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推計PB売上 = 全体売上 × PB売上比率、推計NB売上 = 全体売上 − 推計PB売上。比率から算出した推計値で、PB/NB別の実績明細ではありません。最終的な重点領域は、AI回答だけでなく市場規模・PB状態・推計NB市場・複数期の変化・PB SKU等を総合して整理しています。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市場要因 = 売上の増減 × 前期PBシェア、シェア要因 = 当期売上 × PBシェアの増減。両者の合計はPB売上の増減と一致します。増加の総額6.78億円、減少の総額−2.50億円、純増減4.28億円。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部門別のPB売上の増減: 猫フード 2.40億円、犬フード 4,723万円、トイレタリー用品 6,505万円、ペット用品 6,431万円、ペット水物 1,217万円。トイレタリー用品はシェア変化がマイナス(−841万円)で、増加は市場成長によるもの。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 SKU当たり売上は1,398万円→904万円(−35%)。27/6期のPB SKU数は518。SKUの棒が売上の棒より大きく高いカテゴリーは、追加したSKUに見合う売上が出ていません。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推計NB売上 = 全体売上 − PB売上(全体売上 × PB比率)。PBがこれから獲得しうる売上の上限の目安です。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PDF資料の重点カテゴリーの数値はすべて元Excelのサブカテシートと一致。追加情報: 猫ドライ/グルメは27/6期にPB SKUが1→0となりPB比率0%。猫スナック/レトルトは27/6期 0.02%(ほぼ0%)。猫ウェット/レギュラーパウチは27/6期 10.3%まで上昇。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猫スナック/レトルトのPB比率は 25/6期 13.8% → 26/6期 2.4% → 27/6期 0.02%。猫ウェット/缶は47.4%→63.4%で、PB売上増加が最大のサブカテ。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小規模テストのサブカテ(猫ドライ/グルメ・機能食、犬ドライ/機能食など)は試算の対象外。表示の上位8件の合計は9.69億円、残り4件で1.02億円、合計10.71億円。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ステップ3「トライアル様と確認」が次の商談の焦点。PB方針、売場、価格、品質、過去PB、導入条件を確認したうえで商品企画に進みます。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トライアル様との商談で不足情報を取得し、その後に具体的な商品・価格・SKU・導入条件へ進みます。AIに判断を任せるのではなく、データと商品開発力を組み合わせて意思決定の質を高めることを目指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追加データをPythonと複数AIモデルで再分析し、トライアル様の方針・当社の競争力・利益条件の3点で候補を評価します。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dirty="0">
                <a:solidFill>
                  <a:srgbClr val="5F6C72"/>
                </a:solidFill>
                <a:latin typeface="Yu Gothic" pitchFamily="34" charset="0"/>
                <a:ea typeface="Yu Gothic" pitchFamily="34" charset="-122"/>
                <a:cs typeface="Yu Gothic" pitchFamily="34" charset="-120"/>
              </a:rPr>
              <a:t>TOEI TRADING × TRIAL  |  PB分析・商品開発方針</a:t>
            </a:r>
            <a:endParaRPr lang="en-US" sz="9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43"/>
        </a:solidFill>
      </p:bgPr>
    </p:bg>
    <p:spTree>
      <p:nvGrpSpPr>
        <p:cNvPr id="1" name=""/>
        <p:cNvGrpSpPr/>
        <p:nvPr/>
      </p:nvGrpSpPr>
      <p:grpSpPr>
        <a:xfrm>
          <a:off x="0" y="0"/>
          <a:ext cx="0" cy="0"/>
          <a:chOff x="0" y="0"/>
          <a:chExt cx="0" cy="0"/>
        </a:xfrm>
      </p:grpSpPr>
      <p:sp>
        <p:nvSpPr>
          <p:cNvPr id="2" name="Shape 0"/>
          <p:cNvSpPr/>
          <p:nvPr/>
        </p:nvSpPr>
        <p:spPr>
          <a:xfrm>
            <a:off x="548640" y="1828800"/>
            <a:ext cx="109728" cy="2103120"/>
          </a:xfrm>
          <a:prstGeom prst="rect">
            <a:avLst/>
          </a:prstGeom>
          <a:solidFill>
            <a:srgbClr val="E67E22"/>
          </a:solidFill>
          <a:ln w="12700">
            <a:solidFill>
              <a:srgbClr val="E67E22"/>
            </a:solidFill>
            <a:prstDash val="solid"/>
          </a:ln>
        </p:spPr>
      </p:sp>
      <p:sp>
        <p:nvSpPr>
          <p:cNvPr id="3" name="Text 1"/>
          <p:cNvSpPr txBox="1"/>
          <p:nvPr/>
        </p:nvSpPr>
        <p:spPr>
          <a:xfrm>
            <a:off x="868680" y="1737360"/>
            <a:ext cx="10515600" cy="822960"/>
          </a:xfrm>
          <a:prstGeom prst="rect">
            <a:avLst/>
          </a:prstGeom>
          <a:noFill/>
          <a:ln/>
        </p:spPr>
        <p:txBody>
          <a:bodyPr wrap="square" lIns="0" tIns="0" rIns="0" bIns="0"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トライアル様との今後の商品開発方針</a:t>
            </a:r>
            <a:endParaRPr lang="en-US" sz="3600" dirty="0"/>
          </a:p>
        </p:txBody>
      </p:sp>
      <p:sp>
        <p:nvSpPr>
          <p:cNvPr id="4" name="Text 2"/>
          <p:cNvSpPr txBox="1"/>
          <p:nvPr/>
        </p:nvSpPr>
        <p:spPr>
          <a:xfrm>
            <a:off x="868680" y="2606040"/>
            <a:ext cx="10515600" cy="457200"/>
          </a:xfrm>
          <a:prstGeom prst="rect">
            <a:avLst/>
          </a:prstGeom>
          <a:noFill/>
          <a:ln/>
        </p:spPr>
        <p:txBody>
          <a:bodyPr wrap="square" lIns="0" tIns="0" rIns="0" bIns="0" rtlCol="0" anchor="ctr"/>
          <a:lstStyle/>
          <a:p>
            <a:pPr indent="0" marL="0">
              <a:buNone/>
            </a:pPr>
            <a:r>
              <a:rPr lang="en-US" sz="1800" dirty="0">
                <a:solidFill>
                  <a:srgbClr val="CFE3E3"/>
                </a:solidFill>
                <a:latin typeface="Yu Gothic" pitchFamily="34" charset="0"/>
                <a:ea typeface="Yu Gothic" pitchFamily="34" charset="-122"/>
                <a:cs typeface="Yu Gothic" pitchFamily="34" charset="-120"/>
              </a:rPr>
              <a:t>ペットカテゴリー PB分析 × Python定量分析 × 複数AIモデル分析</a:t>
            </a:r>
            <a:endParaRPr lang="en-US" sz="1800" dirty="0"/>
          </a:p>
        </p:txBody>
      </p:sp>
      <p:sp>
        <p:nvSpPr>
          <p:cNvPr id="5" name="Text 3"/>
          <p:cNvSpPr txBox="1"/>
          <p:nvPr/>
        </p:nvSpPr>
        <p:spPr>
          <a:xfrm>
            <a:off x="868680" y="3200400"/>
            <a:ext cx="10515600" cy="731520"/>
          </a:xfrm>
          <a:prstGeom prst="rect">
            <a:avLst/>
          </a:prstGeom>
          <a:noFill/>
          <a:ln/>
        </p:spPr>
        <p:txBody>
          <a:bodyPr wrap="square" lIns="0" tIns="0" rIns="0" bIns="0" rtlCol="0" anchor="ctr"/>
          <a:lstStyle/>
          <a:p>
            <a:pPr indent="0" marL="0">
              <a:buNone/>
            </a:pPr>
            <a:r>
              <a:rPr lang="en-US" sz="1300" dirty="0">
                <a:solidFill>
                  <a:srgbClr val="A9C4C6"/>
                </a:solidFill>
                <a:latin typeface="Yu Gothic" pitchFamily="34" charset="0"/>
                <a:ea typeface="Yu Gothic" pitchFamily="34" charset="-122"/>
                <a:cs typeface="Yu Gothic" pitchFamily="34" charset="-120"/>
              </a:rPr>
              <a:t>比較期間: 25/6期 vs 26/6期(27/6期は2ヶ月分のため参考表示)</a:t>
            </a:r>
            <a:endParaRPr lang="en-US" sz="1300" dirty="0"/>
          </a:p>
          <a:p>
            <a:pPr indent="0" marL="0">
              <a:buNone/>
            </a:pPr>
            <a:r>
              <a:rPr lang="en-US" sz="1300" dirty="0">
                <a:solidFill>
                  <a:srgbClr val="A9C4C6"/>
                </a:solidFill>
                <a:latin typeface="Yu Gothic" pitchFamily="34" charset="0"/>
                <a:ea typeface="Yu Gothic" pitchFamily="34" charset="-122"/>
                <a:cs typeface="Yu Gothic" pitchFamily="34" charset="-120"/>
              </a:rPr>
              <a:t>元データ: 開発方向性 コミュニケーション資料2.xlsx</a:t>
            </a:r>
            <a:endParaRPr lang="en-US" sz="1300" dirty="0"/>
          </a:p>
        </p:txBody>
      </p:sp>
      <p:sp>
        <p:nvSpPr>
          <p:cNvPr id="6" name="Text 4"/>
          <p:cNvSpPr txBox="1"/>
          <p:nvPr/>
        </p:nvSpPr>
        <p:spPr>
          <a:xfrm>
            <a:off x="868680" y="5760720"/>
            <a:ext cx="10515600" cy="365760"/>
          </a:xfrm>
          <a:prstGeom prst="rect">
            <a:avLst/>
          </a:prstGeom>
          <a:noFill/>
          <a:ln/>
        </p:spPr>
        <p:txBody>
          <a:bodyPr wrap="square" lIns="0" tIns="0" rIns="0" bIns="0" rtlCol="0" anchor="ctr"/>
          <a:lstStyle/>
          <a:p>
            <a:pPr indent="0" marL="0">
              <a:buNone/>
            </a:pPr>
            <a:r>
              <a:rPr lang="en-US" sz="1300" dirty="0">
                <a:solidFill>
                  <a:srgbClr val="FFFFFF"/>
                </a:solidFill>
                <a:latin typeface="Yu Gothic" pitchFamily="34" charset="0"/>
                <a:ea typeface="Yu Gothic" pitchFamily="34" charset="-122"/>
                <a:cs typeface="Yu Gothic" pitchFamily="34" charset="-120"/>
              </a:rPr>
              <a:t>株式会社トーエートレーディング  |  2026年10月</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現状: PB売上 51.25億円・PB比率 19.12%、成長の81%は猫ウェット</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26/6期 ペット全体(25/6期比)</a:t>
            </a:r>
            <a:endParaRPr lang="en-US" sz="1200" dirty="0"/>
          </a:p>
        </p:txBody>
      </p:sp>
      <p:sp>
        <p:nvSpPr>
          <p:cNvPr id="4" name="Shape 2"/>
          <p:cNvSpPr/>
          <p:nvPr/>
        </p:nvSpPr>
        <p:spPr>
          <a:xfrm>
            <a:off x="457200" y="1325880"/>
            <a:ext cx="2651760" cy="1417320"/>
          </a:xfrm>
          <a:prstGeom prst="roundRect">
            <a:avLst>
              <a:gd name="adj" fmla="val 5161"/>
            </a:avLst>
          </a:prstGeom>
          <a:solidFill>
            <a:srgbClr val="E6EEEE"/>
          </a:solidFill>
          <a:ln w="12700">
            <a:solidFill>
              <a:srgbClr val="E6EEEE"/>
            </a:solidFill>
            <a:prstDash val="solid"/>
          </a:ln>
        </p:spPr>
      </p:sp>
      <p:sp>
        <p:nvSpPr>
          <p:cNvPr id="5" name="Text 3"/>
          <p:cNvSpPr txBox="1"/>
          <p:nvPr/>
        </p:nvSpPr>
        <p:spPr>
          <a:xfrm>
            <a:off x="640080" y="1435608"/>
            <a:ext cx="2286000" cy="27432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ペット売上</a:t>
            </a:r>
            <a:endParaRPr lang="en-US" sz="1200" dirty="0"/>
          </a:p>
        </p:txBody>
      </p:sp>
      <p:sp>
        <p:nvSpPr>
          <p:cNvPr id="6" name="Text 4"/>
          <p:cNvSpPr txBox="1"/>
          <p:nvPr/>
        </p:nvSpPr>
        <p:spPr>
          <a:xfrm>
            <a:off x="640080" y="1737360"/>
            <a:ext cx="2286000" cy="548640"/>
          </a:xfrm>
          <a:prstGeom prst="rect">
            <a:avLst/>
          </a:prstGeom>
          <a:noFill/>
          <a:ln/>
        </p:spPr>
        <p:txBody>
          <a:bodyPr wrap="square" lIns="0" tIns="0" rIns="0" bIns="0" rtlCol="0" anchor="ctr"/>
          <a:lstStyle/>
          <a:p>
            <a:pPr indent="0" marL="0">
              <a:buNone/>
            </a:pPr>
            <a:r>
              <a:rPr lang="en-US" sz="3000" b="1" dirty="0">
                <a:solidFill>
                  <a:srgbClr val="0E3B43"/>
                </a:solidFill>
                <a:latin typeface="Yu Gothic" pitchFamily="34" charset="0"/>
                <a:ea typeface="Yu Gothic" pitchFamily="34" charset="-122"/>
                <a:cs typeface="Yu Gothic" pitchFamily="34" charset="-120"/>
              </a:rPr>
              <a:t>268.0億円</a:t>
            </a:r>
            <a:endParaRPr lang="en-US" sz="3000" dirty="0"/>
          </a:p>
        </p:txBody>
      </p:sp>
      <p:sp>
        <p:nvSpPr>
          <p:cNvPr id="7" name="Text 5"/>
          <p:cNvSpPr txBox="1"/>
          <p:nvPr/>
        </p:nvSpPr>
        <p:spPr>
          <a:xfrm>
            <a:off x="640080" y="2331720"/>
            <a:ext cx="2286000" cy="274320"/>
          </a:xfrm>
          <a:prstGeom prst="rect">
            <a:avLst/>
          </a:prstGeom>
          <a:noFill/>
          <a:ln/>
        </p:spPr>
        <p:txBody>
          <a:bodyPr wrap="square" lIns="0" tIns="0" rIns="0" bIns="0" rtlCol="0" anchor="ctr"/>
          <a:lstStyle/>
          <a:p>
            <a:pPr indent="0" marL="0">
              <a:buNone/>
            </a:pPr>
            <a:r>
              <a:rPr lang="en-US" sz="1100" b="1" dirty="0">
                <a:solidFill>
                  <a:srgbClr val="1C7C7D"/>
                </a:solidFill>
                <a:latin typeface="Yu Gothic" pitchFamily="34" charset="0"/>
                <a:ea typeface="Yu Gothic" pitchFamily="34" charset="-122"/>
                <a:cs typeface="Yu Gothic" pitchFamily="34" charset="-120"/>
              </a:rPr>
              <a:t>+4.8%(255.7億円→)</a:t>
            </a:r>
            <a:endParaRPr lang="en-US" sz="1100" dirty="0"/>
          </a:p>
        </p:txBody>
      </p:sp>
      <p:sp>
        <p:nvSpPr>
          <p:cNvPr id="8" name="Shape 6"/>
          <p:cNvSpPr/>
          <p:nvPr/>
        </p:nvSpPr>
        <p:spPr>
          <a:xfrm>
            <a:off x="3291840" y="1325880"/>
            <a:ext cx="2651760" cy="1417320"/>
          </a:xfrm>
          <a:prstGeom prst="roundRect">
            <a:avLst>
              <a:gd name="adj" fmla="val 5161"/>
            </a:avLst>
          </a:prstGeom>
          <a:solidFill>
            <a:srgbClr val="E6EEEE"/>
          </a:solidFill>
          <a:ln w="12700">
            <a:solidFill>
              <a:srgbClr val="E6EEEE"/>
            </a:solidFill>
            <a:prstDash val="solid"/>
          </a:ln>
        </p:spPr>
      </p:sp>
      <p:sp>
        <p:nvSpPr>
          <p:cNvPr id="9" name="Text 7"/>
          <p:cNvSpPr txBox="1"/>
          <p:nvPr/>
        </p:nvSpPr>
        <p:spPr>
          <a:xfrm>
            <a:off x="3474720" y="1435608"/>
            <a:ext cx="2286000" cy="27432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PB売上</a:t>
            </a:r>
            <a:endParaRPr lang="en-US" sz="1200" dirty="0"/>
          </a:p>
        </p:txBody>
      </p:sp>
      <p:sp>
        <p:nvSpPr>
          <p:cNvPr id="10" name="Text 8"/>
          <p:cNvSpPr txBox="1"/>
          <p:nvPr/>
        </p:nvSpPr>
        <p:spPr>
          <a:xfrm>
            <a:off x="3474720" y="1737360"/>
            <a:ext cx="2286000" cy="548640"/>
          </a:xfrm>
          <a:prstGeom prst="rect">
            <a:avLst/>
          </a:prstGeom>
          <a:noFill/>
          <a:ln/>
        </p:spPr>
        <p:txBody>
          <a:bodyPr wrap="square" lIns="0" tIns="0" rIns="0" bIns="0" rtlCol="0" anchor="ctr"/>
          <a:lstStyle/>
          <a:p>
            <a:pPr indent="0" marL="0">
              <a:buNone/>
            </a:pPr>
            <a:r>
              <a:rPr lang="en-US" sz="3000" b="1" dirty="0">
                <a:solidFill>
                  <a:srgbClr val="0E3B43"/>
                </a:solidFill>
                <a:latin typeface="Yu Gothic" pitchFamily="34" charset="0"/>
                <a:ea typeface="Yu Gothic" pitchFamily="34" charset="-122"/>
                <a:cs typeface="Yu Gothic" pitchFamily="34" charset="-120"/>
              </a:rPr>
              <a:t>51.25億円</a:t>
            </a:r>
            <a:endParaRPr lang="en-US" sz="3000" dirty="0"/>
          </a:p>
        </p:txBody>
      </p:sp>
      <p:sp>
        <p:nvSpPr>
          <p:cNvPr id="11" name="Text 9"/>
          <p:cNvSpPr txBox="1"/>
          <p:nvPr/>
        </p:nvSpPr>
        <p:spPr>
          <a:xfrm>
            <a:off x="3474720" y="2331720"/>
            <a:ext cx="2286000" cy="274320"/>
          </a:xfrm>
          <a:prstGeom prst="rect">
            <a:avLst/>
          </a:prstGeom>
          <a:noFill/>
          <a:ln/>
        </p:spPr>
        <p:txBody>
          <a:bodyPr wrap="square" lIns="0" tIns="0" rIns="0" bIns="0" rtlCol="0" anchor="ctr"/>
          <a:lstStyle/>
          <a:p>
            <a:pPr indent="0" marL="0">
              <a:buNone/>
            </a:pPr>
            <a:r>
              <a:rPr lang="en-US" sz="1100" b="1" dirty="0">
                <a:solidFill>
                  <a:srgbClr val="2E7D32"/>
                </a:solidFill>
                <a:latin typeface="Yu Gothic" pitchFamily="34" charset="0"/>
                <a:ea typeface="Yu Gothic" pitchFamily="34" charset="-122"/>
                <a:cs typeface="Yu Gothic" pitchFamily="34" charset="-120"/>
              </a:rPr>
              <a:t>+9.1%(+4.28億円)</a:t>
            </a:r>
            <a:endParaRPr lang="en-US" sz="1100" dirty="0"/>
          </a:p>
        </p:txBody>
      </p:sp>
      <p:sp>
        <p:nvSpPr>
          <p:cNvPr id="12" name="Shape 10"/>
          <p:cNvSpPr/>
          <p:nvPr/>
        </p:nvSpPr>
        <p:spPr>
          <a:xfrm>
            <a:off x="6126480" y="1325880"/>
            <a:ext cx="2651760" cy="1417320"/>
          </a:xfrm>
          <a:prstGeom prst="roundRect">
            <a:avLst>
              <a:gd name="adj" fmla="val 5161"/>
            </a:avLst>
          </a:prstGeom>
          <a:solidFill>
            <a:srgbClr val="E6EEEE"/>
          </a:solidFill>
          <a:ln w="12700">
            <a:solidFill>
              <a:srgbClr val="E6EEEE"/>
            </a:solidFill>
            <a:prstDash val="solid"/>
          </a:ln>
        </p:spPr>
      </p:sp>
      <p:sp>
        <p:nvSpPr>
          <p:cNvPr id="13" name="Text 11"/>
          <p:cNvSpPr txBox="1"/>
          <p:nvPr/>
        </p:nvSpPr>
        <p:spPr>
          <a:xfrm>
            <a:off x="6309360" y="1435608"/>
            <a:ext cx="2286000" cy="27432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PB比率(売上)</a:t>
            </a:r>
            <a:endParaRPr lang="en-US" sz="1200" dirty="0"/>
          </a:p>
        </p:txBody>
      </p:sp>
      <p:sp>
        <p:nvSpPr>
          <p:cNvPr id="14" name="Text 12"/>
          <p:cNvSpPr txBox="1"/>
          <p:nvPr/>
        </p:nvSpPr>
        <p:spPr>
          <a:xfrm>
            <a:off x="6309360" y="1737360"/>
            <a:ext cx="2286000" cy="548640"/>
          </a:xfrm>
          <a:prstGeom prst="rect">
            <a:avLst/>
          </a:prstGeom>
          <a:noFill/>
          <a:ln/>
        </p:spPr>
        <p:txBody>
          <a:bodyPr wrap="square" lIns="0" tIns="0" rIns="0" bIns="0" rtlCol="0" anchor="ctr"/>
          <a:lstStyle/>
          <a:p>
            <a:pPr indent="0" marL="0">
              <a:buNone/>
            </a:pPr>
            <a:r>
              <a:rPr lang="en-US" sz="3000" b="1" dirty="0">
                <a:solidFill>
                  <a:srgbClr val="0E3B43"/>
                </a:solidFill>
                <a:latin typeface="Yu Gothic" pitchFamily="34" charset="0"/>
                <a:ea typeface="Yu Gothic" pitchFamily="34" charset="-122"/>
                <a:cs typeface="Yu Gothic" pitchFamily="34" charset="-120"/>
              </a:rPr>
              <a:t>19.12%</a:t>
            </a:r>
            <a:endParaRPr lang="en-US" sz="3000" dirty="0"/>
          </a:p>
        </p:txBody>
      </p:sp>
      <p:sp>
        <p:nvSpPr>
          <p:cNvPr id="15" name="Text 13"/>
          <p:cNvSpPr txBox="1"/>
          <p:nvPr/>
        </p:nvSpPr>
        <p:spPr>
          <a:xfrm>
            <a:off x="6309360" y="2331720"/>
            <a:ext cx="2286000" cy="274320"/>
          </a:xfrm>
          <a:prstGeom prst="rect">
            <a:avLst/>
          </a:prstGeom>
          <a:noFill/>
          <a:ln/>
        </p:spPr>
        <p:txBody>
          <a:bodyPr wrap="square" lIns="0" tIns="0" rIns="0" bIns="0" rtlCol="0" anchor="ctr"/>
          <a:lstStyle/>
          <a:p>
            <a:pPr indent="0" marL="0">
              <a:buNone/>
            </a:pPr>
            <a:r>
              <a:rPr lang="en-US" sz="1100" b="1" dirty="0">
                <a:solidFill>
                  <a:srgbClr val="2E7D32"/>
                </a:solidFill>
                <a:latin typeface="Yu Gothic" pitchFamily="34" charset="0"/>
                <a:ea typeface="Yu Gothic" pitchFamily="34" charset="-122"/>
                <a:cs typeface="Yu Gothic" pitchFamily="34" charset="-120"/>
              </a:rPr>
              <a:t>+0.76pt(18.37%→)</a:t>
            </a:r>
            <a:endParaRPr lang="en-US" sz="1100" dirty="0"/>
          </a:p>
        </p:txBody>
      </p:sp>
      <p:sp>
        <p:nvSpPr>
          <p:cNvPr id="16" name="Shape 14"/>
          <p:cNvSpPr/>
          <p:nvPr/>
        </p:nvSpPr>
        <p:spPr>
          <a:xfrm>
            <a:off x="8961120" y="1325880"/>
            <a:ext cx="2651760" cy="1417320"/>
          </a:xfrm>
          <a:prstGeom prst="roundRect">
            <a:avLst>
              <a:gd name="adj" fmla="val 5161"/>
            </a:avLst>
          </a:prstGeom>
          <a:solidFill>
            <a:srgbClr val="E6EEEE"/>
          </a:solidFill>
          <a:ln w="12700">
            <a:solidFill>
              <a:srgbClr val="E6EEEE"/>
            </a:solidFill>
            <a:prstDash val="solid"/>
          </a:ln>
        </p:spPr>
      </p:sp>
      <p:sp>
        <p:nvSpPr>
          <p:cNvPr id="17" name="Text 15"/>
          <p:cNvSpPr txBox="1"/>
          <p:nvPr/>
        </p:nvSpPr>
        <p:spPr>
          <a:xfrm>
            <a:off x="9144000" y="1435608"/>
            <a:ext cx="2286000" cy="27432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推計NB売上</a:t>
            </a:r>
            <a:endParaRPr lang="en-US" sz="1200" dirty="0"/>
          </a:p>
        </p:txBody>
      </p:sp>
      <p:sp>
        <p:nvSpPr>
          <p:cNvPr id="18" name="Text 16"/>
          <p:cNvSpPr txBox="1"/>
          <p:nvPr/>
        </p:nvSpPr>
        <p:spPr>
          <a:xfrm>
            <a:off x="9144000" y="1737360"/>
            <a:ext cx="2286000" cy="548640"/>
          </a:xfrm>
          <a:prstGeom prst="rect">
            <a:avLst/>
          </a:prstGeom>
          <a:noFill/>
          <a:ln/>
        </p:spPr>
        <p:txBody>
          <a:bodyPr wrap="square" lIns="0" tIns="0" rIns="0" bIns="0" rtlCol="0" anchor="ctr"/>
          <a:lstStyle/>
          <a:p>
            <a:pPr indent="0" marL="0">
              <a:buNone/>
            </a:pPr>
            <a:r>
              <a:rPr lang="en-US" sz="3000" b="1" dirty="0">
                <a:solidFill>
                  <a:srgbClr val="0E3B43"/>
                </a:solidFill>
                <a:latin typeface="Yu Gothic" pitchFamily="34" charset="0"/>
                <a:ea typeface="Yu Gothic" pitchFamily="34" charset="-122"/>
                <a:cs typeface="Yu Gothic" pitchFamily="34" charset="-120"/>
              </a:rPr>
              <a:t>216.8億円</a:t>
            </a:r>
            <a:endParaRPr lang="en-US" sz="3000" dirty="0"/>
          </a:p>
        </p:txBody>
      </p:sp>
      <p:sp>
        <p:nvSpPr>
          <p:cNvPr id="19" name="Text 17"/>
          <p:cNvSpPr txBox="1"/>
          <p:nvPr/>
        </p:nvSpPr>
        <p:spPr>
          <a:xfrm>
            <a:off x="9144000" y="2331720"/>
            <a:ext cx="2286000" cy="274320"/>
          </a:xfrm>
          <a:prstGeom prst="rect">
            <a:avLst/>
          </a:prstGeom>
          <a:noFill/>
          <a:ln/>
        </p:spPr>
        <p:txBody>
          <a:bodyPr wrap="square" lIns="0" tIns="0" rIns="0" bIns="0" rtlCol="0" anchor="ctr"/>
          <a:lstStyle/>
          <a:p>
            <a:pPr indent="0" marL="0">
              <a:buNone/>
            </a:pPr>
            <a:r>
              <a:rPr lang="en-US" sz="1100" b="1" dirty="0">
                <a:solidFill>
                  <a:srgbClr val="5F6C72"/>
                </a:solidFill>
                <a:latin typeface="Yu Gothic" pitchFamily="34" charset="0"/>
                <a:ea typeface="Yu Gothic" pitchFamily="34" charset="-122"/>
                <a:cs typeface="Yu Gothic" pitchFamily="34" charset="-120"/>
              </a:rPr>
              <a:t>全体売上 − PB売上</a:t>
            </a:r>
            <a:endParaRPr lang="en-US" sz="1100" dirty="0"/>
          </a:p>
        </p:txBody>
      </p:sp>
      <p:sp>
        <p:nvSpPr>
          <p:cNvPr id="20" name="Text 18"/>
          <p:cNvSpPr txBox="1"/>
          <p:nvPr/>
        </p:nvSpPr>
        <p:spPr>
          <a:xfrm>
            <a:off x="457200" y="3017520"/>
            <a:ext cx="11247120" cy="210312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F2933"/>
                </a:solidFill>
                <a:latin typeface="Yu Gothic" pitchFamily="34" charset="0"/>
                <a:ea typeface="Yu Gothic" pitchFamily="34" charset="-122"/>
                <a:cs typeface="Yu Gothic" pitchFamily="34" charset="-120"/>
              </a:rPr>
              <a:t>PB売上の純増 4.28億円のうち猫ウェットが3.45億円(約81%)。猫ウェット/缶が+2.08億円で最大、猫スナック/レトルトが−1.95億円で最大の減少。</a:t>
            </a:r>
            <a:endParaRPr lang="en-US" sz="1400" dirty="0"/>
          </a:p>
          <a:p>
            <a:pPr marL="177800" indent="-177800">
              <a:spcAft>
                <a:spcPts val="800"/>
              </a:spcAft>
              <a:buSzPct val="100000"/>
              <a:buChar char="•"/>
            </a:pPr>
            <a:r>
              <a:rPr lang="en-US" sz="1400" dirty="0">
                <a:solidFill>
                  <a:srgbClr val="1F2933"/>
                </a:solidFill>
                <a:latin typeface="Yu Gothic" pitchFamily="34" charset="0"/>
                <a:ea typeface="Yu Gothic" pitchFamily="34" charset="-122"/>
                <a:cs typeface="Yu Gothic" pitchFamily="34" charset="-120"/>
              </a:rPr>
              <a:t>PB SKU数は336→567(+69%)に対しPB売上は+9%。PB SKU当たり売上は1,398万円→904万円(−35%)。</a:t>
            </a:r>
            <a:endParaRPr lang="en-US" sz="1400" dirty="0"/>
          </a:p>
          <a:p>
            <a:pPr marL="177800" indent="-177800">
              <a:spcAft>
                <a:spcPts val="800"/>
              </a:spcAft>
              <a:buSzPct val="100000"/>
              <a:buChar char="•"/>
            </a:pPr>
            <a:r>
              <a:rPr lang="en-US" sz="1400" dirty="0">
                <a:solidFill>
                  <a:srgbClr val="1F2933"/>
                </a:solidFill>
                <a:latin typeface="Yu Gothic" pitchFamily="34" charset="0"/>
                <a:ea typeface="Yu Gothic" pitchFamily="34" charset="-122"/>
                <a:cs typeface="Yu Gothic" pitchFamily="34" charset="-120"/>
              </a:rPr>
              <a:t>PB売上は集中: 犬シート・猫砂・猫ウェット缶の上位3サブカテでPB売上の62%。</a:t>
            </a:r>
            <a:endParaRPr lang="en-US" sz="1400" dirty="0"/>
          </a:p>
          <a:p>
            <a:pPr marL="177800" indent="-177800">
              <a:spcAft>
                <a:spcPts val="800"/>
              </a:spcAft>
              <a:buSzPct val="100000"/>
              <a:buChar char="•"/>
            </a:pPr>
            <a:r>
              <a:rPr lang="en-US" sz="1400" dirty="0">
                <a:solidFill>
                  <a:srgbClr val="1F2933"/>
                </a:solidFill>
                <a:latin typeface="Yu Gothic" pitchFamily="34" charset="0"/>
                <a:ea typeface="Yu Gothic" pitchFamily="34" charset="-122"/>
                <a:cs typeface="Yu Gothic" pitchFamily="34" charset="-120"/>
              </a:rPr>
              <a:t>猫ドライ・猫ウェット・猫スナックは大市場だが、同じカテゴリー内でもPBの状態(高浸透/浸透中/空白/後退)が大きく異なる。</a:t>
            </a:r>
            <a:endParaRPr lang="en-US" sz="1400" dirty="0"/>
          </a:p>
        </p:txBody>
      </p:sp>
      <p:sp>
        <p:nvSpPr>
          <p:cNvPr id="21" name="Shape 19"/>
          <p:cNvSpPr/>
          <p:nvPr/>
        </p:nvSpPr>
        <p:spPr>
          <a:xfrm>
            <a:off x="457200" y="4846320"/>
            <a:ext cx="11247120" cy="822960"/>
          </a:xfrm>
          <a:prstGeom prst="rect">
            <a:avLst/>
          </a:prstGeom>
          <a:solidFill>
            <a:srgbClr val="FDF1E6"/>
          </a:solidFill>
          <a:ln w="12700">
            <a:solidFill>
              <a:srgbClr val="E67E22"/>
            </a:solidFill>
            <a:prstDash val="solid"/>
          </a:ln>
        </p:spPr>
      </p:sp>
      <p:sp>
        <p:nvSpPr>
          <p:cNvPr id="22" name="Text 20"/>
          <p:cNvSpPr txBox="1"/>
          <p:nvPr/>
        </p:nvSpPr>
        <p:spPr>
          <a:xfrm>
            <a:off x="640080" y="4846320"/>
            <a:ext cx="10881360" cy="822960"/>
          </a:xfrm>
          <a:prstGeom prst="rect">
            <a:avLst/>
          </a:prstGeom>
          <a:noFill/>
          <a:ln/>
        </p:spPr>
        <p:txBody>
          <a:bodyPr wrap="square" lIns="0" tIns="0" rIns="0" bIns="0" rtlCol="0" anchor="ctr"/>
          <a:lstStyle/>
          <a:p>
            <a:pPr indent="0" marL="0">
              <a:buNone/>
            </a:pPr>
            <a:r>
              <a:rPr lang="en-US" sz="1400" b="1" dirty="0">
                <a:solidFill>
                  <a:srgbClr val="0E3B43"/>
                </a:solidFill>
                <a:latin typeface="Yu Gothic" pitchFamily="34" charset="0"/>
                <a:ea typeface="Yu Gothic" pitchFamily="34" charset="-122"/>
                <a:cs typeface="Yu Gothic" pitchFamily="34" charset="-120"/>
              </a:rPr>
              <a:t>重要なのは「何が売れているか」だけでなく、「同じカテゴリーの中で、なぜPBが成立する領域と成立しない領域があるのか」を解明すること。</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分析方法: Python定量分析 → 6つのAIモデルで独立分析 → 元データで再検証</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数値処理とAI分析を分離。AIは意思決定者ではなく、見落としを減らすための分析補助</a:t>
            </a:r>
            <a:endParaRPr lang="en-US" sz="1200" dirty="0"/>
          </a:p>
        </p:txBody>
      </p:sp>
      <p:sp>
        <p:nvSpPr>
          <p:cNvPr id="4" name="Shape 2"/>
          <p:cNvSpPr/>
          <p:nvPr/>
        </p:nvSpPr>
        <p:spPr>
          <a:xfrm>
            <a:off x="457200" y="1417320"/>
            <a:ext cx="457200" cy="457200"/>
          </a:xfrm>
          <a:prstGeom prst="ellipse">
            <a:avLst/>
          </a:prstGeom>
          <a:solidFill>
            <a:srgbClr val="1C7C7D"/>
          </a:solidFill>
          <a:ln w="12700">
            <a:solidFill>
              <a:srgbClr val="FFFFFF"/>
            </a:solidFill>
            <a:prstDash val="solid"/>
          </a:ln>
        </p:spPr>
      </p:sp>
      <p:sp>
        <p:nvSpPr>
          <p:cNvPr id="5" name="Text 3"/>
          <p:cNvSpPr txBox="1"/>
          <p:nvPr/>
        </p:nvSpPr>
        <p:spPr>
          <a:xfrm>
            <a:off x="457200" y="1417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1</a:t>
            </a:r>
            <a:endParaRPr lang="en-US" sz="1400" dirty="0"/>
          </a:p>
        </p:txBody>
      </p:sp>
      <p:sp>
        <p:nvSpPr>
          <p:cNvPr id="6" name="Text 4"/>
          <p:cNvSpPr txBox="1"/>
          <p:nvPr/>
        </p:nvSpPr>
        <p:spPr>
          <a:xfrm>
            <a:off x="1051560" y="1325880"/>
            <a:ext cx="4754880" cy="685800"/>
          </a:xfrm>
          <a:prstGeom prst="rect">
            <a:avLst/>
          </a:prstGeom>
          <a:noFill/>
          <a:ln/>
        </p:spPr>
        <p:txBody>
          <a:bodyPr wrap="square" lIns="0" tIns="0" rIns="0" bIns="0" rtlCol="0" anchor="ctr"/>
          <a:lstStyle/>
          <a:p>
            <a:pPr indent="0" marL="0">
              <a:buNone/>
            </a:pPr>
            <a:r>
              <a:rPr lang="en-US" sz="1350" b="1" dirty="0">
                <a:solidFill>
                  <a:srgbClr val="0E3B43"/>
                </a:solidFill>
                <a:latin typeface="Yu Gothic" pitchFamily="34" charset="0"/>
                <a:ea typeface="Yu Gothic" pitchFamily="34" charset="-122"/>
                <a:cs typeface="Yu Gothic" pitchFamily="34" charset="-120"/>
              </a:rPr>
              <a:t>元Excelの構造確認</a:t>
            </a:r>
            <a:endParaRPr lang="en-US" sz="1350" dirty="0"/>
          </a:p>
          <a:p>
            <a:pPr indent="0" marL="0">
              <a:buNone/>
            </a:pPr>
            <a:r>
              <a:rPr lang="en-US" sz="1150" dirty="0">
                <a:solidFill>
                  <a:srgbClr val="5F6C72"/>
                </a:solidFill>
                <a:latin typeface="Yu Gothic" pitchFamily="34" charset="0"/>
                <a:ea typeface="Yu Gothic" pitchFamily="34" charset="-122"/>
                <a:cs typeface="Yu Gothic" pitchFamily="34" charset="-120"/>
              </a:rPr>
              <a:t>カテゴリー・サブカテ・期間・欠損・集計整合性</a:t>
            </a:r>
            <a:endParaRPr lang="en-US" sz="1350" dirty="0"/>
          </a:p>
        </p:txBody>
      </p:sp>
      <p:sp>
        <p:nvSpPr>
          <p:cNvPr id="7" name="Shape 5"/>
          <p:cNvSpPr/>
          <p:nvPr/>
        </p:nvSpPr>
        <p:spPr>
          <a:xfrm>
            <a:off x="457200" y="2203704"/>
            <a:ext cx="457200" cy="457200"/>
          </a:xfrm>
          <a:prstGeom prst="ellipse">
            <a:avLst/>
          </a:prstGeom>
          <a:solidFill>
            <a:srgbClr val="1C7C7D"/>
          </a:solidFill>
          <a:ln w="12700">
            <a:solidFill>
              <a:srgbClr val="FFFFFF"/>
            </a:solidFill>
            <a:prstDash val="solid"/>
          </a:ln>
        </p:spPr>
      </p:sp>
      <p:sp>
        <p:nvSpPr>
          <p:cNvPr id="8" name="Text 6"/>
          <p:cNvSpPr txBox="1"/>
          <p:nvPr/>
        </p:nvSpPr>
        <p:spPr>
          <a:xfrm>
            <a:off x="457200" y="22037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2</a:t>
            </a:r>
            <a:endParaRPr lang="en-US" sz="1400" dirty="0"/>
          </a:p>
        </p:txBody>
      </p:sp>
      <p:sp>
        <p:nvSpPr>
          <p:cNvPr id="9" name="Text 7"/>
          <p:cNvSpPr txBox="1"/>
          <p:nvPr/>
        </p:nvSpPr>
        <p:spPr>
          <a:xfrm>
            <a:off x="1051560" y="2112264"/>
            <a:ext cx="4754880" cy="685800"/>
          </a:xfrm>
          <a:prstGeom prst="rect">
            <a:avLst/>
          </a:prstGeom>
          <a:noFill/>
          <a:ln/>
        </p:spPr>
        <p:txBody>
          <a:bodyPr wrap="square" lIns="0" tIns="0" rIns="0" bIns="0" rtlCol="0" anchor="ctr"/>
          <a:lstStyle/>
          <a:p>
            <a:pPr indent="0" marL="0">
              <a:buNone/>
            </a:pPr>
            <a:r>
              <a:rPr lang="en-US" sz="1350" b="1" dirty="0">
                <a:solidFill>
                  <a:srgbClr val="0E3B43"/>
                </a:solidFill>
                <a:latin typeface="Yu Gothic" pitchFamily="34" charset="0"/>
                <a:ea typeface="Yu Gothic" pitchFamily="34" charset="-122"/>
                <a:cs typeface="Yu Gothic" pitchFamily="34" charset="-120"/>
              </a:rPr>
              <a:t>Python定量分析</a:t>
            </a:r>
            <a:endParaRPr lang="en-US" sz="1350" dirty="0"/>
          </a:p>
          <a:p>
            <a:pPr indent="0" marL="0">
              <a:buNone/>
            </a:pPr>
            <a:r>
              <a:rPr lang="en-US" sz="1150" dirty="0">
                <a:solidFill>
                  <a:srgbClr val="5F6C72"/>
                </a:solidFill>
                <a:latin typeface="Yu Gothic" pitchFamily="34" charset="0"/>
                <a:ea typeface="Yu Gothic" pitchFamily="34" charset="-122"/>
                <a:cs typeface="Yu Gothic" pitchFamily="34" charset="-120"/>
              </a:rPr>
              <a:t>売上・売れ数・PB比率・PB SKU・推計PB/NB</a:t>
            </a:r>
            <a:endParaRPr lang="en-US" sz="1350" dirty="0"/>
          </a:p>
        </p:txBody>
      </p:sp>
      <p:sp>
        <p:nvSpPr>
          <p:cNvPr id="10" name="Shape 8"/>
          <p:cNvSpPr/>
          <p:nvPr/>
        </p:nvSpPr>
        <p:spPr>
          <a:xfrm>
            <a:off x="457200" y="2990088"/>
            <a:ext cx="457200" cy="457200"/>
          </a:xfrm>
          <a:prstGeom prst="ellipse">
            <a:avLst/>
          </a:prstGeom>
          <a:solidFill>
            <a:srgbClr val="E67E22"/>
          </a:solidFill>
          <a:ln w="12700">
            <a:solidFill>
              <a:srgbClr val="FFFFFF"/>
            </a:solidFill>
            <a:prstDash val="solid"/>
          </a:ln>
        </p:spPr>
      </p:sp>
      <p:sp>
        <p:nvSpPr>
          <p:cNvPr id="11" name="Text 9"/>
          <p:cNvSpPr txBox="1"/>
          <p:nvPr/>
        </p:nvSpPr>
        <p:spPr>
          <a:xfrm>
            <a:off x="457200" y="29900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3</a:t>
            </a:r>
            <a:endParaRPr lang="en-US" sz="1400" dirty="0"/>
          </a:p>
        </p:txBody>
      </p:sp>
      <p:sp>
        <p:nvSpPr>
          <p:cNvPr id="12" name="Text 10"/>
          <p:cNvSpPr txBox="1"/>
          <p:nvPr/>
        </p:nvSpPr>
        <p:spPr>
          <a:xfrm>
            <a:off x="1051560" y="2898648"/>
            <a:ext cx="4754880" cy="685800"/>
          </a:xfrm>
          <a:prstGeom prst="rect">
            <a:avLst/>
          </a:prstGeom>
          <a:noFill/>
          <a:ln/>
        </p:spPr>
        <p:txBody>
          <a:bodyPr wrap="square" lIns="0" tIns="0" rIns="0" bIns="0" rtlCol="0" anchor="ctr"/>
          <a:lstStyle/>
          <a:p>
            <a:pPr indent="0" marL="0">
              <a:buNone/>
            </a:pPr>
            <a:r>
              <a:rPr lang="en-US" sz="1350" b="1" dirty="0">
                <a:solidFill>
                  <a:srgbClr val="0E3B43"/>
                </a:solidFill>
                <a:latin typeface="Yu Gothic" pitchFamily="34" charset="0"/>
                <a:ea typeface="Yu Gothic" pitchFamily="34" charset="-122"/>
                <a:cs typeface="Yu Gothic" pitchFamily="34" charset="-120"/>
              </a:rPr>
              <a:t>6 AI独立分析</a:t>
            </a:r>
            <a:endParaRPr lang="en-US" sz="1350" dirty="0"/>
          </a:p>
          <a:p>
            <a:pPr indent="0" marL="0">
              <a:buNone/>
            </a:pPr>
            <a:r>
              <a:rPr lang="en-US" sz="1150" dirty="0">
                <a:solidFill>
                  <a:srgbClr val="5F6C72"/>
                </a:solidFill>
                <a:latin typeface="Yu Gothic" pitchFamily="34" charset="0"/>
                <a:ea typeface="Yu Gothic" pitchFamily="34" charset="-122"/>
                <a:cs typeface="Yu Gothic" pitchFamily="34" charset="-120"/>
              </a:rPr>
              <a:t>同一データ・同一条件で候補・仮説・リスクを抽出</a:t>
            </a:r>
            <a:endParaRPr lang="en-US" sz="1350" dirty="0"/>
          </a:p>
        </p:txBody>
      </p:sp>
      <p:sp>
        <p:nvSpPr>
          <p:cNvPr id="13" name="Shape 11"/>
          <p:cNvSpPr/>
          <p:nvPr/>
        </p:nvSpPr>
        <p:spPr>
          <a:xfrm>
            <a:off x="457200" y="3776472"/>
            <a:ext cx="457200" cy="457200"/>
          </a:xfrm>
          <a:prstGeom prst="ellipse">
            <a:avLst/>
          </a:prstGeom>
          <a:solidFill>
            <a:srgbClr val="E67E22"/>
          </a:solidFill>
          <a:ln w="12700">
            <a:solidFill>
              <a:srgbClr val="FFFFFF"/>
            </a:solidFill>
            <a:prstDash val="solid"/>
          </a:ln>
        </p:spPr>
      </p:sp>
      <p:sp>
        <p:nvSpPr>
          <p:cNvPr id="14" name="Text 12"/>
          <p:cNvSpPr txBox="1"/>
          <p:nvPr/>
        </p:nvSpPr>
        <p:spPr>
          <a:xfrm>
            <a:off x="457200" y="37764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4</a:t>
            </a:r>
            <a:endParaRPr lang="en-US" sz="1400" dirty="0"/>
          </a:p>
        </p:txBody>
      </p:sp>
      <p:sp>
        <p:nvSpPr>
          <p:cNvPr id="15" name="Text 13"/>
          <p:cNvSpPr txBox="1"/>
          <p:nvPr/>
        </p:nvSpPr>
        <p:spPr>
          <a:xfrm>
            <a:off x="1051560" y="3685032"/>
            <a:ext cx="4754880" cy="685800"/>
          </a:xfrm>
          <a:prstGeom prst="rect">
            <a:avLst/>
          </a:prstGeom>
          <a:noFill/>
          <a:ln/>
        </p:spPr>
        <p:txBody>
          <a:bodyPr wrap="square" lIns="0" tIns="0" rIns="0" bIns="0" rtlCol="0" anchor="ctr"/>
          <a:lstStyle/>
          <a:p>
            <a:pPr indent="0" marL="0">
              <a:buNone/>
            </a:pPr>
            <a:r>
              <a:rPr lang="en-US" sz="1350" b="1" dirty="0">
                <a:solidFill>
                  <a:srgbClr val="0E3B43"/>
                </a:solidFill>
                <a:latin typeface="Yu Gothic" pitchFamily="34" charset="0"/>
                <a:ea typeface="Yu Gothic" pitchFamily="34" charset="-122"/>
                <a:cs typeface="Yu Gothic" pitchFamily="34" charset="-120"/>
              </a:rPr>
              <a:t>AI回答比較</a:t>
            </a:r>
            <a:endParaRPr lang="en-US" sz="1350" dirty="0"/>
          </a:p>
          <a:p>
            <a:pPr indent="0" marL="0">
              <a:buNone/>
            </a:pPr>
            <a:r>
              <a:rPr lang="en-US" sz="1150" dirty="0">
                <a:solidFill>
                  <a:srgbClr val="5F6C72"/>
                </a:solidFill>
                <a:latin typeface="Yu Gothic" pitchFamily="34" charset="0"/>
                <a:ea typeface="Yu Gothic" pitchFamily="34" charset="-122"/>
                <a:cs typeface="Yu Gothic" pitchFamily="34" charset="-120"/>
              </a:rPr>
              <a:t>共通の論点・意見が分かれた点・独自の着眼点</a:t>
            </a:r>
            <a:endParaRPr lang="en-US" sz="1350" dirty="0"/>
          </a:p>
        </p:txBody>
      </p:sp>
      <p:sp>
        <p:nvSpPr>
          <p:cNvPr id="16" name="Shape 14"/>
          <p:cNvSpPr/>
          <p:nvPr/>
        </p:nvSpPr>
        <p:spPr>
          <a:xfrm>
            <a:off x="457200" y="4562856"/>
            <a:ext cx="457200" cy="457200"/>
          </a:xfrm>
          <a:prstGeom prst="ellipse">
            <a:avLst/>
          </a:prstGeom>
          <a:solidFill>
            <a:srgbClr val="1C7C7D"/>
          </a:solidFill>
          <a:ln w="12700">
            <a:solidFill>
              <a:srgbClr val="FFFFFF"/>
            </a:solidFill>
            <a:prstDash val="solid"/>
          </a:ln>
        </p:spPr>
      </p:sp>
      <p:sp>
        <p:nvSpPr>
          <p:cNvPr id="17" name="Text 15"/>
          <p:cNvSpPr txBox="1"/>
          <p:nvPr/>
        </p:nvSpPr>
        <p:spPr>
          <a:xfrm>
            <a:off x="457200" y="45628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5</a:t>
            </a:r>
            <a:endParaRPr lang="en-US" sz="1400" dirty="0"/>
          </a:p>
        </p:txBody>
      </p:sp>
      <p:sp>
        <p:nvSpPr>
          <p:cNvPr id="18" name="Text 16"/>
          <p:cNvSpPr txBox="1"/>
          <p:nvPr/>
        </p:nvSpPr>
        <p:spPr>
          <a:xfrm>
            <a:off x="1051560" y="4471416"/>
            <a:ext cx="4754880" cy="685800"/>
          </a:xfrm>
          <a:prstGeom prst="rect">
            <a:avLst/>
          </a:prstGeom>
          <a:noFill/>
          <a:ln/>
        </p:spPr>
        <p:txBody>
          <a:bodyPr wrap="square" lIns="0" tIns="0" rIns="0" bIns="0" rtlCol="0" anchor="ctr"/>
          <a:lstStyle/>
          <a:p>
            <a:pPr indent="0" marL="0">
              <a:buNone/>
            </a:pPr>
            <a:r>
              <a:rPr lang="en-US" sz="1350" b="1" dirty="0">
                <a:solidFill>
                  <a:srgbClr val="0E3B43"/>
                </a:solidFill>
                <a:latin typeface="Yu Gothic" pitchFamily="34" charset="0"/>
                <a:ea typeface="Yu Gothic" pitchFamily="34" charset="-122"/>
                <a:cs typeface="Yu Gothic" pitchFamily="34" charset="-120"/>
              </a:rPr>
              <a:t>数値再検証</a:t>
            </a:r>
            <a:endParaRPr lang="en-US" sz="1350" dirty="0"/>
          </a:p>
          <a:p>
            <a:pPr indent="0" marL="0">
              <a:buNone/>
            </a:pPr>
            <a:r>
              <a:rPr lang="en-US" sz="1150" dirty="0">
                <a:solidFill>
                  <a:srgbClr val="5F6C72"/>
                </a:solidFill>
                <a:latin typeface="Yu Gothic" pitchFamily="34" charset="0"/>
                <a:ea typeface="Yu Gothic" pitchFamily="34" charset="-122"/>
                <a:cs typeface="Yu Gothic" pitchFamily="34" charset="-120"/>
              </a:rPr>
              <a:t>AIが引用した数値を元Excel/Pythonと照合</a:t>
            </a:r>
            <a:endParaRPr lang="en-US" sz="1350" dirty="0"/>
          </a:p>
        </p:txBody>
      </p:sp>
      <p:sp>
        <p:nvSpPr>
          <p:cNvPr id="19" name="Shape 17"/>
          <p:cNvSpPr/>
          <p:nvPr/>
        </p:nvSpPr>
        <p:spPr>
          <a:xfrm>
            <a:off x="457200" y="5349240"/>
            <a:ext cx="457200" cy="457200"/>
          </a:xfrm>
          <a:prstGeom prst="ellipse">
            <a:avLst/>
          </a:prstGeom>
          <a:solidFill>
            <a:srgbClr val="1C7C7D"/>
          </a:solidFill>
          <a:ln w="12700">
            <a:solidFill>
              <a:srgbClr val="FFFFFF"/>
            </a:solidFill>
            <a:prstDash val="solid"/>
          </a:ln>
        </p:spPr>
      </p:sp>
      <p:sp>
        <p:nvSpPr>
          <p:cNvPr id="20" name="Text 18"/>
          <p:cNvSpPr txBox="1"/>
          <p:nvPr/>
        </p:nvSpPr>
        <p:spPr>
          <a:xfrm>
            <a:off x="457200" y="53492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6</a:t>
            </a:r>
            <a:endParaRPr lang="en-US" sz="1400" dirty="0"/>
          </a:p>
        </p:txBody>
      </p:sp>
      <p:sp>
        <p:nvSpPr>
          <p:cNvPr id="21" name="Text 19"/>
          <p:cNvSpPr txBox="1"/>
          <p:nvPr/>
        </p:nvSpPr>
        <p:spPr>
          <a:xfrm>
            <a:off x="1051560" y="5257800"/>
            <a:ext cx="4754880" cy="685800"/>
          </a:xfrm>
          <a:prstGeom prst="rect">
            <a:avLst/>
          </a:prstGeom>
          <a:noFill/>
          <a:ln/>
        </p:spPr>
        <p:txBody>
          <a:bodyPr wrap="square" lIns="0" tIns="0" rIns="0" bIns="0" rtlCol="0" anchor="ctr"/>
          <a:lstStyle/>
          <a:p>
            <a:pPr indent="0" marL="0">
              <a:buNone/>
            </a:pPr>
            <a:r>
              <a:rPr lang="en-US" sz="1350" b="1" dirty="0">
                <a:solidFill>
                  <a:srgbClr val="0E3B43"/>
                </a:solidFill>
                <a:latin typeface="Yu Gothic" pitchFamily="34" charset="0"/>
                <a:ea typeface="Yu Gothic" pitchFamily="34" charset="-122"/>
                <a:cs typeface="Yu Gothic" pitchFamily="34" charset="-120"/>
              </a:rPr>
              <a:t>最終整理</a:t>
            </a:r>
            <a:endParaRPr lang="en-US" sz="1350" dirty="0"/>
          </a:p>
          <a:p>
            <a:pPr indent="0" marL="0">
              <a:buNone/>
            </a:pPr>
            <a:r>
              <a:rPr lang="en-US" sz="1150" dirty="0">
                <a:solidFill>
                  <a:srgbClr val="5F6C72"/>
                </a:solidFill>
                <a:latin typeface="Yu Gothic" pitchFamily="34" charset="0"/>
                <a:ea typeface="Yu Gothic" pitchFamily="34" charset="-122"/>
                <a:cs typeface="Yu Gothic" pitchFamily="34" charset="-120"/>
              </a:rPr>
              <a:t>元データ &gt; Python &gt; AI共通発見 &gt; 個別AI解釈</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217920" y="1325880"/>
          <a:ext cx="5486400" cy="914400"/>
        </p:xfrm>
        <a:graphic>
          <a:graphicData uri="http://schemas.openxmlformats.org/drawingml/2006/table">
            <a:tbl>
              <a:tblPr/>
              <a:tblGrid>
                <a:gridCol w="1371600"/>
                <a:gridCol w="4114800"/>
              </a:tblGrid>
              <a:tr h="384048">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AIモデル</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今回の役割</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r>
              <a:tr h="384048">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GPT Astra</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独立分析・重点候補・仮説の抽出</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Claude</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構造分析・反対仮説・リスク視点</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384048">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Gemini</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重点候補・PB構造の分析</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Grok</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カテゴリー内部差・候補領域の分析</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384048">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Perplexity</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添付データを優先する条件で独立分析</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384048">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PLaMo</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50" dirty="0">
                          <a:solidFill>
                            <a:srgbClr val="1F2933"/>
                          </a:solidFill>
                          <a:latin typeface="Yu Gothic" pitchFamily="34" charset="0"/>
                          <a:ea typeface="Yu Gothic" pitchFamily="34" charset="-122"/>
                          <a:cs typeface="Yu Gothic" pitchFamily="34" charset="-120"/>
                        </a:rPr>
                        <a:t>日本語での独立分析(数値は統合時に再検証)</a:t>
                      </a:r>
                      <a:endParaRPr lang="en-US" sz="11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bl>
          </a:graphicData>
        </a:graphic>
      </p:graphicFrame>
      <p:sp>
        <p:nvSpPr>
          <p:cNvPr id="23" name="Shape 20"/>
          <p:cNvSpPr/>
          <p:nvPr/>
        </p:nvSpPr>
        <p:spPr>
          <a:xfrm>
            <a:off x="6217920" y="4206240"/>
            <a:ext cx="5486400" cy="1737360"/>
          </a:xfrm>
          <a:prstGeom prst="roundRect">
            <a:avLst>
              <a:gd name="adj" fmla="val 4211"/>
            </a:avLst>
          </a:prstGeom>
          <a:solidFill>
            <a:srgbClr val="E6EEEE"/>
          </a:solidFill>
          <a:ln w="12700">
            <a:solidFill>
              <a:srgbClr val="E6EEEE"/>
            </a:solidFill>
            <a:prstDash val="solid"/>
          </a:ln>
        </p:spPr>
      </p:sp>
      <p:sp>
        <p:nvSpPr>
          <p:cNvPr id="24" name="Text 21"/>
          <p:cNvSpPr txBox="1"/>
          <p:nvPr/>
        </p:nvSpPr>
        <p:spPr>
          <a:xfrm>
            <a:off x="6355080" y="4297680"/>
            <a:ext cx="5212080" cy="1554480"/>
          </a:xfrm>
          <a:prstGeom prst="rect">
            <a:avLst/>
          </a:prstGeom>
          <a:noFill/>
          <a:ln/>
        </p:spPr>
        <p:txBody>
          <a:bodyPr wrap="square" lIns="25400" tIns="25400" rIns="25400" bIns="25400" rtlCol="0" anchor="t"/>
          <a:lstStyle/>
          <a:p>
            <a:pPr indent="0" marL="0">
              <a:spcAft>
                <a:spcPts val="600"/>
              </a:spcAft>
              <a:buNone/>
            </a:pPr>
            <a:r>
              <a:rPr lang="en-US" sz="1300" b="1" dirty="0">
                <a:solidFill>
                  <a:srgbClr val="0E3B43"/>
                </a:solidFill>
                <a:latin typeface="Yu Gothic" pitchFamily="34" charset="0"/>
                <a:ea typeface="Yu Gothic" pitchFamily="34" charset="-122"/>
                <a:cs typeface="Yu Gothic" pitchFamily="34" charset="-120"/>
              </a:rPr>
              <a:t>評価のルール</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6モデルは互いの回答を見ずに独立して分析</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複数AIが挙げた領域は「共通して発見された論点」として扱う</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一致数は正解率・成功確率ではない。多数決で開発を決めない</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AIの数値は元データと照合し、誤読・単位誤認は除外</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PB売上の増減: 猫ウェットが牽引、猫スナック/レトルトが最大の減少</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PB売上の増減 25/6期→26/6期(百万円、増減の大きいサブカテ)</a:t>
            </a:r>
            <a:endParaRPr lang="en-US" sz="1200" dirty="0"/>
          </a:p>
        </p:txBody>
      </p:sp>
      <p:graphicFrame>
        <p:nvGraphicFramePr>
          <p:cNvPr id="4" name="Chart 0" descr=""/>
          <p:cNvGraphicFramePr/>
          <p:nvPr/>
        </p:nvGraphicFramePr>
        <p:xfrm>
          <a:off x="365760" y="1234440"/>
          <a:ext cx="7589520" cy="5074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29600" y="1325880"/>
            <a:ext cx="3474720" cy="2286000"/>
          </a:xfrm>
          <a:prstGeom prst="roundRect">
            <a:avLst>
              <a:gd name="adj" fmla="val 3200"/>
            </a:avLst>
          </a:prstGeom>
          <a:solidFill>
            <a:srgbClr val="E6EEEE"/>
          </a:solidFill>
          <a:ln w="12700">
            <a:solidFill>
              <a:srgbClr val="E6EEEE"/>
            </a:solidFill>
            <a:prstDash val="solid"/>
          </a:ln>
        </p:spPr>
      </p:sp>
      <p:sp>
        <p:nvSpPr>
          <p:cNvPr id="6" name="Text 3"/>
          <p:cNvSpPr txBox="1"/>
          <p:nvPr/>
        </p:nvSpPr>
        <p:spPr>
          <a:xfrm>
            <a:off x="8366760" y="1417320"/>
            <a:ext cx="3200400" cy="2103120"/>
          </a:xfrm>
          <a:prstGeom prst="rect">
            <a:avLst/>
          </a:prstGeom>
          <a:noFill/>
          <a:ln/>
        </p:spPr>
        <p:txBody>
          <a:bodyPr wrap="square" lIns="25400" tIns="25400" rIns="25400" bIns="25400" rtlCol="0" anchor="t"/>
          <a:lstStyle/>
          <a:p>
            <a:pPr indent="0" marL="0">
              <a:spcAft>
                <a:spcPts val="600"/>
              </a:spcAft>
              <a:buNone/>
            </a:pPr>
            <a:r>
              <a:rPr lang="en-US" sz="1300" b="1" dirty="0">
                <a:solidFill>
                  <a:srgbClr val="0E3B43"/>
                </a:solidFill>
                <a:latin typeface="Yu Gothic" pitchFamily="34" charset="0"/>
                <a:ea typeface="Yu Gothic" pitchFamily="34" charset="-122"/>
                <a:cs typeface="Yu Gothic" pitchFamily="34" charset="-120"/>
              </a:rPr>
              <a:t>PB売上 +4.28億円の内訳</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市場成長(前期シェアのまま): +1.78億円</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シェア上昇したサブカテ: +5.62億円</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シェア低下したサブカテ: −3.12億円</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 成長の約42%は市場成長、残りはシェア上昇</a:t>
            </a:r>
            <a:endParaRPr lang="en-US" sz="1300" dirty="0"/>
          </a:p>
        </p:txBody>
      </p:sp>
      <p:sp>
        <p:nvSpPr>
          <p:cNvPr id="7" name="Shape 4"/>
          <p:cNvSpPr/>
          <p:nvPr/>
        </p:nvSpPr>
        <p:spPr>
          <a:xfrm>
            <a:off x="8229600" y="3749040"/>
            <a:ext cx="3474720" cy="2423160"/>
          </a:xfrm>
          <a:prstGeom prst="roundRect">
            <a:avLst>
              <a:gd name="adj" fmla="val 3019"/>
            </a:avLst>
          </a:prstGeom>
          <a:solidFill>
            <a:srgbClr val="E6EEEE"/>
          </a:solidFill>
          <a:ln w="12700">
            <a:solidFill>
              <a:srgbClr val="E6EEEE"/>
            </a:solidFill>
            <a:prstDash val="solid"/>
          </a:ln>
        </p:spPr>
      </p:sp>
      <p:sp>
        <p:nvSpPr>
          <p:cNvPr id="8" name="Text 5"/>
          <p:cNvSpPr txBox="1"/>
          <p:nvPr/>
        </p:nvSpPr>
        <p:spPr>
          <a:xfrm>
            <a:off x="8366760" y="3840480"/>
            <a:ext cx="3200400" cy="2240280"/>
          </a:xfrm>
          <a:prstGeom prst="rect">
            <a:avLst/>
          </a:prstGeom>
          <a:noFill/>
          <a:ln/>
        </p:spPr>
        <p:txBody>
          <a:bodyPr wrap="square" lIns="25400" tIns="25400" rIns="25400" bIns="25400" rtlCol="0" anchor="t"/>
          <a:lstStyle/>
          <a:p>
            <a:pPr indent="0" marL="0">
              <a:spcAft>
                <a:spcPts val="600"/>
              </a:spcAft>
              <a:buNone/>
            </a:pPr>
            <a:r>
              <a:rPr lang="en-US" sz="1300" b="1" dirty="0">
                <a:solidFill>
                  <a:srgbClr val="0E3B43"/>
                </a:solidFill>
                <a:latin typeface="Yu Gothic" pitchFamily="34" charset="0"/>
                <a:ea typeface="Yu Gothic" pitchFamily="34" charset="-122"/>
                <a:cs typeface="Yu Gothic" pitchFamily="34" charset="-120"/>
              </a:rPr>
              <a:t>主な動き</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猫ウェット/缶: +2.08億円、PBシェア 47.4%→63.4%</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猫スナック/レトルト: −1.95億円、PBシェア 13.8%→2.4%(27/6期 0.02%)</a:t>
            </a:r>
            <a:endParaRPr lang="en-US" sz="1300" dirty="0"/>
          </a:p>
          <a:p>
            <a:pPr marL="152400" indent="-152400">
              <a:spcAft>
                <a:spcPts val="400"/>
              </a:spcAft>
              <a:buSzPct val="100000"/>
              <a:buChar char="•"/>
            </a:pPr>
            <a:r>
              <a:rPr lang="en-US" sz="1150" dirty="0">
                <a:solidFill>
                  <a:srgbClr val="1F2933"/>
                </a:solidFill>
                <a:latin typeface="Yu Gothic" pitchFamily="34" charset="0"/>
                <a:ea typeface="Yu Gothic" pitchFamily="34" charset="-122"/>
                <a:cs typeface="Yu Gothic" pitchFamily="34" charset="-120"/>
              </a:rPr>
              <a:t>PB比率 +0.76pt = サブカテ内のシェア変化 +0.98pt + 売上構成の変化 −0.22pt</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部門別: PB比率19.1%は、性格の大きく異なる部門の平均</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26/6期 部門別の売上とPB比率</a:t>
            </a:r>
            <a:endParaRPr lang="en-US" sz="1200" dirty="0"/>
          </a:p>
        </p:txBody>
      </p:sp>
      <p:graphicFrame>
        <p:nvGraphicFramePr>
          <p:cNvPr id="4" name="Chart 0" descr=""/>
          <p:cNvGraphicFramePr/>
          <p:nvPr/>
        </p:nvGraphicFramePr>
        <p:xfrm>
          <a:off x="365760" y="1234440"/>
          <a:ext cx="402336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63440" y="1325880"/>
          <a:ext cx="7040880" cy="914400"/>
        </p:xfrm>
        <a:graphic>
          <a:graphicData uri="http://schemas.openxmlformats.org/drawingml/2006/table">
            <a:tbl>
              <a:tblPr/>
              <a:tblGrid>
                <a:gridCol w="1463040"/>
                <a:gridCol w="1051560"/>
                <a:gridCol w="960120"/>
                <a:gridCol w="1097280"/>
                <a:gridCol w="1463040"/>
                <a:gridCol w="1005840"/>
              </a:tblGrid>
              <a:tr h="438912">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部門</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売上</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市場前年比</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PB売上</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PB比率 25/6→26/6</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PB SKU数</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r>
              <a:tr h="438912">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猫フード</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139.6億円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+5.8%</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17.84億円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11.7%→12.8%</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38→85</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38912">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犬フード</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61.59億円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+3.2%</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5.56億円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8.5%→9.0%</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51→81</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438912">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トイレタリー用品</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42.90億円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+3.9%</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22.97億円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54.0%→53.5%</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38→54</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38912">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ペット用品</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12.45億円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+8.0%</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4.43億円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32.8%→35.6%</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178→323</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438912">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ペット水物</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11.54億円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+1.9%</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4,622万円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3.0%→4.0%</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F2933"/>
                          </a:solidFill>
                          <a:latin typeface="Yu Gothic" pitchFamily="34" charset="0"/>
                          <a:ea typeface="Yu Gothic" pitchFamily="34" charset="-122"/>
                          <a:cs typeface="Yu Gothic" pitchFamily="34" charset="-120"/>
                        </a:rPr>
                        <a:t>31→24</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38912">
                <a:tc>
                  <a:txBody>
                    <a:bodyPr/>
                    <a:lstStyle/>
                    <a:p>
                      <a:pPr algn="ctr" indent="0" marL="0">
                        <a:buNone/>
                      </a:pPr>
                      <a:r>
                        <a:rPr lang="en-US" sz="1100" b="1" dirty="0">
                          <a:solidFill>
                            <a:srgbClr val="1F2933"/>
                          </a:solidFill>
                          <a:latin typeface="Yu Gothic" pitchFamily="34" charset="0"/>
                          <a:ea typeface="Yu Gothic" pitchFamily="34" charset="-122"/>
                          <a:cs typeface="Yu Gothic" pitchFamily="34" charset="-120"/>
                        </a:rPr>
                        <a:t>ペット計</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EEEE"/>
                    </a:solidFill>
                  </a:tcPr>
                </a:tc>
                <a:tc>
                  <a:txBody>
                    <a:bodyPr/>
                    <a:lstStyle/>
                    <a:p>
                      <a:pPr algn="ctr" indent="0" marL="0">
                        <a:buNone/>
                      </a:pPr>
                      <a:r>
                        <a:rPr lang="en-US" sz="1100" b="1" dirty="0">
                          <a:solidFill>
                            <a:srgbClr val="1F2933"/>
                          </a:solidFill>
                          <a:latin typeface="Yu Gothic" pitchFamily="34" charset="0"/>
                          <a:ea typeface="Yu Gothic" pitchFamily="34" charset="-122"/>
                          <a:cs typeface="Yu Gothic" pitchFamily="34" charset="-120"/>
                        </a:rPr>
                        <a:t>268.0億円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EEEE"/>
                    </a:solidFill>
                  </a:tcPr>
                </a:tc>
                <a:tc>
                  <a:txBody>
                    <a:bodyPr/>
                    <a:lstStyle/>
                    <a:p>
                      <a:pPr algn="ctr" indent="0" marL="0">
                        <a:buNone/>
                      </a:pPr>
                      <a:r>
                        <a:rPr lang="en-US" sz="1100" b="1" dirty="0">
                          <a:solidFill>
                            <a:srgbClr val="1F2933"/>
                          </a:solidFill>
                          <a:latin typeface="Yu Gothic" pitchFamily="34" charset="0"/>
                          <a:ea typeface="Yu Gothic" pitchFamily="34" charset="-122"/>
                          <a:cs typeface="Yu Gothic" pitchFamily="34" charset="-120"/>
                        </a:rPr>
                        <a:t>+4.8%</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EEEE"/>
                    </a:solidFill>
                  </a:tcPr>
                </a:tc>
                <a:tc>
                  <a:txBody>
                    <a:bodyPr/>
                    <a:lstStyle/>
                    <a:p>
                      <a:pPr algn="ctr" indent="0" marL="0">
                        <a:buNone/>
                      </a:pPr>
                      <a:r>
                        <a:rPr lang="en-US" sz="1100" b="1" dirty="0">
                          <a:solidFill>
                            <a:srgbClr val="1F2933"/>
                          </a:solidFill>
                          <a:latin typeface="Yu Gothic" pitchFamily="34" charset="0"/>
                          <a:ea typeface="Yu Gothic" pitchFamily="34" charset="-122"/>
                          <a:cs typeface="Yu Gothic" pitchFamily="34" charset="-120"/>
                        </a:rPr>
                        <a:t>51.25億円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EEEE"/>
                    </a:solidFill>
                  </a:tcPr>
                </a:tc>
                <a:tc>
                  <a:txBody>
                    <a:bodyPr/>
                    <a:lstStyle/>
                    <a:p>
                      <a:pPr algn="ctr" indent="0" marL="0">
                        <a:buNone/>
                      </a:pPr>
                      <a:r>
                        <a:rPr lang="en-US" sz="1100" b="1" dirty="0">
                          <a:solidFill>
                            <a:srgbClr val="1F2933"/>
                          </a:solidFill>
                          <a:latin typeface="Yu Gothic" pitchFamily="34" charset="0"/>
                          <a:ea typeface="Yu Gothic" pitchFamily="34" charset="-122"/>
                          <a:cs typeface="Yu Gothic" pitchFamily="34" charset="-120"/>
                        </a:rPr>
                        <a:t>18.4%→19.1%</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EEEE"/>
                    </a:solidFill>
                  </a:tcPr>
                </a:tc>
                <a:tc>
                  <a:txBody>
                    <a:bodyPr/>
                    <a:lstStyle/>
                    <a:p>
                      <a:pPr algn="ctr" indent="0" marL="0">
                        <a:buNone/>
                      </a:pPr>
                      <a:r>
                        <a:rPr lang="en-US" sz="1100" b="1" dirty="0">
                          <a:solidFill>
                            <a:srgbClr val="1F2933"/>
                          </a:solidFill>
                          <a:latin typeface="Yu Gothic" pitchFamily="34" charset="0"/>
                          <a:ea typeface="Yu Gothic" pitchFamily="34" charset="-122"/>
                          <a:cs typeface="Yu Gothic" pitchFamily="34" charset="-120"/>
                        </a:rPr>
                        <a:t>336→567</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EEEE"/>
                    </a:solidFill>
                  </a:tcPr>
                </a:tc>
              </a:tr>
            </a:tbl>
          </a:graphicData>
        </a:graphic>
      </p:graphicFrame>
      <p:sp>
        <p:nvSpPr>
          <p:cNvPr id="6" name="Shape 2"/>
          <p:cNvSpPr/>
          <p:nvPr/>
        </p:nvSpPr>
        <p:spPr>
          <a:xfrm>
            <a:off x="4663440" y="4663440"/>
            <a:ext cx="7040880" cy="868680"/>
          </a:xfrm>
          <a:prstGeom prst="roundRect">
            <a:avLst>
              <a:gd name="adj" fmla="val 8421"/>
            </a:avLst>
          </a:prstGeom>
          <a:solidFill>
            <a:srgbClr val="E6EEEE"/>
          </a:solidFill>
          <a:ln w="12700">
            <a:solidFill>
              <a:srgbClr val="E6EEEE"/>
            </a:solidFill>
            <a:prstDash val="solid"/>
          </a:ln>
        </p:spPr>
      </p:sp>
      <p:sp>
        <p:nvSpPr>
          <p:cNvPr id="7" name="Text 3"/>
          <p:cNvSpPr txBox="1"/>
          <p:nvPr/>
        </p:nvSpPr>
        <p:spPr>
          <a:xfrm>
            <a:off x="4800600" y="4754880"/>
            <a:ext cx="6766560" cy="685800"/>
          </a:xfrm>
          <a:prstGeom prst="rect">
            <a:avLst/>
          </a:prstGeom>
          <a:noFill/>
          <a:ln/>
        </p:spPr>
        <p:txBody>
          <a:bodyPr wrap="square" lIns="25400" tIns="25400" rIns="25400" bIns="25400" rtlCol="0" anchor="t"/>
          <a:lstStyle/>
          <a:p>
            <a:pPr marL="152400" indent="-152400">
              <a:spcAft>
                <a:spcPts val="400"/>
              </a:spcAft>
              <a:buSzPct val="100000"/>
              <a:buChar char="•"/>
            </a:pPr>
            <a:r>
              <a:rPr lang="en-US" sz="1200" dirty="0">
                <a:solidFill>
                  <a:srgbClr val="1F2933"/>
                </a:solidFill>
                <a:latin typeface="Yu Gothic" pitchFamily="34" charset="0"/>
                <a:ea typeface="Yu Gothic" pitchFamily="34" charset="-122"/>
                <a:cs typeface="Yu Gothic" pitchFamily="34" charset="-120"/>
              </a:rPr>
              <a:t>猫フードは最大部門(139.6億円)でPB比率12.8%。PB売上増 2.40億円は全部門で最大。</a:t>
            </a:r>
            <a:endParaRPr lang="en-US" sz="1200" dirty="0"/>
          </a:p>
          <a:p>
            <a:pPr marL="152400" indent="-152400">
              <a:spcAft>
                <a:spcPts val="400"/>
              </a:spcAft>
              <a:buSzPct val="100000"/>
              <a:buChar char="•"/>
            </a:pPr>
            <a:r>
              <a:rPr lang="en-US" sz="1200" dirty="0">
                <a:solidFill>
                  <a:srgbClr val="1F2933"/>
                </a:solidFill>
                <a:latin typeface="Yu Gothic" pitchFamily="34" charset="0"/>
                <a:ea typeface="Yu Gothic" pitchFamily="34" charset="-122"/>
                <a:cs typeface="Yu Gothic" pitchFamily="34" charset="-120"/>
              </a:rPr>
              <a:t>トイレタリー用品はPB比率53.5%と既に高浸透 → 成功条件を学ぶ対象。</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PB SKU数 +69% に対し PB売上 +9%: SKU増が売上増を上回る</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カテゴリー別の伸び 25/6期→26/6期(前期PB売上5,000万円以上)</a:t>
            </a:r>
            <a:endParaRPr lang="en-US" sz="1200" dirty="0"/>
          </a:p>
        </p:txBody>
      </p:sp>
      <p:graphicFrame>
        <p:nvGraphicFramePr>
          <p:cNvPr id="4" name="Chart 0" descr=""/>
          <p:cNvGraphicFramePr/>
          <p:nvPr/>
        </p:nvGraphicFramePr>
        <p:xfrm>
          <a:off x="365760" y="1234440"/>
          <a:ext cx="7680960" cy="502920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8321040" y="1325880"/>
          <a:ext cx="3383280" cy="914400"/>
        </p:xfrm>
        <a:graphic>
          <a:graphicData uri="http://schemas.openxmlformats.org/drawingml/2006/table">
            <a:tbl>
              <a:tblPr/>
              <a:tblGrid>
                <a:gridCol w="1234440"/>
                <a:gridCol w="822960"/>
                <a:gridCol w="1325880"/>
              </a:tblGrid>
              <a:tr h="347472">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カテゴリー</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SKU当たり</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判定</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r>
              <a:tr h="347472">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猫スナック</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00" b="1" dirty="0">
                          <a:solidFill>
                            <a:srgbClr val="C62828"/>
                          </a:solidFill>
                          <a:latin typeface="Yu Gothic" pitchFamily="34" charset="0"/>
                          <a:ea typeface="Yu Gothic" pitchFamily="34" charset="-122"/>
                          <a:cs typeface="Yu Gothic" pitchFamily="34" charset="-120"/>
                        </a:rPr>
                        <a:t>−73%</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tcPr>
                </a:tc>
                <a:tc>
                  <a:txBody>
                    <a:bodyPr/>
                    <a:lstStyle/>
                    <a:p>
                      <a:pPr indent="0" marL="0">
                        <a:buNone/>
                      </a:pPr>
                      <a:r>
                        <a:rPr lang="en-US" sz="1000" b="1" dirty="0">
                          <a:solidFill>
                            <a:srgbClr val="C62828"/>
                          </a:solidFill>
                          <a:latin typeface="Yu Gothic" pitchFamily="34" charset="0"/>
                          <a:ea typeface="Yu Gothic" pitchFamily="34" charset="-122"/>
                          <a:cs typeface="Yu Gothic" pitchFamily="34" charset="-120"/>
                        </a:rPr>
                        <a:t>SKU増・売上減</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tcPr>
                </a:tc>
              </a:tr>
              <a:tr h="347472">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猫ウェット</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−33%</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SKU増 &gt; 売上増</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347472">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猫ドライ</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−50%</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SKU増 &gt; 売上増</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犬トイレタリー</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−47%</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SKU増 &gt; 売上増</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347472">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季節商品</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−38%</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SKU増 &gt; 売上増</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犬スナック</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−37%</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SKU増 &gt; 売上増</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347472">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犬ウェット</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−17%</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SKU増 &gt; 売上増</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犬猫生活用品</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−12%</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SKU増 &gt; 売上増</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347472">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犬ドライ</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+6%</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SKU横ばい・売上増</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347472">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猫トイレタリー</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+8%</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00" dirty="0">
                          <a:solidFill>
                            <a:srgbClr val="1F2933"/>
                          </a:solidFill>
                          <a:latin typeface="Yu Gothic" pitchFamily="34" charset="0"/>
                          <a:ea typeface="Yu Gothic" pitchFamily="34" charset="-122"/>
                          <a:cs typeface="Yu Gothic" pitchFamily="34" charset="-120"/>
                        </a:rPr>
                        <a:t>SKU横ばい・売上増</a:t>
                      </a:r>
                      <a:endParaRPr lang="en-US" sz="10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bl>
          </a:graphicData>
        </a:graphic>
      </p:graphicFrame>
      <p:sp>
        <p:nvSpPr>
          <p:cNvPr id="6" name="Text 2"/>
          <p:cNvSpPr txBox="1"/>
          <p:nvPr/>
        </p:nvSpPr>
        <p:spPr>
          <a:xfrm>
            <a:off x="8321040" y="5349240"/>
            <a:ext cx="3383280" cy="822960"/>
          </a:xfrm>
          <a:prstGeom prst="rect">
            <a:avLst/>
          </a:prstGeom>
          <a:noFill/>
          <a:ln/>
        </p:spPr>
        <p:txBody>
          <a:bodyPr wrap="square" lIns="0" tIns="0" rIns="0" bIns="0" rtlCol="0" anchor="t"/>
          <a:lstStyle/>
          <a:p>
            <a:pPr indent="0" marL="0">
              <a:buNone/>
            </a:pPr>
            <a:r>
              <a:rPr lang="en-US" sz="1150" b="1" dirty="0">
                <a:solidFill>
                  <a:srgbClr val="0E3B43"/>
                </a:solidFill>
                <a:latin typeface="Yu Gothic" pitchFamily="34" charset="0"/>
                <a:ea typeface="Yu Gothic" pitchFamily="34" charset="-122"/>
                <a:cs typeface="Yu Gothic" pitchFamily="34" charset="-120"/>
              </a:rPr>
              <a:t>SKUを増やすだけでは売上は伸びない。追加SKU 1つ当たりのPB売上増は平均185万円。</a:t>
            </a:r>
            <a:endParaRPr lang="en-US" sz="11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推計NB売上の大きい市場にPBの伸びしろがある</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26/6期 推計NB売上(百万円、括弧内はPB比率)</a:t>
            </a:r>
            <a:endParaRPr lang="en-US" sz="1200" dirty="0"/>
          </a:p>
        </p:txBody>
      </p:sp>
      <p:graphicFrame>
        <p:nvGraphicFramePr>
          <p:cNvPr id="4" name="Chart 0" descr=""/>
          <p:cNvGraphicFramePr/>
          <p:nvPr/>
        </p:nvGraphicFramePr>
        <p:xfrm>
          <a:off x="365760" y="1234440"/>
          <a:ext cx="7772400" cy="50292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412480" y="1325880"/>
            <a:ext cx="3291840" cy="4846320"/>
          </a:xfrm>
          <a:prstGeom prst="roundRect">
            <a:avLst>
              <a:gd name="adj" fmla="val 2222"/>
            </a:avLst>
          </a:prstGeom>
          <a:solidFill>
            <a:srgbClr val="E6EEEE"/>
          </a:solidFill>
          <a:ln w="12700">
            <a:solidFill>
              <a:srgbClr val="E6EEEE"/>
            </a:solidFill>
            <a:prstDash val="solid"/>
          </a:ln>
        </p:spPr>
      </p:sp>
      <p:sp>
        <p:nvSpPr>
          <p:cNvPr id="6" name="Text 3"/>
          <p:cNvSpPr txBox="1"/>
          <p:nvPr/>
        </p:nvSpPr>
        <p:spPr>
          <a:xfrm>
            <a:off x="8549640" y="1417320"/>
            <a:ext cx="3017520" cy="4663440"/>
          </a:xfrm>
          <a:prstGeom prst="rect">
            <a:avLst/>
          </a:prstGeom>
          <a:noFill/>
          <a:ln/>
        </p:spPr>
        <p:txBody>
          <a:bodyPr wrap="square" lIns="25400" tIns="25400" rIns="25400" bIns="25400" rtlCol="0" anchor="t"/>
          <a:lstStyle/>
          <a:p>
            <a:pPr indent="0" marL="0">
              <a:spcAft>
                <a:spcPts val="600"/>
              </a:spcAft>
              <a:buNone/>
            </a:pPr>
            <a:r>
              <a:rPr lang="en-US" sz="1300" b="1" dirty="0">
                <a:solidFill>
                  <a:srgbClr val="0E3B43"/>
                </a:solidFill>
                <a:latin typeface="Yu Gothic" pitchFamily="34" charset="0"/>
                <a:ea typeface="Yu Gothic" pitchFamily="34" charset="-122"/>
                <a:cs typeface="Yu Gothic" pitchFamily="34" charset="-120"/>
              </a:rPr>
              <a:t>示唆</a:t>
            </a:r>
            <a:endParaRPr lang="en-US" sz="1300" dirty="0"/>
          </a:p>
          <a:p>
            <a:pPr marL="152400" indent="-152400">
              <a:spcAft>
                <a:spcPts val="400"/>
              </a:spcAft>
              <a:buSzPct val="100000"/>
              <a:buChar char="•"/>
            </a:pPr>
            <a:r>
              <a:rPr lang="en-US" sz="1200" dirty="0">
                <a:solidFill>
                  <a:srgbClr val="1F2933"/>
                </a:solidFill>
                <a:latin typeface="Yu Gothic" pitchFamily="34" charset="0"/>
                <a:ea typeface="Yu Gothic" pitchFamily="34" charset="-122"/>
                <a:cs typeface="Yu Gothic" pitchFamily="34" charset="-120"/>
              </a:rPr>
              <a:t>上位10市場のうち8市場はPB比率5%以下。</a:t>
            </a:r>
            <a:endParaRPr lang="en-US" sz="1300" dirty="0"/>
          </a:p>
          <a:p>
            <a:pPr marL="152400" indent="-152400">
              <a:spcAft>
                <a:spcPts val="400"/>
              </a:spcAft>
              <a:buSzPct val="100000"/>
              <a:buChar char="•"/>
            </a:pPr>
            <a:r>
              <a:rPr lang="en-US" sz="1200" dirty="0">
                <a:solidFill>
                  <a:srgbClr val="1F2933"/>
                </a:solidFill>
                <a:latin typeface="Yu Gothic" pitchFamily="34" charset="0"/>
                <a:ea typeface="Yu Gothic" pitchFamily="34" charset="-122"/>
                <a:cs typeface="Yu Gothic" pitchFamily="34" charset="-120"/>
              </a:rPr>
              <a:t>うち4市場(猫ドライ機能食・猫ウェットミニパウチ・犬ドライ機能食・猫ドライスナック)はPBが空白。</a:t>
            </a:r>
            <a:endParaRPr lang="en-US" sz="1300" dirty="0"/>
          </a:p>
          <a:p>
            <a:pPr marL="152400" indent="-152400">
              <a:spcAft>
                <a:spcPts val="400"/>
              </a:spcAft>
              <a:buSzPct val="100000"/>
              <a:buChar char="•"/>
            </a:pPr>
            <a:r>
              <a:rPr lang="en-US" sz="1200" dirty="0">
                <a:solidFill>
                  <a:srgbClr val="1F2933"/>
                </a:solidFill>
                <a:latin typeface="Yu Gothic" pitchFamily="34" charset="0"/>
                <a:ea typeface="Yu Gothic" pitchFamily="34" charset="-122"/>
                <a:cs typeface="Yu Gothic" pitchFamily="34" charset="-120"/>
              </a:rPr>
              <a:t>ただし規模だけでは推奨にならない。PBが無い理由(未提案/品質・機能・価格の制約/意図的除外)の確認が先。</a:t>
            </a:r>
            <a:endParaRPr lang="en-US" sz="1300" dirty="0"/>
          </a:p>
          <a:p>
            <a:pPr marL="152400" indent="-152400">
              <a:spcAft>
                <a:spcPts val="400"/>
              </a:spcAft>
              <a:buSzPct val="100000"/>
              <a:buChar char="•"/>
            </a:pPr>
            <a:r>
              <a:rPr lang="en-US" sz="1200" dirty="0">
                <a:solidFill>
                  <a:srgbClr val="1F2933"/>
                </a:solidFill>
                <a:latin typeface="Yu Gothic" pitchFamily="34" charset="0"/>
                <a:ea typeface="Yu Gothic" pitchFamily="34" charset="-122"/>
                <a:cs typeface="Yu Gothic" pitchFamily="34" charset="-120"/>
              </a:rPr>
              <a:t>粗利・実現性はこのデータに含まれていない。</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今後、特に深掘りしたいカテゴリー</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26/6期売上・PB比率は元Excelで再検証済み(PB比率は 25/6期→26/6期→27/6期*)</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11247120" cy="914400"/>
        </p:xfrm>
        <a:graphic>
          <a:graphicData uri="http://schemas.openxmlformats.org/drawingml/2006/table">
            <a:tbl>
              <a:tblPr/>
              <a:tblGrid>
                <a:gridCol w="868680"/>
                <a:gridCol w="2514600"/>
                <a:gridCol w="1554480"/>
                <a:gridCol w="1645920"/>
                <a:gridCol w="2148840"/>
                <a:gridCol w="2514600"/>
              </a:tblGrid>
              <a:tr h="429768">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位置付け</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カテゴリー / サブカテ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26/6期売上</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PB比率の推移</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現状</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今後の考え方</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r>
              <a:tr h="429768">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最重点</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C6282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猫ドライ / グルメ</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21.21億円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1.0%→1.3%→0%</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大市場・PB低浸透(27/6期 PB SKU 0)</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PBが弱い背景を確認し、開発条件を整理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29768">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最重点</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C6282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猫ドライ / 機能食</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13.15億円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0%→0%→0%</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PB空白</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未提案か、品質・機能・価格等の制約かを確認</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429768">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最重点</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C6282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猫スナック / レトルト</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20.14億円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13.8%→2.4%→0.02%</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PB大幅後退</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過去PBが後退した原因を最優先で確認</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29768">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重点</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7E22"/>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猫ウェット / ミニパウチ</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8.89億円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0%→0%→0%</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PB空白</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缶・通常パウチとの差とPB不在理由を確認</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429768">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重点</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7E22"/>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猫ウェット / レギュラーパウチ</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22.62億円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2.1%→7.7%→10.3%</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PB浸透中</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PBが伸びている条件と拡張方針を確認</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29768">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重点</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7E22"/>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犬ドライ / 機能食</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8.24億円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0%→0%→0%</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PB空白</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猫機能食と合わせ機能性フードとして調査</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429768">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重点</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7E22"/>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猫スナック / ドライスナック</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6.60億円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0%→0%→0%</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PB空白</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PB不在理由と商品条件を確認</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29768">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重点</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7E22"/>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犬スナック / 練り込み・成形</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9.72億円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3.7%→3.5%→4.1%</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市場大・PB低浸透</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当社OEM・開発力との適合性を確認</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429768">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重点</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E67E22"/>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犬スナック / オーラルケアガム</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8.45億円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5.6%→2.6%→2.6%</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PB低浸透・低下</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品質・機能性・エビデンス条件を確認</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29768">
                <a:tc>
                  <a:txBody>
                    <a:bodyPr/>
                    <a:lstStyle/>
                    <a:p>
                      <a:pPr algn="ctr" indent="0" marL="0">
                        <a:buNone/>
                      </a:pPr>
                      <a:r>
                        <a:rPr lang="en-US" sz="1050" b="1" dirty="0">
                          <a:solidFill>
                            <a:srgbClr val="FFFFFF"/>
                          </a:solidFill>
                          <a:latin typeface="Yu Gothic" pitchFamily="34" charset="0"/>
                          <a:ea typeface="Yu Gothic" pitchFamily="34" charset="-122"/>
                          <a:cs typeface="Yu Gothic" pitchFamily="34" charset="-120"/>
                        </a:rPr>
                        <a:t>研究対象</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1C7C7D"/>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猫砂 / 犬シート / 猫ウェット缶</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16.1 / 15.3 / 14.3億円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67% / 79% / 63%</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PB高浸透</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050" dirty="0">
                          <a:solidFill>
                            <a:srgbClr val="1F2933"/>
                          </a:solidFill>
                          <a:latin typeface="Yu Gothic" pitchFamily="34" charset="0"/>
                          <a:ea typeface="Yu Gothic" pitchFamily="34" charset="-122"/>
                          <a:cs typeface="Yu Gothic" pitchFamily="34" charset="-120"/>
                        </a:rPr>
                        <a:t>成功要因を研究し、他カテゴリーへ応用</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bl>
          </a:graphicData>
        </a:graphic>
      </p:graphicFrame>
      <p:sp>
        <p:nvSpPr>
          <p:cNvPr id="5" name="Text 2"/>
          <p:cNvSpPr txBox="1"/>
          <p:nvPr/>
        </p:nvSpPr>
        <p:spPr>
          <a:xfrm>
            <a:off x="457200" y="6080760"/>
            <a:ext cx="11247120" cy="274320"/>
          </a:xfrm>
          <a:prstGeom prst="rect">
            <a:avLst/>
          </a:prstGeom>
          <a:noFill/>
          <a:ln/>
        </p:spPr>
        <p:txBody>
          <a:bodyPr wrap="square" lIns="0" tIns="0" rIns="0" bIns="0" rtlCol="0" anchor="ctr"/>
          <a:lstStyle/>
          <a:p>
            <a:pPr indent="0" marL="0">
              <a:buNone/>
            </a:pPr>
            <a:r>
              <a:rPr lang="en-US" sz="1000" dirty="0">
                <a:solidFill>
                  <a:srgbClr val="5F6C72"/>
                </a:solidFill>
                <a:latin typeface="Yu Gothic" pitchFamily="34" charset="0"/>
                <a:ea typeface="Yu Gothic" pitchFamily="34" charset="-122"/>
                <a:cs typeface="Yu Gothic" pitchFamily="34" charset="-120"/>
              </a:rPr>
              <a:t>* 27/6期は2ヶ月分のため参考値。売上金額の増減比較には使っていません。</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猫フード領域で見るべき内部構造</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同じカテゴリーでも、商品形態によってPBの状態が大きく異なる(26/6期 売上 / PB比率)</a:t>
            </a:r>
            <a:endParaRPr lang="en-US" sz="1200" dirty="0"/>
          </a:p>
        </p:txBody>
      </p:sp>
      <p:sp>
        <p:nvSpPr>
          <p:cNvPr id="4" name="Shape 2"/>
          <p:cNvSpPr/>
          <p:nvPr/>
        </p:nvSpPr>
        <p:spPr>
          <a:xfrm>
            <a:off x="457200" y="1325880"/>
            <a:ext cx="3611880" cy="502920"/>
          </a:xfrm>
          <a:prstGeom prst="rect">
            <a:avLst/>
          </a:prstGeom>
          <a:solidFill>
            <a:srgbClr val="0E3B43"/>
          </a:solidFill>
          <a:ln w="12700">
            <a:solidFill>
              <a:srgbClr val="0E3B43"/>
            </a:solidFill>
            <a:prstDash val="solid"/>
          </a:ln>
        </p:spPr>
      </p:sp>
      <p:sp>
        <p:nvSpPr>
          <p:cNvPr id="5" name="Text 3"/>
          <p:cNvSpPr txBox="1"/>
          <p:nvPr/>
        </p:nvSpPr>
        <p:spPr>
          <a:xfrm>
            <a:off x="457200" y="1325880"/>
            <a:ext cx="36118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猫ドライ</a:t>
            </a:r>
            <a:endParaRPr lang="en-US" sz="1600" dirty="0"/>
          </a:p>
        </p:txBody>
      </p:sp>
      <p:sp>
        <p:nvSpPr>
          <p:cNvPr id="6" name="Shape 4"/>
          <p:cNvSpPr/>
          <p:nvPr/>
        </p:nvSpPr>
        <p:spPr>
          <a:xfrm>
            <a:off x="457200" y="1920240"/>
            <a:ext cx="3611880" cy="777240"/>
          </a:xfrm>
          <a:prstGeom prst="roundRect">
            <a:avLst>
              <a:gd name="adj" fmla="val 9412"/>
            </a:avLst>
          </a:prstGeom>
          <a:solidFill>
            <a:srgbClr val="F5F8F8"/>
          </a:solidFill>
          <a:ln w="12700">
            <a:solidFill>
              <a:srgbClr val="F5F8F8"/>
            </a:solidFill>
            <a:prstDash val="solid"/>
          </a:ln>
        </p:spPr>
      </p:sp>
      <p:sp>
        <p:nvSpPr>
          <p:cNvPr id="7" name="Shape 5"/>
          <p:cNvSpPr/>
          <p:nvPr/>
        </p:nvSpPr>
        <p:spPr>
          <a:xfrm>
            <a:off x="457200" y="1920240"/>
            <a:ext cx="82296" cy="777240"/>
          </a:xfrm>
          <a:prstGeom prst="rect">
            <a:avLst/>
          </a:prstGeom>
          <a:solidFill>
            <a:srgbClr val="2E7D32"/>
          </a:solidFill>
          <a:ln w="12700">
            <a:solidFill>
              <a:srgbClr val="2E7D32"/>
            </a:solidFill>
            <a:prstDash val="solid"/>
          </a:ln>
        </p:spPr>
      </p:sp>
      <p:sp>
        <p:nvSpPr>
          <p:cNvPr id="8" name="Text 6"/>
          <p:cNvSpPr txBox="1"/>
          <p:nvPr/>
        </p:nvSpPr>
        <p:spPr>
          <a:xfrm>
            <a:off x="640080" y="1920240"/>
            <a:ext cx="1828800" cy="7772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スタンダード</a:t>
            </a:r>
            <a:endParaRPr lang="en-US" sz="1300" dirty="0"/>
          </a:p>
          <a:p>
            <a:pPr indent="0" marL="0">
              <a:buNone/>
            </a:pPr>
            <a:r>
              <a:rPr lang="en-US" sz="1100" dirty="0">
                <a:solidFill>
                  <a:srgbClr val="5F6C72"/>
                </a:solidFill>
                <a:latin typeface="Yu Gothic" pitchFamily="34" charset="0"/>
                <a:ea typeface="Yu Gothic" pitchFamily="34" charset="-122"/>
                <a:cs typeface="Yu Gothic" pitchFamily="34" charset="-120"/>
              </a:rPr>
              <a:t>18.23億円</a:t>
            </a:r>
            <a:endParaRPr lang="en-US" sz="1300" dirty="0"/>
          </a:p>
        </p:txBody>
      </p:sp>
      <p:sp>
        <p:nvSpPr>
          <p:cNvPr id="9" name="Text 7"/>
          <p:cNvSpPr txBox="1"/>
          <p:nvPr/>
        </p:nvSpPr>
        <p:spPr>
          <a:xfrm>
            <a:off x="2468880" y="1920240"/>
            <a:ext cx="1463040" cy="777240"/>
          </a:xfrm>
          <a:prstGeom prst="rect">
            <a:avLst/>
          </a:prstGeom>
          <a:noFill/>
          <a:ln/>
        </p:spPr>
        <p:txBody>
          <a:bodyPr wrap="square" lIns="0" tIns="0" rIns="0" bIns="0" rtlCol="0" anchor="ctr"/>
          <a:lstStyle/>
          <a:p>
            <a:pPr algn="r" indent="0" marL="0">
              <a:buNone/>
            </a:pPr>
            <a:r>
              <a:rPr lang="en-US" sz="1800" b="1" dirty="0">
                <a:solidFill>
                  <a:srgbClr val="2E7D32"/>
                </a:solidFill>
                <a:latin typeface="Yu Gothic" pitchFamily="34" charset="0"/>
                <a:ea typeface="Yu Gothic" pitchFamily="34" charset="-122"/>
                <a:cs typeface="Yu Gothic" pitchFamily="34" charset="-120"/>
              </a:rPr>
              <a:t>20.2%</a:t>
            </a:r>
            <a:endParaRPr lang="en-US" sz="1800" dirty="0"/>
          </a:p>
          <a:p>
            <a:pPr algn="r" indent="0" marL="0">
              <a:buNone/>
            </a:pPr>
            <a:r>
              <a:rPr lang="en-US" sz="1050" b="1" dirty="0">
                <a:solidFill>
                  <a:srgbClr val="2E7D32"/>
                </a:solidFill>
                <a:latin typeface="Yu Gothic" pitchFamily="34" charset="0"/>
                <a:ea typeface="Yu Gothic" pitchFamily="34" charset="-122"/>
                <a:cs typeface="Yu Gothic" pitchFamily="34" charset="-120"/>
              </a:rPr>
              <a:t>PBあり</a:t>
            </a:r>
            <a:endParaRPr lang="en-US" sz="1800" dirty="0"/>
          </a:p>
        </p:txBody>
      </p:sp>
      <p:sp>
        <p:nvSpPr>
          <p:cNvPr id="10" name="Shape 8"/>
          <p:cNvSpPr/>
          <p:nvPr/>
        </p:nvSpPr>
        <p:spPr>
          <a:xfrm>
            <a:off x="457200" y="2788920"/>
            <a:ext cx="3611880" cy="777240"/>
          </a:xfrm>
          <a:prstGeom prst="roundRect">
            <a:avLst>
              <a:gd name="adj" fmla="val 9412"/>
            </a:avLst>
          </a:prstGeom>
          <a:solidFill>
            <a:srgbClr val="F5F8F8"/>
          </a:solidFill>
          <a:ln w="12700">
            <a:solidFill>
              <a:srgbClr val="F5F8F8"/>
            </a:solidFill>
            <a:prstDash val="solid"/>
          </a:ln>
        </p:spPr>
      </p:sp>
      <p:sp>
        <p:nvSpPr>
          <p:cNvPr id="11" name="Shape 9"/>
          <p:cNvSpPr/>
          <p:nvPr/>
        </p:nvSpPr>
        <p:spPr>
          <a:xfrm>
            <a:off x="457200" y="2788920"/>
            <a:ext cx="82296" cy="777240"/>
          </a:xfrm>
          <a:prstGeom prst="rect">
            <a:avLst/>
          </a:prstGeom>
          <a:solidFill>
            <a:srgbClr val="E67E22"/>
          </a:solidFill>
          <a:ln w="12700">
            <a:solidFill>
              <a:srgbClr val="E67E22"/>
            </a:solidFill>
            <a:prstDash val="solid"/>
          </a:ln>
        </p:spPr>
      </p:sp>
      <p:sp>
        <p:nvSpPr>
          <p:cNvPr id="12" name="Text 10"/>
          <p:cNvSpPr txBox="1"/>
          <p:nvPr/>
        </p:nvSpPr>
        <p:spPr>
          <a:xfrm>
            <a:off x="640080" y="2788920"/>
            <a:ext cx="1828800" cy="7772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グルメ</a:t>
            </a:r>
            <a:endParaRPr lang="en-US" sz="1300" dirty="0"/>
          </a:p>
          <a:p>
            <a:pPr indent="0" marL="0">
              <a:buNone/>
            </a:pPr>
            <a:r>
              <a:rPr lang="en-US" sz="1100" dirty="0">
                <a:solidFill>
                  <a:srgbClr val="5F6C72"/>
                </a:solidFill>
                <a:latin typeface="Yu Gothic" pitchFamily="34" charset="0"/>
                <a:ea typeface="Yu Gothic" pitchFamily="34" charset="-122"/>
                <a:cs typeface="Yu Gothic" pitchFamily="34" charset="-120"/>
              </a:rPr>
              <a:t>21.21億円</a:t>
            </a:r>
            <a:endParaRPr lang="en-US" sz="1300" dirty="0"/>
          </a:p>
        </p:txBody>
      </p:sp>
      <p:sp>
        <p:nvSpPr>
          <p:cNvPr id="13" name="Text 11"/>
          <p:cNvSpPr txBox="1"/>
          <p:nvPr/>
        </p:nvSpPr>
        <p:spPr>
          <a:xfrm>
            <a:off x="2468880" y="2788920"/>
            <a:ext cx="1463040" cy="777240"/>
          </a:xfrm>
          <a:prstGeom prst="rect">
            <a:avLst/>
          </a:prstGeom>
          <a:noFill/>
          <a:ln/>
        </p:spPr>
        <p:txBody>
          <a:bodyPr wrap="square" lIns="0" tIns="0" rIns="0" bIns="0" rtlCol="0" anchor="ctr"/>
          <a:lstStyle/>
          <a:p>
            <a:pPr algn="r" indent="0" marL="0">
              <a:buNone/>
            </a:pPr>
            <a:r>
              <a:rPr lang="en-US" sz="1800" b="1" dirty="0">
                <a:solidFill>
                  <a:srgbClr val="E67E22"/>
                </a:solidFill>
                <a:latin typeface="Yu Gothic" pitchFamily="34" charset="0"/>
                <a:ea typeface="Yu Gothic" pitchFamily="34" charset="-122"/>
                <a:cs typeface="Yu Gothic" pitchFamily="34" charset="-120"/>
              </a:rPr>
              <a:t>1.3%</a:t>
            </a:r>
            <a:endParaRPr lang="en-US" sz="1800" dirty="0"/>
          </a:p>
          <a:p>
            <a:pPr algn="r" indent="0" marL="0">
              <a:buNone/>
            </a:pPr>
            <a:r>
              <a:rPr lang="en-US" sz="1050" b="1" dirty="0">
                <a:solidFill>
                  <a:srgbClr val="E67E22"/>
                </a:solidFill>
                <a:latin typeface="Yu Gothic" pitchFamily="34" charset="0"/>
                <a:ea typeface="Yu Gothic" pitchFamily="34" charset="-122"/>
                <a:cs typeface="Yu Gothic" pitchFamily="34" charset="-120"/>
              </a:rPr>
              <a:t>低浸透</a:t>
            </a:r>
            <a:endParaRPr lang="en-US" sz="1800" dirty="0"/>
          </a:p>
        </p:txBody>
      </p:sp>
      <p:sp>
        <p:nvSpPr>
          <p:cNvPr id="14" name="Shape 12"/>
          <p:cNvSpPr/>
          <p:nvPr/>
        </p:nvSpPr>
        <p:spPr>
          <a:xfrm>
            <a:off x="457200" y="3657600"/>
            <a:ext cx="3611880" cy="777240"/>
          </a:xfrm>
          <a:prstGeom prst="roundRect">
            <a:avLst>
              <a:gd name="adj" fmla="val 9412"/>
            </a:avLst>
          </a:prstGeom>
          <a:solidFill>
            <a:srgbClr val="F5F8F8"/>
          </a:solidFill>
          <a:ln w="12700">
            <a:solidFill>
              <a:srgbClr val="F5F8F8"/>
            </a:solidFill>
            <a:prstDash val="solid"/>
          </a:ln>
        </p:spPr>
      </p:sp>
      <p:sp>
        <p:nvSpPr>
          <p:cNvPr id="15" name="Shape 13"/>
          <p:cNvSpPr/>
          <p:nvPr/>
        </p:nvSpPr>
        <p:spPr>
          <a:xfrm>
            <a:off x="457200" y="3657600"/>
            <a:ext cx="82296" cy="777240"/>
          </a:xfrm>
          <a:prstGeom prst="rect">
            <a:avLst/>
          </a:prstGeom>
          <a:solidFill>
            <a:srgbClr val="C62828"/>
          </a:solidFill>
          <a:ln w="12700">
            <a:solidFill>
              <a:srgbClr val="C62828"/>
            </a:solidFill>
            <a:prstDash val="solid"/>
          </a:ln>
        </p:spPr>
      </p:sp>
      <p:sp>
        <p:nvSpPr>
          <p:cNvPr id="16" name="Text 14"/>
          <p:cNvSpPr txBox="1"/>
          <p:nvPr/>
        </p:nvSpPr>
        <p:spPr>
          <a:xfrm>
            <a:off x="640080" y="3657600"/>
            <a:ext cx="1828800" cy="7772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機能食</a:t>
            </a:r>
            <a:endParaRPr lang="en-US" sz="1300" dirty="0"/>
          </a:p>
          <a:p>
            <a:pPr indent="0" marL="0">
              <a:buNone/>
            </a:pPr>
            <a:r>
              <a:rPr lang="en-US" sz="1100" dirty="0">
                <a:solidFill>
                  <a:srgbClr val="5F6C72"/>
                </a:solidFill>
                <a:latin typeface="Yu Gothic" pitchFamily="34" charset="0"/>
                <a:ea typeface="Yu Gothic" pitchFamily="34" charset="-122"/>
                <a:cs typeface="Yu Gothic" pitchFamily="34" charset="-120"/>
              </a:rPr>
              <a:t>13.15億円</a:t>
            </a:r>
            <a:endParaRPr lang="en-US" sz="1300" dirty="0"/>
          </a:p>
        </p:txBody>
      </p:sp>
      <p:sp>
        <p:nvSpPr>
          <p:cNvPr id="17" name="Text 15"/>
          <p:cNvSpPr txBox="1"/>
          <p:nvPr/>
        </p:nvSpPr>
        <p:spPr>
          <a:xfrm>
            <a:off x="2468880" y="3657600"/>
            <a:ext cx="1463040" cy="777240"/>
          </a:xfrm>
          <a:prstGeom prst="rect">
            <a:avLst/>
          </a:prstGeom>
          <a:noFill/>
          <a:ln/>
        </p:spPr>
        <p:txBody>
          <a:bodyPr wrap="square" lIns="0" tIns="0" rIns="0" bIns="0" rtlCol="0" anchor="ctr"/>
          <a:lstStyle/>
          <a:p>
            <a:pPr algn="r" indent="0" marL="0">
              <a:buNone/>
            </a:pPr>
            <a:r>
              <a:rPr lang="en-US" sz="1800" b="1" dirty="0">
                <a:solidFill>
                  <a:srgbClr val="C62828"/>
                </a:solidFill>
                <a:latin typeface="Yu Gothic" pitchFamily="34" charset="0"/>
                <a:ea typeface="Yu Gothic" pitchFamily="34" charset="-122"/>
                <a:cs typeface="Yu Gothic" pitchFamily="34" charset="-120"/>
              </a:rPr>
              <a:t>0%</a:t>
            </a:r>
            <a:endParaRPr lang="en-US" sz="1800" dirty="0"/>
          </a:p>
          <a:p>
            <a:pPr algn="r" indent="0" marL="0">
              <a:buNone/>
            </a:pPr>
            <a:r>
              <a:rPr lang="en-US" sz="1050" b="1" dirty="0">
                <a:solidFill>
                  <a:srgbClr val="C62828"/>
                </a:solidFill>
                <a:latin typeface="Yu Gothic" pitchFamily="34" charset="0"/>
                <a:ea typeface="Yu Gothic" pitchFamily="34" charset="-122"/>
                <a:cs typeface="Yu Gothic" pitchFamily="34" charset="-120"/>
              </a:rPr>
              <a:t>空白</a:t>
            </a:r>
            <a:endParaRPr lang="en-US" sz="1800" dirty="0"/>
          </a:p>
        </p:txBody>
      </p:sp>
      <p:sp>
        <p:nvSpPr>
          <p:cNvPr id="18" name="Text 16"/>
          <p:cNvSpPr txBox="1"/>
          <p:nvPr/>
        </p:nvSpPr>
        <p:spPr>
          <a:xfrm>
            <a:off x="457200" y="4572000"/>
            <a:ext cx="3611880" cy="868680"/>
          </a:xfrm>
          <a:prstGeom prst="rect">
            <a:avLst/>
          </a:prstGeom>
          <a:noFill/>
          <a:ln/>
        </p:spPr>
        <p:txBody>
          <a:bodyPr wrap="square" lIns="0" tIns="0" rIns="0" bIns="0" rtlCol="0" anchor="t"/>
          <a:lstStyle/>
          <a:p>
            <a:pPr indent="0" marL="0">
              <a:buNone/>
            </a:pPr>
            <a:r>
              <a:rPr lang="en-US" sz="1100" b="1" dirty="0">
                <a:solidFill>
                  <a:srgbClr val="E67E22"/>
                </a:solidFill>
                <a:latin typeface="Yu Gothic" pitchFamily="34" charset="0"/>
                <a:ea typeface="Yu Gothic" pitchFamily="34" charset="-122"/>
                <a:cs typeface="Yu Gothic" pitchFamily="34" charset="-120"/>
              </a:rPr>
              <a:t>次に確認すること</a:t>
            </a:r>
            <a:endParaRPr lang="en-US" sz="1100" dirty="0"/>
          </a:p>
          <a:p>
            <a:pPr indent="0" marL="0">
              <a:buNone/>
            </a:pPr>
            <a:r>
              <a:rPr lang="en-US" sz="1150" dirty="0">
                <a:solidFill>
                  <a:srgbClr val="1F2933"/>
                </a:solidFill>
                <a:latin typeface="Yu Gothic" pitchFamily="34" charset="0"/>
                <a:ea typeface="Yu Gothic" pitchFamily="34" charset="-122"/>
                <a:cs typeface="Yu Gothic" pitchFamily="34" charset="-120"/>
              </a:rPr>
              <a:t>グルメ・機能食でPBが弱い理由。未提案か、意図的除外か。</a:t>
            </a:r>
            <a:endParaRPr lang="en-US" sz="1100" dirty="0"/>
          </a:p>
        </p:txBody>
      </p:sp>
      <p:sp>
        <p:nvSpPr>
          <p:cNvPr id="19" name="Shape 17"/>
          <p:cNvSpPr/>
          <p:nvPr/>
        </p:nvSpPr>
        <p:spPr>
          <a:xfrm>
            <a:off x="4251960" y="1325880"/>
            <a:ext cx="3611880" cy="502920"/>
          </a:xfrm>
          <a:prstGeom prst="rect">
            <a:avLst/>
          </a:prstGeom>
          <a:solidFill>
            <a:srgbClr val="0E3B43"/>
          </a:solidFill>
          <a:ln w="12700">
            <a:solidFill>
              <a:srgbClr val="0E3B43"/>
            </a:solidFill>
            <a:prstDash val="solid"/>
          </a:ln>
        </p:spPr>
      </p:sp>
      <p:sp>
        <p:nvSpPr>
          <p:cNvPr id="20" name="Text 18"/>
          <p:cNvSpPr txBox="1"/>
          <p:nvPr/>
        </p:nvSpPr>
        <p:spPr>
          <a:xfrm>
            <a:off x="4251960" y="1325880"/>
            <a:ext cx="36118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猫ウェット</a:t>
            </a:r>
            <a:endParaRPr lang="en-US" sz="1600" dirty="0"/>
          </a:p>
        </p:txBody>
      </p:sp>
      <p:sp>
        <p:nvSpPr>
          <p:cNvPr id="21" name="Shape 19"/>
          <p:cNvSpPr/>
          <p:nvPr/>
        </p:nvSpPr>
        <p:spPr>
          <a:xfrm>
            <a:off x="4251960" y="1920240"/>
            <a:ext cx="3611880" cy="777240"/>
          </a:xfrm>
          <a:prstGeom prst="roundRect">
            <a:avLst>
              <a:gd name="adj" fmla="val 9412"/>
            </a:avLst>
          </a:prstGeom>
          <a:solidFill>
            <a:srgbClr val="F5F8F8"/>
          </a:solidFill>
          <a:ln w="12700">
            <a:solidFill>
              <a:srgbClr val="F5F8F8"/>
            </a:solidFill>
            <a:prstDash val="solid"/>
          </a:ln>
        </p:spPr>
      </p:sp>
      <p:sp>
        <p:nvSpPr>
          <p:cNvPr id="22" name="Shape 20"/>
          <p:cNvSpPr/>
          <p:nvPr/>
        </p:nvSpPr>
        <p:spPr>
          <a:xfrm>
            <a:off x="4251960" y="1920240"/>
            <a:ext cx="82296" cy="777240"/>
          </a:xfrm>
          <a:prstGeom prst="rect">
            <a:avLst/>
          </a:prstGeom>
          <a:solidFill>
            <a:srgbClr val="2E7D32"/>
          </a:solidFill>
          <a:ln w="12700">
            <a:solidFill>
              <a:srgbClr val="2E7D32"/>
            </a:solidFill>
            <a:prstDash val="solid"/>
          </a:ln>
        </p:spPr>
      </p:sp>
      <p:sp>
        <p:nvSpPr>
          <p:cNvPr id="23" name="Text 21"/>
          <p:cNvSpPr txBox="1"/>
          <p:nvPr/>
        </p:nvSpPr>
        <p:spPr>
          <a:xfrm>
            <a:off x="4434840" y="1920240"/>
            <a:ext cx="1828800" cy="7772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缶</a:t>
            </a:r>
            <a:endParaRPr lang="en-US" sz="1300" dirty="0"/>
          </a:p>
          <a:p>
            <a:pPr indent="0" marL="0">
              <a:buNone/>
            </a:pPr>
            <a:r>
              <a:rPr lang="en-US" sz="1100" dirty="0">
                <a:solidFill>
                  <a:srgbClr val="5F6C72"/>
                </a:solidFill>
                <a:latin typeface="Yu Gothic" pitchFamily="34" charset="0"/>
                <a:ea typeface="Yu Gothic" pitchFamily="34" charset="-122"/>
                <a:cs typeface="Yu Gothic" pitchFamily="34" charset="-120"/>
              </a:rPr>
              <a:t>14.34億円</a:t>
            </a:r>
            <a:endParaRPr lang="en-US" sz="1300" dirty="0"/>
          </a:p>
        </p:txBody>
      </p:sp>
      <p:sp>
        <p:nvSpPr>
          <p:cNvPr id="24" name="Text 22"/>
          <p:cNvSpPr txBox="1"/>
          <p:nvPr/>
        </p:nvSpPr>
        <p:spPr>
          <a:xfrm>
            <a:off x="6263640" y="1920240"/>
            <a:ext cx="1463040" cy="777240"/>
          </a:xfrm>
          <a:prstGeom prst="rect">
            <a:avLst/>
          </a:prstGeom>
          <a:noFill/>
          <a:ln/>
        </p:spPr>
        <p:txBody>
          <a:bodyPr wrap="square" lIns="0" tIns="0" rIns="0" bIns="0" rtlCol="0" anchor="ctr"/>
          <a:lstStyle/>
          <a:p>
            <a:pPr algn="r" indent="0" marL="0">
              <a:buNone/>
            </a:pPr>
            <a:r>
              <a:rPr lang="en-US" sz="1800" b="1" dirty="0">
                <a:solidFill>
                  <a:srgbClr val="2E7D32"/>
                </a:solidFill>
                <a:latin typeface="Yu Gothic" pitchFamily="34" charset="0"/>
                <a:ea typeface="Yu Gothic" pitchFamily="34" charset="-122"/>
                <a:cs typeface="Yu Gothic" pitchFamily="34" charset="-120"/>
              </a:rPr>
              <a:t>63.4%</a:t>
            </a:r>
            <a:endParaRPr lang="en-US" sz="1800" dirty="0"/>
          </a:p>
          <a:p>
            <a:pPr algn="r" indent="0" marL="0">
              <a:buNone/>
            </a:pPr>
            <a:r>
              <a:rPr lang="en-US" sz="1050" b="1" dirty="0">
                <a:solidFill>
                  <a:srgbClr val="2E7D32"/>
                </a:solidFill>
                <a:latin typeface="Yu Gothic" pitchFamily="34" charset="0"/>
                <a:ea typeface="Yu Gothic" pitchFamily="34" charset="-122"/>
                <a:cs typeface="Yu Gothic" pitchFamily="34" charset="-120"/>
              </a:rPr>
              <a:t>高浸透</a:t>
            </a:r>
            <a:endParaRPr lang="en-US" sz="1800" dirty="0"/>
          </a:p>
        </p:txBody>
      </p:sp>
      <p:sp>
        <p:nvSpPr>
          <p:cNvPr id="25" name="Shape 23"/>
          <p:cNvSpPr/>
          <p:nvPr/>
        </p:nvSpPr>
        <p:spPr>
          <a:xfrm>
            <a:off x="4251960" y="2788920"/>
            <a:ext cx="3611880" cy="777240"/>
          </a:xfrm>
          <a:prstGeom prst="roundRect">
            <a:avLst>
              <a:gd name="adj" fmla="val 9412"/>
            </a:avLst>
          </a:prstGeom>
          <a:solidFill>
            <a:srgbClr val="F5F8F8"/>
          </a:solidFill>
          <a:ln w="12700">
            <a:solidFill>
              <a:srgbClr val="F5F8F8"/>
            </a:solidFill>
            <a:prstDash val="solid"/>
          </a:ln>
        </p:spPr>
      </p:sp>
      <p:sp>
        <p:nvSpPr>
          <p:cNvPr id="26" name="Shape 24"/>
          <p:cNvSpPr/>
          <p:nvPr/>
        </p:nvSpPr>
        <p:spPr>
          <a:xfrm>
            <a:off x="4251960" y="2788920"/>
            <a:ext cx="82296" cy="777240"/>
          </a:xfrm>
          <a:prstGeom prst="rect">
            <a:avLst/>
          </a:prstGeom>
          <a:solidFill>
            <a:srgbClr val="E67E22"/>
          </a:solidFill>
          <a:ln w="12700">
            <a:solidFill>
              <a:srgbClr val="E67E22"/>
            </a:solidFill>
            <a:prstDash val="solid"/>
          </a:ln>
        </p:spPr>
      </p:sp>
      <p:sp>
        <p:nvSpPr>
          <p:cNvPr id="27" name="Text 25"/>
          <p:cNvSpPr txBox="1"/>
          <p:nvPr/>
        </p:nvSpPr>
        <p:spPr>
          <a:xfrm>
            <a:off x="4434840" y="2788920"/>
            <a:ext cx="1828800" cy="7772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レギュラーパウチ</a:t>
            </a:r>
            <a:endParaRPr lang="en-US" sz="1300" dirty="0"/>
          </a:p>
          <a:p>
            <a:pPr indent="0" marL="0">
              <a:buNone/>
            </a:pPr>
            <a:r>
              <a:rPr lang="en-US" sz="1100" dirty="0">
                <a:solidFill>
                  <a:srgbClr val="5F6C72"/>
                </a:solidFill>
                <a:latin typeface="Yu Gothic" pitchFamily="34" charset="0"/>
                <a:ea typeface="Yu Gothic" pitchFamily="34" charset="-122"/>
                <a:cs typeface="Yu Gothic" pitchFamily="34" charset="-120"/>
              </a:rPr>
              <a:t>22.62億円</a:t>
            </a:r>
            <a:endParaRPr lang="en-US" sz="1300" dirty="0"/>
          </a:p>
        </p:txBody>
      </p:sp>
      <p:sp>
        <p:nvSpPr>
          <p:cNvPr id="28" name="Text 26"/>
          <p:cNvSpPr txBox="1"/>
          <p:nvPr/>
        </p:nvSpPr>
        <p:spPr>
          <a:xfrm>
            <a:off x="6263640" y="2788920"/>
            <a:ext cx="1463040" cy="777240"/>
          </a:xfrm>
          <a:prstGeom prst="rect">
            <a:avLst/>
          </a:prstGeom>
          <a:noFill/>
          <a:ln/>
        </p:spPr>
        <p:txBody>
          <a:bodyPr wrap="square" lIns="0" tIns="0" rIns="0" bIns="0" rtlCol="0" anchor="ctr"/>
          <a:lstStyle/>
          <a:p>
            <a:pPr algn="r" indent="0" marL="0">
              <a:buNone/>
            </a:pPr>
            <a:r>
              <a:rPr lang="en-US" sz="1800" b="1" dirty="0">
                <a:solidFill>
                  <a:srgbClr val="E67E22"/>
                </a:solidFill>
                <a:latin typeface="Yu Gothic" pitchFamily="34" charset="0"/>
                <a:ea typeface="Yu Gothic" pitchFamily="34" charset="-122"/>
                <a:cs typeface="Yu Gothic" pitchFamily="34" charset="-120"/>
              </a:rPr>
              <a:t>7.7%</a:t>
            </a:r>
            <a:endParaRPr lang="en-US" sz="1800" dirty="0"/>
          </a:p>
          <a:p>
            <a:pPr algn="r" indent="0" marL="0">
              <a:buNone/>
            </a:pPr>
            <a:r>
              <a:rPr lang="en-US" sz="1050" b="1" dirty="0">
                <a:solidFill>
                  <a:srgbClr val="E67E22"/>
                </a:solidFill>
                <a:latin typeface="Yu Gothic" pitchFamily="34" charset="0"/>
                <a:ea typeface="Yu Gothic" pitchFamily="34" charset="-122"/>
                <a:cs typeface="Yu Gothic" pitchFamily="34" charset="-120"/>
              </a:rPr>
              <a:t>浸透中</a:t>
            </a:r>
            <a:endParaRPr lang="en-US" sz="1800" dirty="0"/>
          </a:p>
        </p:txBody>
      </p:sp>
      <p:sp>
        <p:nvSpPr>
          <p:cNvPr id="29" name="Shape 27"/>
          <p:cNvSpPr/>
          <p:nvPr/>
        </p:nvSpPr>
        <p:spPr>
          <a:xfrm>
            <a:off x="4251960" y="3657600"/>
            <a:ext cx="3611880" cy="777240"/>
          </a:xfrm>
          <a:prstGeom prst="roundRect">
            <a:avLst>
              <a:gd name="adj" fmla="val 9412"/>
            </a:avLst>
          </a:prstGeom>
          <a:solidFill>
            <a:srgbClr val="F5F8F8"/>
          </a:solidFill>
          <a:ln w="12700">
            <a:solidFill>
              <a:srgbClr val="F5F8F8"/>
            </a:solidFill>
            <a:prstDash val="solid"/>
          </a:ln>
        </p:spPr>
      </p:sp>
      <p:sp>
        <p:nvSpPr>
          <p:cNvPr id="30" name="Shape 28"/>
          <p:cNvSpPr/>
          <p:nvPr/>
        </p:nvSpPr>
        <p:spPr>
          <a:xfrm>
            <a:off x="4251960" y="3657600"/>
            <a:ext cx="82296" cy="777240"/>
          </a:xfrm>
          <a:prstGeom prst="rect">
            <a:avLst/>
          </a:prstGeom>
          <a:solidFill>
            <a:srgbClr val="C62828"/>
          </a:solidFill>
          <a:ln w="12700">
            <a:solidFill>
              <a:srgbClr val="C62828"/>
            </a:solidFill>
            <a:prstDash val="solid"/>
          </a:ln>
        </p:spPr>
      </p:sp>
      <p:sp>
        <p:nvSpPr>
          <p:cNvPr id="31" name="Text 29"/>
          <p:cNvSpPr txBox="1"/>
          <p:nvPr/>
        </p:nvSpPr>
        <p:spPr>
          <a:xfrm>
            <a:off x="4434840" y="3657600"/>
            <a:ext cx="1828800" cy="7772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ミニパウチ</a:t>
            </a:r>
            <a:endParaRPr lang="en-US" sz="1300" dirty="0"/>
          </a:p>
          <a:p>
            <a:pPr indent="0" marL="0">
              <a:buNone/>
            </a:pPr>
            <a:r>
              <a:rPr lang="en-US" sz="1100" dirty="0">
                <a:solidFill>
                  <a:srgbClr val="5F6C72"/>
                </a:solidFill>
                <a:latin typeface="Yu Gothic" pitchFamily="34" charset="0"/>
                <a:ea typeface="Yu Gothic" pitchFamily="34" charset="-122"/>
                <a:cs typeface="Yu Gothic" pitchFamily="34" charset="-120"/>
              </a:rPr>
              <a:t>8.89億円</a:t>
            </a:r>
            <a:endParaRPr lang="en-US" sz="1300" dirty="0"/>
          </a:p>
        </p:txBody>
      </p:sp>
      <p:sp>
        <p:nvSpPr>
          <p:cNvPr id="32" name="Text 30"/>
          <p:cNvSpPr txBox="1"/>
          <p:nvPr/>
        </p:nvSpPr>
        <p:spPr>
          <a:xfrm>
            <a:off x="6263640" y="3657600"/>
            <a:ext cx="1463040" cy="777240"/>
          </a:xfrm>
          <a:prstGeom prst="rect">
            <a:avLst/>
          </a:prstGeom>
          <a:noFill/>
          <a:ln/>
        </p:spPr>
        <p:txBody>
          <a:bodyPr wrap="square" lIns="0" tIns="0" rIns="0" bIns="0" rtlCol="0" anchor="ctr"/>
          <a:lstStyle/>
          <a:p>
            <a:pPr algn="r" indent="0" marL="0">
              <a:buNone/>
            </a:pPr>
            <a:r>
              <a:rPr lang="en-US" sz="1800" b="1" dirty="0">
                <a:solidFill>
                  <a:srgbClr val="C62828"/>
                </a:solidFill>
                <a:latin typeface="Yu Gothic" pitchFamily="34" charset="0"/>
                <a:ea typeface="Yu Gothic" pitchFamily="34" charset="-122"/>
                <a:cs typeface="Yu Gothic" pitchFamily="34" charset="-120"/>
              </a:rPr>
              <a:t>0%</a:t>
            </a:r>
            <a:endParaRPr lang="en-US" sz="1800" dirty="0"/>
          </a:p>
          <a:p>
            <a:pPr algn="r" indent="0" marL="0">
              <a:buNone/>
            </a:pPr>
            <a:r>
              <a:rPr lang="en-US" sz="1050" b="1" dirty="0">
                <a:solidFill>
                  <a:srgbClr val="C62828"/>
                </a:solidFill>
                <a:latin typeface="Yu Gothic" pitchFamily="34" charset="0"/>
                <a:ea typeface="Yu Gothic" pitchFamily="34" charset="-122"/>
                <a:cs typeface="Yu Gothic" pitchFamily="34" charset="-120"/>
              </a:rPr>
              <a:t>空白</a:t>
            </a:r>
            <a:endParaRPr lang="en-US" sz="1800" dirty="0"/>
          </a:p>
        </p:txBody>
      </p:sp>
      <p:sp>
        <p:nvSpPr>
          <p:cNvPr id="33" name="Text 31"/>
          <p:cNvSpPr txBox="1"/>
          <p:nvPr/>
        </p:nvSpPr>
        <p:spPr>
          <a:xfrm>
            <a:off x="4251960" y="4572000"/>
            <a:ext cx="3611880" cy="868680"/>
          </a:xfrm>
          <a:prstGeom prst="rect">
            <a:avLst/>
          </a:prstGeom>
          <a:noFill/>
          <a:ln/>
        </p:spPr>
        <p:txBody>
          <a:bodyPr wrap="square" lIns="0" tIns="0" rIns="0" bIns="0" rtlCol="0" anchor="t"/>
          <a:lstStyle/>
          <a:p>
            <a:pPr indent="0" marL="0">
              <a:buNone/>
            </a:pPr>
            <a:r>
              <a:rPr lang="en-US" sz="1100" b="1" dirty="0">
                <a:solidFill>
                  <a:srgbClr val="E67E22"/>
                </a:solidFill>
                <a:latin typeface="Yu Gothic" pitchFamily="34" charset="0"/>
                <a:ea typeface="Yu Gothic" pitchFamily="34" charset="-122"/>
                <a:cs typeface="Yu Gothic" pitchFamily="34" charset="-120"/>
              </a:rPr>
              <a:t>次に確認すること</a:t>
            </a:r>
            <a:endParaRPr lang="en-US" sz="1100" dirty="0"/>
          </a:p>
          <a:p>
            <a:pPr indent="0" marL="0">
              <a:buNone/>
            </a:pPr>
            <a:r>
              <a:rPr lang="en-US" sz="1150" dirty="0">
                <a:solidFill>
                  <a:srgbClr val="1F2933"/>
                </a:solidFill>
                <a:latin typeface="Yu Gothic" pitchFamily="34" charset="0"/>
                <a:ea typeface="Yu Gothic" pitchFamily="34" charset="-122"/>
                <a:cs typeface="Yu Gothic" pitchFamily="34" charset="-120"/>
              </a:rPr>
              <a:t>形態によってPB成立条件が違う理由(容量・価格・棚・製造条件)。</a:t>
            </a:r>
            <a:endParaRPr lang="en-US" sz="1100" dirty="0"/>
          </a:p>
        </p:txBody>
      </p:sp>
      <p:sp>
        <p:nvSpPr>
          <p:cNvPr id="34" name="Shape 32"/>
          <p:cNvSpPr/>
          <p:nvPr/>
        </p:nvSpPr>
        <p:spPr>
          <a:xfrm>
            <a:off x="8046720" y="1325880"/>
            <a:ext cx="3611880" cy="502920"/>
          </a:xfrm>
          <a:prstGeom prst="rect">
            <a:avLst/>
          </a:prstGeom>
          <a:solidFill>
            <a:srgbClr val="0E3B43"/>
          </a:solidFill>
          <a:ln w="12700">
            <a:solidFill>
              <a:srgbClr val="0E3B43"/>
            </a:solidFill>
            <a:prstDash val="solid"/>
          </a:ln>
        </p:spPr>
      </p:sp>
      <p:sp>
        <p:nvSpPr>
          <p:cNvPr id="35" name="Text 33"/>
          <p:cNvSpPr txBox="1"/>
          <p:nvPr/>
        </p:nvSpPr>
        <p:spPr>
          <a:xfrm>
            <a:off x="8046720" y="1325880"/>
            <a:ext cx="36118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Yu Gothic" pitchFamily="34" charset="0"/>
                <a:ea typeface="Yu Gothic" pitchFamily="34" charset="-122"/>
                <a:cs typeface="Yu Gothic" pitchFamily="34" charset="-120"/>
              </a:rPr>
              <a:t>猫スナック</a:t>
            </a:r>
            <a:endParaRPr lang="en-US" sz="1600" dirty="0"/>
          </a:p>
        </p:txBody>
      </p:sp>
      <p:sp>
        <p:nvSpPr>
          <p:cNvPr id="36" name="Shape 34"/>
          <p:cNvSpPr/>
          <p:nvPr/>
        </p:nvSpPr>
        <p:spPr>
          <a:xfrm>
            <a:off x="8046720" y="1920240"/>
            <a:ext cx="3611880" cy="777240"/>
          </a:xfrm>
          <a:prstGeom prst="roundRect">
            <a:avLst>
              <a:gd name="adj" fmla="val 9412"/>
            </a:avLst>
          </a:prstGeom>
          <a:solidFill>
            <a:srgbClr val="F5F8F8"/>
          </a:solidFill>
          <a:ln w="12700">
            <a:solidFill>
              <a:srgbClr val="F5F8F8"/>
            </a:solidFill>
            <a:prstDash val="solid"/>
          </a:ln>
        </p:spPr>
      </p:sp>
      <p:sp>
        <p:nvSpPr>
          <p:cNvPr id="37" name="Shape 35"/>
          <p:cNvSpPr/>
          <p:nvPr/>
        </p:nvSpPr>
        <p:spPr>
          <a:xfrm>
            <a:off x="8046720" y="1920240"/>
            <a:ext cx="82296" cy="777240"/>
          </a:xfrm>
          <a:prstGeom prst="rect">
            <a:avLst/>
          </a:prstGeom>
          <a:solidFill>
            <a:srgbClr val="2E7D32"/>
          </a:solidFill>
          <a:ln w="12700">
            <a:solidFill>
              <a:srgbClr val="2E7D32"/>
            </a:solidFill>
            <a:prstDash val="solid"/>
          </a:ln>
        </p:spPr>
      </p:sp>
      <p:sp>
        <p:nvSpPr>
          <p:cNvPr id="38" name="Text 36"/>
          <p:cNvSpPr txBox="1"/>
          <p:nvPr/>
        </p:nvSpPr>
        <p:spPr>
          <a:xfrm>
            <a:off x="8229600" y="1920240"/>
            <a:ext cx="1828800" cy="7772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素材</a:t>
            </a:r>
            <a:endParaRPr lang="en-US" sz="1300" dirty="0"/>
          </a:p>
          <a:p>
            <a:pPr indent="0" marL="0">
              <a:buNone/>
            </a:pPr>
            <a:r>
              <a:rPr lang="en-US" sz="1100" dirty="0">
                <a:solidFill>
                  <a:srgbClr val="5F6C72"/>
                </a:solidFill>
                <a:latin typeface="Yu Gothic" pitchFamily="34" charset="0"/>
                <a:ea typeface="Yu Gothic" pitchFamily="34" charset="-122"/>
                <a:cs typeface="Yu Gothic" pitchFamily="34" charset="-120"/>
              </a:rPr>
              <a:t>7.21億円</a:t>
            </a:r>
            <a:endParaRPr lang="en-US" sz="1300" dirty="0"/>
          </a:p>
        </p:txBody>
      </p:sp>
      <p:sp>
        <p:nvSpPr>
          <p:cNvPr id="39" name="Text 37"/>
          <p:cNvSpPr txBox="1"/>
          <p:nvPr/>
        </p:nvSpPr>
        <p:spPr>
          <a:xfrm>
            <a:off x="10058400" y="1920240"/>
            <a:ext cx="1463040" cy="777240"/>
          </a:xfrm>
          <a:prstGeom prst="rect">
            <a:avLst/>
          </a:prstGeom>
          <a:noFill/>
          <a:ln/>
        </p:spPr>
        <p:txBody>
          <a:bodyPr wrap="square" lIns="0" tIns="0" rIns="0" bIns="0" rtlCol="0" anchor="ctr"/>
          <a:lstStyle/>
          <a:p>
            <a:pPr algn="r" indent="0" marL="0">
              <a:buNone/>
            </a:pPr>
            <a:r>
              <a:rPr lang="en-US" sz="1800" b="1" dirty="0">
                <a:solidFill>
                  <a:srgbClr val="2E7D32"/>
                </a:solidFill>
                <a:latin typeface="Yu Gothic" pitchFamily="34" charset="0"/>
                <a:ea typeface="Yu Gothic" pitchFamily="34" charset="-122"/>
                <a:cs typeface="Yu Gothic" pitchFamily="34" charset="-120"/>
              </a:rPr>
              <a:t>31.3%</a:t>
            </a:r>
            <a:endParaRPr lang="en-US" sz="1800" dirty="0"/>
          </a:p>
          <a:p>
            <a:pPr algn="r" indent="0" marL="0">
              <a:buNone/>
            </a:pPr>
            <a:r>
              <a:rPr lang="en-US" sz="1050" b="1" dirty="0">
                <a:solidFill>
                  <a:srgbClr val="2E7D32"/>
                </a:solidFill>
                <a:latin typeface="Yu Gothic" pitchFamily="34" charset="0"/>
                <a:ea typeface="Yu Gothic" pitchFamily="34" charset="-122"/>
                <a:cs typeface="Yu Gothic" pitchFamily="34" charset="-120"/>
              </a:rPr>
              <a:t>PBあり</a:t>
            </a:r>
            <a:endParaRPr lang="en-US" sz="1800" dirty="0"/>
          </a:p>
        </p:txBody>
      </p:sp>
      <p:sp>
        <p:nvSpPr>
          <p:cNvPr id="40" name="Shape 38"/>
          <p:cNvSpPr/>
          <p:nvPr/>
        </p:nvSpPr>
        <p:spPr>
          <a:xfrm>
            <a:off x="8046720" y="2788920"/>
            <a:ext cx="3611880" cy="777240"/>
          </a:xfrm>
          <a:prstGeom prst="roundRect">
            <a:avLst>
              <a:gd name="adj" fmla="val 9412"/>
            </a:avLst>
          </a:prstGeom>
          <a:solidFill>
            <a:srgbClr val="F5F8F8"/>
          </a:solidFill>
          <a:ln w="12700">
            <a:solidFill>
              <a:srgbClr val="F5F8F8"/>
            </a:solidFill>
            <a:prstDash val="solid"/>
          </a:ln>
        </p:spPr>
      </p:sp>
      <p:sp>
        <p:nvSpPr>
          <p:cNvPr id="41" name="Shape 39"/>
          <p:cNvSpPr/>
          <p:nvPr/>
        </p:nvSpPr>
        <p:spPr>
          <a:xfrm>
            <a:off x="8046720" y="2788920"/>
            <a:ext cx="82296" cy="777240"/>
          </a:xfrm>
          <a:prstGeom prst="rect">
            <a:avLst/>
          </a:prstGeom>
          <a:solidFill>
            <a:srgbClr val="C62828"/>
          </a:solidFill>
          <a:ln w="12700">
            <a:solidFill>
              <a:srgbClr val="C62828"/>
            </a:solidFill>
            <a:prstDash val="solid"/>
          </a:ln>
        </p:spPr>
      </p:sp>
      <p:sp>
        <p:nvSpPr>
          <p:cNvPr id="42" name="Text 40"/>
          <p:cNvSpPr txBox="1"/>
          <p:nvPr/>
        </p:nvSpPr>
        <p:spPr>
          <a:xfrm>
            <a:off x="8229600" y="2788920"/>
            <a:ext cx="1828800" cy="7772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ドライスナック</a:t>
            </a:r>
            <a:endParaRPr lang="en-US" sz="1300" dirty="0"/>
          </a:p>
          <a:p>
            <a:pPr indent="0" marL="0">
              <a:buNone/>
            </a:pPr>
            <a:r>
              <a:rPr lang="en-US" sz="1100" dirty="0">
                <a:solidFill>
                  <a:srgbClr val="5F6C72"/>
                </a:solidFill>
                <a:latin typeface="Yu Gothic" pitchFamily="34" charset="0"/>
                <a:ea typeface="Yu Gothic" pitchFamily="34" charset="-122"/>
                <a:cs typeface="Yu Gothic" pitchFamily="34" charset="-120"/>
              </a:rPr>
              <a:t>6.60億円</a:t>
            </a:r>
            <a:endParaRPr lang="en-US" sz="1300" dirty="0"/>
          </a:p>
        </p:txBody>
      </p:sp>
      <p:sp>
        <p:nvSpPr>
          <p:cNvPr id="43" name="Text 41"/>
          <p:cNvSpPr txBox="1"/>
          <p:nvPr/>
        </p:nvSpPr>
        <p:spPr>
          <a:xfrm>
            <a:off x="10058400" y="2788920"/>
            <a:ext cx="1463040" cy="777240"/>
          </a:xfrm>
          <a:prstGeom prst="rect">
            <a:avLst/>
          </a:prstGeom>
          <a:noFill/>
          <a:ln/>
        </p:spPr>
        <p:txBody>
          <a:bodyPr wrap="square" lIns="0" tIns="0" rIns="0" bIns="0" rtlCol="0" anchor="ctr"/>
          <a:lstStyle/>
          <a:p>
            <a:pPr algn="r" indent="0" marL="0">
              <a:buNone/>
            </a:pPr>
            <a:r>
              <a:rPr lang="en-US" sz="1800" b="1" dirty="0">
                <a:solidFill>
                  <a:srgbClr val="C62828"/>
                </a:solidFill>
                <a:latin typeface="Yu Gothic" pitchFamily="34" charset="0"/>
                <a:ea typeface="Yu Gothic" pitchFamily="34" charset="-122"/>
                <a:cs typeface="Yu Gothic" pitchFamily="34" charset="-120"/>
              </a:rPr>
              <a:t>0%</a:t>
            </a:r>
            <a:endParaRPr lang="en-US" sz="1800" dirty="0"/>
          </a:p>
          <a:p>
            <a:pPr algn="r" indent="0" marL="0">
              <a:buNone/>
            </a:pPr>
            <a:r>
              <a:rPr lang="en-US" sz="1050" b="1" dirty="0">
                <a:solidFill>
                  <a:srgbClr val="C62828"/>
                </a:solidFill>
                <a:latin typeface="Yu Gothic" pitchFamily="34" charset="0"/>
                <a:ea typeface="Yu Gothic" pitchFamily="34" charset="-122"/>
                <a:cs typeface="Yu Gothic" pitchFamily="34" charset="-120"/>
              </a:rPr>
              <a:t>空白</a:t>
            </a:r>
            <a:endParaRPr lang="en-US" sz="1800" dirty="0"/>
          </a:p>
        </p:txBody>
      </p:sp>
      <p:sp>
        <p:nvSpPr>
          <p:cNvPr id="44" name="Shape 42"/>
          <p:cNvSpPr/>
          <p:nvPr/>
        </p:nvSpPr>
        <p:spPr>
          <a:xfrm>
            <a:off x="8046720" y="3657600"/>
            <a:ext cx="3611880" cy="777240"/>
          </a:xfrm>
          <a:prstGeom prst="roundRect">
            <a:avLst>
              <a:gd name="adj" fmla="val 9412"/>
            </a:avLst>
          </a:prstGeom>
          <a:solidFill>
            <a:srgbClr val="F5F8F8"/>
          </a:solidFill>
          <a:ln w="12700">
            <a:solidFill>
              <a:srgbClr val="F5F8F8"/>
            </a:solidFill>
            <a:prstDash val="solid"/>
          </a:ln>
        </p:spPr>
      </p:sp>
      <p:sp>
        <p:nvSpPr>
          <p:cNvPr id="45" name="Shape 43"/>
          <p:cNvSpPr/>
          <p:nvPr/>
        </p:nvSpPr>
        <p:spPr>
          <a:xfrm>
            <a:off x="8046720" y="3657600"/>
            <a:ext cx="82296" cy="777240"/>
          </a:xfrm>
          <a:prstGeom prst="rect">
            <a:avLst/>
          </a:prstGeom>
          <a:solidFill>
            <a:srgbClr val="C62828"/>
          </a:solidFill>
          <a:ln w="12700">
            <a:solidFill>
              <a:srgbClr val="C62828"/>
            </a:solidFill>
            <a:prstDash val="solid"/>
          </a:ln>
        </p:spPr>
      </p:sp>
      <p:sp>
        <p:nvSpPr>
          <p:cNvPr id="46" name="Text 44"/>
          <p:cNvSpPr txBox="1"/>
          <p:nvPr/>
        </p:nvSpPr>
        <p:spPr>
          <a:xfrm>
            <a:off x="8229600" y="3657600"/>
            <a:ext cx="1828800" cy="7772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レトルト</a:t>
            </a:r>
            <a:endParaRPr lang="en-US" sz="1300" dirty="0"/>
          </a:p>
          <a:p>
            <a:pPr indent="0" marL="0">
              <a:buNone/>
            </a:pPr>
            <a:r>
              <a:rPr lang="en-US" sz="1100" dirty="0">
                <a:solidFill>
                  <a:srgbClr val="5F6C72"/>
                </a:solidFill>
                <a:latin typeface="Yu Gothic" pitchFamily="34" charset="0"/>
                <a:ea typeface="Yu Gothic" pitchFamily="34" charset="-122"/>
                <a:cs typeface="Yu Gothic" pitchFamily="34" charset="-120"/>
              </a:rPr>
              <a:t>20.14億円</a:t>
            </a:r>
            <a:endParaRPr lang="en-US" sz="1300" dirty="0"/>
          </a:p>
        </p:txBody>
      </p:sp>
      <p:sp>
        <p:nvSpPr>
          <p:cNvPr id="47" name="Text 45"/>
          <p:cNvSpPr txBox="1"/>
          <p:nvPr/>
        </p:nvSpPr>
        <p:spPr>
          <a:xfrm>
            <a:off x="10058400" y="3657600"/>
            <a:ext cx="1463040" cy="777240"/>
          </a:xfrm>
          <a:prstGeom prst="rect">
            <a:avLst/>
          </a:prstGeom>
          <a:noFill/>
          <a:ln/>
        </p:spPr>
        <p:txBody>
          <a:bodyPr wrap="square" lIns="0" tIns="0" rIns="0" bIns="0" rtlCol="0" anchor="ctr"/>
          <a:lstStyle/>
          <a:p>
            <a:pPr algn="r" indent="0" marL="0">
              <a:buNone/>
            </a:pPr>
            <a:r>
              <a:rPr lang="en-US" sz="1800" b="1" dirty="0">
                <a:solidFill>
                  <a:srgbClr val="C62828"/>
                </a:solidFill>
                <a:latin typeface="Yu Gothic" pitchFamily="34" charset="0"/>
                <a:ea typeface="Yu Gothic" pitchFamily="34" charset="-122"/>
                <a:cs typeface="Yu Gothic" pitchFamily="34" charset="-120"/>
              </a:rPr>
              <a:t>2.4%</a:t>
            </a:r>
            <a:endParaRPr lang="en-US" sz="1800" dirty="0"/>
          </a:p>
          <a:p>
            <a:pPr algn="r" indent="0" marL="0">
              <a:buNone/>
            </a:pPr>
            <a:r>
              <a:rPr lang="en-US" sz="1050" b="1" dirty="0">
                <a:solidFill>
                  <a:srgbClr val="C62828"/>
                </a:solidFill>
                <a:latin typeface="Yu Gothic" pitchFamily="34" charset="0"/>
                <a:ea typeface="Yu Gothic" pitchFamily="34" charset="-122"/>
                <a:cs typeface="Yu Gothic" pitchFamily="34" charset="-120"/>
              </a:rPr>
              <a:t>大幅後退</a:t>
            </a:r>
            <a:endParaRPr lang="en-US" sz="1800" dirty="0"/>
          </a:p>
        </p:txBody>
      </p:sp>
      <p:sp>
        <p:nvSpPr>
          <p:cNvPr id="48" name="Text 46"/>
          <p:cNvSpPr txBox="1"/>
          <p:nvPr/>
        </p:nvSpPr>
        <p:spPr>
          <a:xfrm>
            <a:off x="8046720" y="4572000"/>
            <a:ext cx="3611880" cy="868680"/>
          </a:xfrm>
          <a:prstGeom prst="rect">
            <a:avLst/>
          </a:prstGeom>
          <a:noFill/>
          <a:ln/>
        </p:spPr>
        <p:txBody>
          <a:bodyPr wrap="square" lIns="0" tIns="0" rIns="0" bIns="0" rtlCol="0" anchor="t"/>
          <a:lstStyle/>
          <a:p>
            <a:pPr indent="0" marL="0">
              <a:buNone/>
            </a:pPr>
            <a:r>
              <a:rPr lang="en-US" sz="1100" b="1" dirty="0">
                <a:solidFill>
                  <a:srgbClr val="E67E22"/>
                </a:solidFill>
                <a:latin typeface="Yu Gothic" pitchFamily="34" charset="0"/>
                <a:ea typeface="Yu Gothic" pitchFamily="34" charset="-122"/>
                <a:cs typeface="Yu Gothic" pitchFamily="34" charset="-120"/>
              </a:rPr>
              <a:t>次に確認すること</a:t>
            </a:r>
            <a:endParaRPr lang="en-US" sz="1100" dirty="0"/>
          </a:p>
          <a:p>
            <a:pPr indent="0" marL="0">
              <a:buNone/>
            </a:pPr>
            <a:r>
              <a:rPr lang="en-US" sz="1150" dirty="0">
                <a:solidFill>
                  <a:srgbClr val="1F2933"/>
                </a:solidFill>
                <a:latin typeface="Yu Gothic" pitchFamily="34" charset="0"/>
                <a:ea typeface="Yu Gothic" pitchFamily="34" charset="-122"/>
                <a:cs typeface="Yu Gothic" pitchFamily="34" charset="-120"/>
              </a:rPr>
              <a:t>レトルトPBの縮小・消失理由。ドライスナックのPB不在理由。</a:t>
            </a:r>
            <a:endParaRPr lang="en-US" sz="1100" dirty="0"/>
          </a:p>
        </p:txBody>
      </p:sp>
      <p:sp>
        <p:nvSpPr>
          <p:cNvPr id="49" name="Shape 47"/>
          <p:cNvSpPr/>
          <p:nvPr/>
        </p:nvSpPr>
        <p:spPr>
          <a:xfrm>
            <a:off x="457200" y="5577840"/>
            <a:ext cx="11247120" cy="594360"/>
          </a:xfrm>
          <a:prstGeom prst="rect">
            <a:avLst/>
          </a:prstGeom>
          <a:solidFill>
            <a:srgbClr val="FDF1E6"/>
          </a:solidFill>
          <a:ln w="12700">
            <a:solidFill>
              <a:srgbClr val="E67E22"/>
            </a:solidFill>
            <a:prstDash val="solid"/>
          </a:ln>
        </p:spPr>
      </p:sp>
      <p:sp>
        <p:nvSpPr>
          <p:cNvPr id="50" name="Text 48"/>
          <p:cNvSpPr txBox="1"/>
          <p:nvPr/>
        </p:nvSpPr>
        <p:spPr>
          <a:xfrm>
            <a:off x="640080" y="5577840"/>
            <a:ext cx="10881360" cy="59436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最初に商品を決めるのではなく、この内部差の理由をトライアル様から確認することが、次の商品開発の精度を上げる。</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伸びしろの試算(仮定): PB売上 約10.71億円増</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予測ではなく、計画の目安としての試算</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7680960" cy="914400"/>
        </p:xfrm>
        <a:graphic>
          <a:graphicData uri="http://schemas.openxmlformats.org/drawingml/2006/table">
            <a:tbl>
              <a:tblPr/>
              <a:tblGrid>
                <a:gridCol w="3566160"/>
                <a:gridCol w="1188720"/>
                <a:gridCol w="1554480"/>
                <a:gridCol w="1371600"/>
              </a:tblGrid>
              <a:tr h="438912">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サブカテ</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方向性</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PB比率 現在→目標</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c>
                  <a:txBody>
                    <a:bodyPr/>
                    <a:lstStyle/>
                    <a:p>
                      <a:pPr indent="0" marL="0">
                        <a:buNone/>
                      </a:pPr>
                      <a:r>
                        <a:rPr lang="en-US" sz="1050" b="1" dirty="0">
                          <a:solidFill>
                            <a:srgbClr val="FFFFFF"/>
                          </a:solidFill>
                          <a:latin typeface="Yu Gothic" pitchFamily="34" charset="0"/>
                          <a:ea typeface="Yu Gothic" pitchFamily="34" charset="-122"/>
                          <a:cs typeface="Yu Gothic" pitchFamily="34" charset="-120"/>
                        </a:rPr>
                        <a:t>PB売上の増加額</a:t>
                      </a:r>
                      <a:endParaRPr lang="en-US" sz="105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0E3B43"/>
                    </a:solidFill>
                  </a:tcPr>
                </a:tc>
              </a:tr>
              <a:tr h="438912">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猫ウェット / レギュラーパウチ</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拡大</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7.7%→18.9%</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2.53億円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猫スナック / レトルト</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シェア奪回</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2.4%→13.8%</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2.28億円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438912">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犬スナック / 素材スナック</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拡大</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35.2%→49.3%</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9,591万円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猫ウェット / 缶</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拡大</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63.4%→70.0%</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9,444万円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438912">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猫ウェット / ミニパウチ</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横展開</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0.0%→10.0%</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8,891万円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猫スナック / 素材</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拡大</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31.3%→42.4%</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7,989万円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438912">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猫スナック / ドライスナック</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横展開</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0.0%→10.0%</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6,598万円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r h="438912">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犬スナック / 練り込み_成形</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横展開</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3.5%→10.0%</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6,293万円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5F8F8"/>
                    </a:solidFill>
                  </a:tcPr>
                </a:tc>
              </a:tr>
              <a:tr h="438912">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ほか4件(犬スナック/レトルト、犬ウェット/パウチ・缶、猫スナック/ジャーキー)</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c>
                  <a:txBody>
                    <a:bodyPr/>
                    <a:lstStyle/>
                    <a:p>
                      <a:pPr indent="0" marL="0">
                        <a:buNone/>
                      </a:pPr>
                      <a:r>
                        <a:rPr lang="en-US" sz="1100" dirty="0">
                          <a:solidFill>
                            <a:srgbClr val="1F2933"/>
                          </a:solidFill>
                          <a:latin typeface="Yu Gothic" pitchFamily="34" charset="0"/>
                          <a:ea typeface="Yu Gothic" pitchFamily="34" charset="-122"/>
                          <a:cs typeface="Yu Gothic" pitchFamily="34" charset="-120"/>
                        </a:rPr>
                        <a:t>1.02億円</a:t>
                      </a:r>
                      <a:endParaRPr lang="en-US" sz="1100" dirty="0">
                        <a:latin typeface="Yu Gothic" charset="0"/>
                        <a:ea typeface="Yu Gothic" charset="0"/>
                        <a:cs typeface="Yu Gothic" charset="0"/>
                      </a:endParaRPr>
                    </a:p>
                  </a:txBody>
                  <a:tcPr marL="63500" marR="63500" marT="25400" marB="25400" anchor="ctr">
                    <a:lnL w="6350" cap="flat" cmpd="sng" algn="ctr">
                      <a:solidFill>
                        <a:srgbClr val="D5DDDF"/>
                      </a:solidFill>
                      <a:prstDash val="solid"/>
                      <a:round/>
                      <a:headEnd type="none" w="med" len="med"/>
                      <a:tailEnd type="none" w="med" len="med"/>
                    </a:lnL>
                    <a:lnR w="6350" cap="flat" cmpd="sng" algn="ctr">
                      <a:solidFill>
                        <a:srgbClr val="D5DDDF"/>
                      </a:solidFill>
                      <a:prstDash val="solid"/>
                      <a:round/>
                      <a:headEnd type="none" w="med" len="med"/>
                      <a:tailEnd type="none" w="med" len="med"/>
                    </a:lnR>
                    <a:lnT w="6350" cap="flat" cmpd="sng" algn="ctr">
                      <a:solidFill>
                        <a:srgbClr val="D5DDDF"/>
                      </a:solidFill>
                      <a:prstDash val="solid"/>
                      <a:round/>
                      <a:headEnd type="none" w="med" len="med"/>
                      <a:tailEnd type="none" w="med" len="med"/>
                    </a:lnT>
                    <a:lnB w="6350" cap="flat" cmpd="sng" algn="ctr">
                      <a:solidFill>
                        <a:srgbClr val="D5DDDF"/>
                      </a:solidFill>
                      <a:prstDash val="solid"/>
                      <a:round/>
                      <a:headEnd type="none" w="med" len="med"/>
                      <a:tailEnd type="none" w="med" len="med"/>
                    </a:lnB>
                    <a:solidFill>
                      <a:srgbClr val="FFFFFF"/>
                    </a:solidFill>
                  </a:tcPr>
                </a:tc>
              </a:tr>
            </a:tbl>
          </a:graphicData>
        </a:graphic>
      </p:graphicFrame>
      <p:sp>
        <p:nvSpPr>
          <p:cNvPr id="5" name="Shape 2"/>
          <p:cNvSpPr/>
          <p:nvPr/>
        </p:nvSpPr>
        <p:spPr>
          <a:xfrm>
            <a:off x="8412480" y="1325880"/>
            <a:ext cx="3291840" cy="2377440"/>
          </a:xfrm>
          <a:prstGeom prst="roundRect">
            <a:avLst>
              <a:gd name="adj" fmla="val 3077"/>
            </a:avLst>
          </a:prstGeom>
          <a:solidFill>
            <a:srgbClr val="0E3B43"/>
          </a:solidFill>
          <a:ln w="12700">
            <a:solidFill>
              <a:srgbClr val="0E3B43"/>
            </a:solidFill>
            <a:prstDash val="solid"/>
          </a:ln>
        </p:spPr>
      </p:sp>
      <p:sp>
        <p:nvSpPr>
          <p:cNvPr id="6" name="Text 3"/>
          <p:cNvSpPr txBox="1"/>
          <p:nvPr/>
        </p:nvSpPr>
        <p:spPr>
          <a:xfrm>
            <a:off x="8595360" y="1417320"/>
            <a:ext cx="2926080" cy="2194560"/>
          </a:xfrm>
          <a:prstGeom prst="rect">
            <a:avLst/>
          </a:prstGeom>
          <a:noFill/>
          <a:ln/>
        </p:spPr>
        <p:txBody>
          <a:bodyPr wrap="square" lIns="0" tIns="0" rIns="0" bIns="0" rtlCol="0" anchor="ctr"/>
          <a:lstStyle/>
          <a:p>
            <a:pPr indent="0" marL="0">
              <a:buNone/>
            </a:pPr>
            <a:r>
              <a:rPr lang="en-US" sz="1200" dirty="0">
                <a:solidFill>
                  <a:srgbClr val="CFE3E3"/>
                </a:solidFill>
                <a:latin typeface="Yu Gothic" pitchFamily="34" charset="0"/>
                <a:ea typeface="Yu Gothic" pitchFamily="34" charset="-122"/>
                <a:cs typeface="Yu Gothic" pitchFamily="34" charset="-120"/>
              </a:rPr>
              <a:t>PB売上の増加額(合計)</a:t>
            </a:r>
            <a:endParaRPr lang="en-US" sz="1200" dirty="0"/>
          </a:p>
          <a:p>
            <a:pPr indent="0" marL="0">
              <a:buNone/>
            </a:pPr>
            <a:r>
              <a:rPr lang="en-US" sz="3400" b="1" dirty="0">
                <a:solidFill>
                  <a:srgbClr val="FFFFFF"/>
                </a:solidFill>
                <a:latin typeface="Yu Gothic" pitchFamily="34" charset="0"/>
                <a:ea typeface="Yu Gothic" pitchFamily="34" charset="-122"/>
                <a:cs typeface="Yu Gothic" pitchFamily="34" charset="-120"/>
              </a:rPr>
              <a:t>+10.71億円</a:t>
            </a:r>
            <a:endParaRPr lang="en-US" sz="1200" dirty="0"/>
          </a:p>
          <a:p>
            <a:pPr indent="0" marL="0">
              <a:buNone/>
            </a:pPr>
            <a:r>
              <a:rPr lang="en-US" sz="1300" b="1" dirty="0">
                <a:solidFill>
                  <a:srgbClr val="E67E22"/>
                </a:solidFill>
                <a:latin typeface="Yu Gothic" pitchFamily="34" charset="0"/>
                <a:ea typeface="Yu Gothic" pitchFamily="34" charset="-122"/>
                <a:cs typeface="Yu Gothic" pitchFamily="34" charset="-120"/>
              </a:rPr>
              <a:t>PB比率 19.1%→23.1%</a:t>
            </a:r>
            <a:endParaRPr lang="en-US" sz="1200" dirty="0"/>
          </a:p>
          <a:p>
            <a:pPr indent="0" marL="0">
              <a:buNone/>
            </a:pPr>
            <a:r>
              <a:rPr lang="en-US" sz="1200" dirty="0">
                <a:solidFill>
                  <a:srgbClr val="CFE3E3"/>
                </a:solidFill>
                <a:latin typeface="Yu Gothic" pitchFamily="34" charset="0"/>
                <a:ea typeface="Yu Gothic" pitchFamily="34" charset="-122"/>
                <a:cs typeface="Yu Gothic" pitchFamily="34" charset="-120"/>
              </a:rPr>
              <a:t>現在のPB売上比 +21%</a:t>
            </a:r>
            <a:endParaRPr lang="en-US" sz="1200" dirty="0"/>
          </a:p>
        </p:txBody>
      </p:sp>
      <p:sp>
        <p:nvSpPr>
          <p:cNvPr id="7" name="Shape 4"/>
          <p:cNvSpPr/>
          <p:nvPr/>
        </p:nvSpPr>
        <p:spPr>
          <a:xfrm>
            <a:off x="8412480" y="3840480"/>
            <a:ext cx="3291840" cy="2331720"/>
          </a:xfrm>
          <a:prstGeom prst="roundRect">
            <a:avLst>
              <a:gd name="adj" fmla="val 3137"/>
            </a:avLst>
          </a:prstGeom>
          <a:solidFill>
            <a:srgbClr val="E6EEEE"/>
          </a:solidFill>
          <a:ln w="12700">
            <a:solidFill>
              <a:srgbClr val="E6EEEE"/>
            </a:solidFill>
            <a:prstDash val="solid"/>
          </a:ln>
        </p:spPr>
      </p:sp>
      <p:sp>
        <p:nvSpPr>
          <p:cNvPr id="8" name="Text 5"/>
          <p:cNvSpPr txBox="1"/>
          <p:nvPr/>
        </p:nvSpPr>
        <p:spPr>
          <a:xfrm>
            <a:off x="8549640" y="3931920"/>
            <a:ext cx="3017520" cy="2148840"/>
          </a:xfrm>
          <a:prstGeom prst="rect">
            <a:avLst/>
          </a:prstGeom>
          <a:noFill/>
          <a:ln/>
        </p:spPr>
        <p:txBody>
          <a:bodyPr wrap="square" lIns="25400" tIns="25400" rIns="25400" bIns="25400" rtlCol="0" anchor="t"/>
          <a:lstStyle/>
          <a:p>
            <a:pPr indent="0" marL="0">
              <a:spcAft>
                <a:spcPts val="600"/>
              </a:spcAft>
              <a:buNone/>
            </a:pPr>
            <a:r>
              <a:rPr lang="en-US" sz="1300" b="1" dirty="0">
                <a:solidFill>
                  <a:srgbClr val="0E3B43"/>
                </a:solidFill>
                <a:latin typeface="Yu Gothic" pitchFamily="34" charset="0"/>
                <a:ea typeface="Yu Gothic" pitchFamily="34" charset="-122"/>
                <a:cs typeface="Yu Gothic" pitchFamily="34" charset="-120"/>
              </a:rPr>
              <a:t>試算の仮定</a:t>
            </a:r>
            <a:endParaRPr lang="en-US" sz="1300" dirty="0"/>
          </a:p>
          <a:p>
            <a:pPr marL="152400" indent="-152400">
              <a:spcAft>
                <a:spcPts val="400"/>
              </a:spcAft>
              <a:buSzPct val="100000"/>
              <a:buChar char="•"/>
            </a:pPr>
            <a:r>
              <a:rPr lang="en-US" sz="1050" dirty="0">
                <a:solidFill>
                  <a:srgbClr val="1F2933"/>
                </a:solidFill>
                <a:latin typeface="Yu Gothic" pitchFamily="34" charset="0"/>
                <a:ea typeface="Yu Gothic" pitchFamily="34" charset="-122"/>
                <a:cs typeface="Yu Gothic" pitchFamily="34" charset="-120"/>
              </a:rPr>
              <a:t>拡大: 現在シェア + 直近の上昇幅2年分(上限70%)</a:t>
            </a:r>
            <a:endParaRPr lang="en-US" sz="1300" dirty="0"/>
          </a:p>
          <a:p>
            <a:pPr marL="152400" indent="-152400">
              <a:spcAft>
                <a:spcPts val="400"/>
              </a:spcAft>
              <a:buSzPct val="100000"/>
              <a:buChar char="•"/>
            </a:pPr>
            <a:r>
              <a:rPr lang="en-US" sz="1050" dirty="0">
                <a:solidFill>
                  <a:srgbClr val="1F2933"/>
                </a:solidFill>
                <a:latin typeface="Yu Gothic" pitchFamily="34" charset="0"/>
                <a:ea typeface="Yu Gothic" pitchFamily="34" charset="-122"/>
                <a:cs typeface="Yu Gothic" pitchFamily="34" charset="-120"/>
              </a:rPr>
              <a:t>シェア奪回: 前期シェアに回復</a:t>
            </a:r>
            <a:endParaRPr lang="en-US" sz="1300" dirty="0"/>
          </a:p>
          <a:p>
            <a:pPr marL="152400" indent="-152400">
              <a:spcAft>
                <a:spcPts val="400"/>
              </a:spcAft>
              <a:buSzPct val="100000"/>
              <a:buChar char="•"/>
            </a:pPr>
            <a:r>
              <a:rPr lang="en-US" sz="1050" dirty="0">
                <a:solidFill>
                  <a:srgbClr val="1F2933"/>
                </a:solidFill>
                <a:latin typeface="Yu Gothic" pitchFamily="34" charset="0"/>
                <a:ea typeface="Yu Gothic" pitchFamily="34" charset="-122"/>
                <a:cs typeface="Yu Gothic" pitchFamily="34" charset="-120"/>
              </a:rPr>
              <a:t>横展開: シェア10%</a:t>
            </a:r>
            <a:endParaRPr lang="en-US" sz="1300" dirty="0"/>
          </a:p>
          <a:p>
            <a:pPr marL="152400" indent="-152400">
              <a:spcAft>
                <a:spcPts val="400"/>
              </a:spcAft>
              <a:buSzPct val="100000"/>
              <a:buChar char="•"/>
            </a:pPr>
            <a:r>
              <a:rPr lang="en-US" sz="1050" dirty="0">
                <a:solidFill>
                  <a:srgbClr val="1F2933"/>
                </a:solidFill>
                <a:latin typeface="Yu Gothic" pitchFamily="34" charset="0"/>
                <a:ea typeface="Yu Gothic" pitchFamily="34" charset="-122"/>
                <a:cs typeface="Yu Gothic" pitchFamily="34" charset="-120"/>
              </a:rPr>
              <a:t>NBから獲得し全体売上は横ばい。粗利は未考慮</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トーエートレーディングが目指す開発会社としての進め方</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「商品を持っていって採用してもらう」だけでなく、データから課題を発見し、一緒に企画・開発・検証する関係へ</a:t>
            </a:r>
            <a:endParaRPr lang="en-US" sz="1200" dirty="0"/>
          </a:p>
        </p:txBody>
      </p:sp>
      <p:sp>
        <p:nvSpPr>
          <p:cNvPr id="4" name="Shape 2"/>
          <p:cNvSpPr/>
          <p:nvPr/>
        </p:nvSpPr>
        <p:spPr>
          <a:xfrm>
            <a:off x="457200" y="1371600"/>
            <a:ext cx="2651760" cy="1005840"/>
          </a:xfrm>
          <a:prstGeom prst="roundRect">
            <a:avLst>
              <a:gd name="adj" fmla="val 7273"/>
            </a:avLst>
          </a:prstGeom>
          <a:solidFill>
            <a:srgbClr val="F5F8F8"/>
          </a:solidFill>
          <a:ln w="12700">
            <a:solidFill>
              <a:srgbClr val="F5F8F8"/>
            </a:solidFill>
            <a:prstDash val="solid"/>
          </a:ln>
        </p:spPr>
      </p:sp>
      <p:sp>
        <p:nvSpPr>
          <p:cNvPr id="5" name="Shape 3"/>
          <p:cNvSpPr/>
          <p:nvPr/>
        </p:nvSpPr>
        <p:spPr>
          <a:xfrm>
            <a:off x="457200" y="1371600"/>
            <a:ext cx="82296" cy="1005840"/>
          </a:xfrm>
          <a:prstGeom prst="rect">
            <a:avLst/>
          </a:prstGeom>
          <a:solidFill>
            <a:srgbClr val="1C7C7D"/>
          </a:solidFill>
          <a:ln w="12700">
            <a:solidFill>
              <a:srgbClr val="1C7C7D"/>
            </a:solidFill>
            <a:prstDash val="solid"/>
          </a:ln>
        </p:spPr>
      </p:sp>
      <p:sp>
        <p:nvSpPr>
          <p:cNvPr id="6" name="Text 4"/>
          <p:cNvSpPr txBox="1"/>
          <p:nvPr/>
        </p:nvSpPr>
        <p:spPr>
          <a:xfrm>
            <a:off x="640080" y="1371600"/>
            <a:ext cx="2377440" cy="10058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1. 販売データ分析</a:t>
            </a:r>
            <a:endParaRPr lang="en-US" sz="1300" dirty="0"/>
          </a:p>
          <a:p>
            <a:pPr indent="0" marL="0">
              <a:buNone/>
            </a:pPr>
            <a:r>
              <a:rPr lang="en-US" sz="1050" dirty="0">
                <a:solidFill>
                  <a:srgbClr val="5F6C72"/>
                </a:solidFill>
                <a:latin typeface="Yu Gothic" pitchFamily="34" charset="0"/>
                <a:ea typeface="Yu Gothic" pitchFamily="34" charset="-122"/>
                <a:cs typeface="Yu Gothic" pitchFamily="34" charset="-120"/>
              </a:rPr>
              <a:t>市場規模・PB/NB・内部構造</a:t>
            </a:r>
            <a:endParaRPr lang="en-US" sz="1300" dirty="0"/>
          </a:p>
        </p:txBody>
      </p:sp>
      <p:sp>
        <p:nvSpPr>
          <p:cNvPr id="7" name="Shape 5"/>
          <p:cNvSpPr/>
          <p:nvPr/>
        </p:nvSpPr>
        <p:spPr>
          <a:xfrm>
            <a:off x="3291840" y="1371600"/>
            <a:ext cx="2651760" cy="1005840"/>
          </a:xfrm>
          <a:prstGeom prst="roundRect">
            <a:avLst>
              <a:gd name="adj" fmla="val 7273"/>
            </a:avLst>
          </a:prstGeom>
          <a:solidFill>
            <a:srgbClr val="F5F8F8"/>
          </a:solidFill>
          <a:ln w="12700">
            <a:solidFill>
              <a:srgbClr val="F5F8F8"/>
            </a:solidFill>
            <a:prstDash val="solid"/>
          </a:ln>
        </p:spPr>
      </p:sp>
      <p:sp>
        <p:nvSpPr>
          <p:cNvPr id="8" name="Shape 6"/>
          <p:cNvSpPr/>
          <p:nvPr/>
        </p:nvSpPr>
        <p:spPr>
          <a:xfrm>
            <a:off x="3291840" y="1371600"/>
            <a:ext cx="82296" cy="1005840"/>
          </a:xfrm>
          <a:prstGeom prst="rect">
            <a:avLst/>
          </a:prstGeom>
          <a:solidFill>
            <a:srgbClr val="1C7C7D"/>
          </a:solidFill>
          <a:ln w="12700">
            <a:solidFill>
              <a:srgbClr val="1C7C7D"/>
            </a:solidFill>
            <a:prstDash val="solid"/>
          </a:ln>
        </p:spPr>
      </p:sp>
      <p:sp>
        <p:nvSpPr>
          <p:cNvPr id="9" name="Text 7"/>
          <p:cNvSpPr txBox="1"/>
          <p:nvPr/>
        </p:nvSpPr>
        <p:spPr>
          <a:xfrm>
            <a:off x="3474720" y="1371600"/>
            <a:ext cx="2377440" cy="10058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2. AIを含む仮説抽出</a:t>
            </a:r>
            <a:endParaRPr lang="en-US" sz="1300" dirty="0"/>
          </a:p>
          <a:p>
            <a:pPr indent="0" marL="0">
              <a:buNone/>
            </a:pPr>
            <a:r>
              <a:rPr lang="en-US" sz="1050" dirty="0">
                <a:solidFill>
                  <a:srgbClr val="5F6C72"/>
                </a:solidFill>
                <a:latin typeface="Yu Gothic" pitchFamily="34" charset="0"/>
                <a:ea typeface="Yu Gothic" pitchFamily="34" charset="-122"/>
                <a:cs typeface="Yu Gothic" pitchFamily="34" charset="-120"/>
              </a:rPr>
              <a:t>PB空白・後退・成功・成長</a:t>
            </a:r>
            <a:endParaRPr lang="en-US" sz="1300" dirty="0"/>
          </a:p>
        </p:txBody>
      </p:sp>
      <p:sp>
        <p:nvSpPr>
          <p:cNvPr id="10" name="Shape 8"/>
          <p:cNvSpPr/>
          <p:nvPr/>
        </p:nvSpPr>
        <p:spPr>
          <a:xfrm>
            <a:off x="6126480" y="1371600"/>
            <a:ext cx="2651760" cy="1005840"/>
          </a:xfrm>
          <a:prstGeom prst="roundRect">
            <a:avLst>
              <a:gd name="adj" fmla="val 7273"/>
            </a:avLst>
          </a:prstGeom>
          <a:solidFill>
            <a:srgbClr val="F5F8F8"/>
          </a:solidFill>
          <a:ln w="12700">
            <a:solidFill>
              <a:srgbClr val="F5F8F8"/>
            </a:solidFill>
            <a:prstDash val="solid"/>
          </a:ln>
        </p:spPr>
      </p:sp>
      <p:sp>
        <p:nvSpPr>
          <p:cNvPr id="11" name="Shape 9"/>
          <p:cNvSpPr/>
          <p:nvPr/>
        </p:nvSpPr>
        <p:spPr>
          <a:xfrm>
            <a:off x="6126480" y="1371600"/>
            <a:ext cx="82296" cy="1005840"/>
          </a:xfrm>
          <a:prstGeom prst="rect">
            <a:avLst/>
          </a:prstGeom>
          <a:solidFill>
            <a:srgbClr val="E67E22"/>
          </a:solidFill>
          <a:ln w="12700">
            <a:solidFill>
              <a:srgbClr val="E67E22"/>
            </a:solidFill>
            <a:prstDash val="solid"/>
          </a:ln>
        </p:spPr>
      </p:sp>
      <p:sp>
        <p:nvSpPr>
          <p:cNvPr id="12" name="Text 10"/>
          <p:cNvSpPr txBox="1"/>
          <p:nvPr/>
        </p:nvSpPr>
        <p:spPr>
          <a:xfrm>
            <a:off x="6309360" y="1371600"/>
            <a:ext cx="2377440" cy="10058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3. トライアル様と確認</a:t>
            </a:r>
            <a:endParaRPr lang="en-US" sz="1300" dirty="0"/>
          </a:p>
          <a:p>
            <a:pPr indent="0" marL="0">
              <a:buNone/>
            </a:pPr>
            <a:r>
              <a:rPr lang="en-US" sz="1050" dirty="0">
                <a:solidFill>
                  <a:srgbClr val="5F6C72"/>
                </a:solidFill>
                <a:latin typeface="Yu Gothic" pitchFamily="34" charset="0"/>
                <a:ea typeface="Yu Gothic" pitchFamily="34" charset="-122"/>
                <a:cs typeface="Yu Gothic" pitchFamily="34" charset="-120"/>
              </a:rPr>
              <a:t>PB方針・売場・価格・品質・過去PB</a:t>
            </a:r>
            <a:endParaRPr lang="en-US" sz="1300" dirty="0"/>
          </a:p>
        </p:txBody>
      </p:sp>
      <p:sp>
        <p:nvSpPr>
          <p:cNvPr id="13" name="Shape 11"/>
          <p:cNvSpPr/>
          <p:nvPr/>
        </p:nvSpPr>
        <p:spPr>
          <a:xfrm>
            <a:off x="8961120" y="1371600"/>
            <a:ext cx="2651760" cy="1005840"/>
          </a:xfrm>
          <a:prstGeom prst="roundRect">
            <a:avLst>
              <a:gd name="adj" fmla="val 7273"/>
            </a:avLst>
          </a:prstGeom>
          <a:solidFill>
            <a:srgbClr val="F5F8F8"/>
          </a:solidFill>
          <a:ln w="12700">
            <a:solidFill>
              <a:srgbClr val="F5F8F8"/>
            </a:solidFill>
            <a:prstDash val="solid"/>
          </a:ln>
        </p:spPr>
      </p:sp>
      <p:sp>
        <p:nvSpPr>
          <p:cNvPr id="14" name="Shape 12"/>
          <p:cNvSpPr/>
          <p:nvPr/>
        </p:nvSpPr>
        <p:spPr>
          <a:xfrm>
            <a:off x="8961120" y="1371600"/>
            <a:ext cx="82296" cy="1005840"/>
          </a:xfrm>
          <a:prstGeom prst="rect">
            <a:avLst/>
          </a:prstGeom>
          <a:solidFill>
            <a:srgbClr val="1C7C7D"/>
          </a:solidFill>
          <a:ln w="12700">
            <a:solidFill>
              <a:srgbClr val="1C7C7D"/>
            </a:solidFill>
            <a:prstDash val="solid"/>
          </a:ln>
        </p:spPr>
      </p:sp>
      <p:sp>
        <p:nvSpPr>
          <p:cNvPr id="15" name="Text 13"/>
          <p:cNvSpPr txBox="1"/>
          <p:nvPr/>
        </p:nvSpPr>
        <p:spPr>
          <a:xfrm>
            <a:off x="9144000" y="1371600"/>
            <a:ext cx="2377440" cy="10058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4. 商品企画</a:t>
            </a:r>
            <a:endParaRPr lang="en-US" sz="1300" dirty="0"/>
          </a:p>
          <a:p>
            <a:pPr indent="0" marL="0">
              <a:buNone/>
            </a:pPr>
            <a:r>
              <a:rPr lang="en-US" sz="1050" dirty="0">
                <a:solidFill>
                  <a:srgbClr val="5F6C72"/>
                </a:solidFill>
                <a:latin typeface="Yu Gothic" pitchFamily="34" charset="0"/>
                <a:ea typeface="Yu Gothic" pitchFamily="34" charset="-122"/>
                <a:cs typeface="Yu Gothic" pitchFamily="34" charset="-120"/>
              </a:rPr>
              <a:t>ターゲット・機能・容量・価格</a:t>
            </a:r>
            <a:endParaRPr lang="en-US" sz="1300" dirty="0"/>
          </a:p>
        </p:txBody>
      </p:sp>
      <p:sp>
        <p:nvSpPr>
          <p:cNvPr id="16" name="Shape 14"/>
          <p:cNvSpPr/>
          <p:nvPr/>
        </p:nvSpPr>
        <p:spPr>
          <a:xfrm>
            <a:off x="457200" y="2560320"/>
            <a:ext cx="2651760" cy="1005840"/>
          </a:xfrm>
          <a:prstGeom prst="roundRect">
            <a:avLst>
              <a:gd name="adj" fmla="val 7273"/>
            </a:avLst>
          </a:prstGeom>
          <a:solidFill>
            <a:srgbClr val="F5F8F8"/>
          </a:solidFill>
          <a:ln w="12700">
            <a:solidFill>
              <a:srgbClr val="F5F8F8"/>
            </a:solidFill>
            <a:prstDash val="solid"/>
          </a:ln>
        </p:spPr>
      </p:sp>
      <p:sp>
        <p:nvSpPr>
          <p:cNvPr id="17" name="Shape 15"/>
          <p:cNvSpPr/>
          <p:nvPr/>
        </p:nvSpPr>
        <p:spPr>
          <a:xfrm>
            <a:off x="457200" y="2560320"/>
            <a:ext cx="82296" cy="1005840"/>
          </a:xfrm>
          <a:prstGeom prst="rect">
            <a:avLst/>
          </a:prstGeom>
          <a:solidFill>
            <a:srgbClr val="1C7C7D"/>
          </a:solidFill>
          <a:ln w="12700">
            <a:solidFill>
              <a:srgbClr val="1C7C7D"/>
            </a:solidFill>
            <a:prstDash val="solid"/>
          </a:ln>
        </p:spPr>
      </p:sp>
      <p:sp>
        <p:nvSpPr>
          <p:cNvPr id="18" name="Text 16"/>
          <p:cNvSpPr txBox="1"/>
          <p:nvPr/>
        </p:nvSpPr>
        <p:spPr>
          <a:xfrm>
            <a:off x="640080" y="2560320"/>
            <a:ext cx="2377440" cy="10058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5. 調達・OEM開発</a:t>
            </a:r>
            <a:endParaRPr lang="en-US" sz="1300" dirty="0"/>
          </a:p>
          <a:p>
            <a:pPr indent="0" marL="0">
              <a:buNone/>
            </a:pPr>
            <a:r>
              <a:rPr lang="en-US" sz="1050" dirty="0">
                <a:solidFill>
                  <a:srgbClr val="5F6C72"/>
                </a:solidFill>
                <a:latin typeface="Yu Gothic" pitchFamily="34" charset="0"/>
                <a:ea typeface="Yu Gothic" pitchFamily="34" charset="-122"/>
                <a:cs typeface="Yu Gothic" pitchFamily="34" charset="-120"/>
              </a:rPr>
              <a:t>国内外工場・原料・MOQ</a:t>
            </a:r>
            <a:endParaRPr lang="en-US" sz="1300" dirty="0"/>
          </a:p>
        </p:txBody>
      </p:sp>
      <p:sp>
        <p:nvSpPr>
          <p:cNvPr id="19" name="Shape 17"/>
          <p:cNvSpPr/>
          <p:nvPr/>
        </p:nvSpPr>
        <p:spPr>
          <a:xfrm>
            <a:off x="3291840" y="2560320"/>
            <a:ext cx="2651760" cy="1005840"/>
          </a:xfrm>
          <a:prstGeom prst="roundRect">
            <a:avLst>
              <a:gd name="adj" fmla="val 7273"/>
            </a:avLst>
          </a:prstGeom>
          <a:solidFill>
            <a:srgbClr val="F5F8F8"/>
          </a:solidFill>
          <a:ln w="12700">
            <a:solidFill>
              <a:srgbClr val="F5F8F8"/>
            </a:solidFill>
            <a:prstDash val="solid"/>
          </a:ln>
        </p:spPr>
      </p:sp>
      <p:sp>
        <p:nvSpPr>
          <p:cNvPr id="20" name="Shape 18"/>
          <p:cNvSpPr/>
          <p:nvPr/>
        </p:nvSpPr>
        <p:spPr>
          <a:xfrm>
            <a:off x="3291840" y="2560320"/>
            <a:ext cx="82296" cy="1005840"/>
          </a:xfrm>
          <a:prstGeom prst="rect">
            <a:avLst/>
          </a:prstGeom>
          <a:solidFill>
            <a:srgbClr val="1C7C7D"/>
          </a:solidFill>
          <a:ln w="12700">
            <a:solidFill>
              <a:srgbClr val="1C7C7D"/>
            </a:solidFill>
            <a:prstDash val="solid"/>
          </a:ln>
        </p:spPr>
      </p:sp>
      <p:sp>
        <p:nvSpPr>
          <p:cNvPr id="21" name="Text 19"/>
          <p:cNvSpPr txBox="1"/>
          <p:nvPr/>
        </p:nvSpPr>
        <p:spPr>
          <a:xfrm>
            <a:off x="3474720" y="2560320"/>
            <a:ext cx="2377440" cy="10058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6. サンプル・評価</a:t>
            </a:r>
            <a:endParaRPr lang="en-US" sz="1300" dirty="0"/>
          </a:p>
          <a:p>
            <a:pPr indent="0" marL="0">
              <a:buNone/>
            </a:pPr>
            <a:r>
              <a:rPr lang="en-US" sz="1050" dirty="0">
                <a:solidFill>
                  <a:srgbClr val="5F6C72"/>
                </a:solidFill>
                <a:latin typeface="Yu Gothic" pitchFamily="34" charset="0"/>
                <a:ea typeface="Yu Gothic" pitchFamily="34" charset="-122"/>
                <a:cs typeface="Yu Gothic" pitchFamily="34" charset="-120"/>
              </a:rPr>
              <a:t>品質・嗜好性・機能・価格</a:t>
            </a:r>
            <a:endParaRPr lang="en-US" sz="1300" dirty="0"/>
          </a:p>
        </p:txBody>
      </p:sp>
      <p:sp>
        <p:nvSpPr>
          <p:cNvPr id="22" name="Shape 20"/>
          <p:cNvSpPr/>
          <p:nvPr/>
        </p:nvSpPr>
        <p:spPr>
          <a:xfrm>
            <a:off x="6126480" y="2560320"/>
            <a:ext cx="2651760" cy="1005840"/>
          </a:xfrm>
          <a:prstGeom prst="roundRect">
            <a:avLst>
              <a:gd name="adj" fmla="val 7273"/>
            </a:avLst>
          </a:prstGeom>
          <a:solidFill>
            <a:srgbClr val="F5F8F8"/>
          </a:solidFill>
          <a:ln w="12700">
            <a:solidFill>
              <a:srgbClr val="F5F8F8"/>
            </a:solidFill>
            <a:prstDash val="solid"/>
          </a:ln>
        </p:spPr>
      </p:sp>
      <p:sp>
        <p:nvSpPr>
          <p:cNvPr id="23" name="Shape 21"/>
          <p:cNvSpPr/>
          <p:nvPr/>
        </p:nvSpPr>
        <p:spPr>
          <a:xfrm>
            <a:off x="6126480" y="2560320"/>
            <a:ext cx="82296" cy="1005840"/>
          </a:xfrm>
          <a:prstGeom prst="rect">
            <a:avLst/>
          </a:prstGeom>
          <a:solidFill>
            <a:srgbClr val="1C7C7D"/>
          </a:solidFill>
          <a:ln w="12700">
            <a:solidFill>
              <a:srgbClr val="1C7C7D"/>
            </a:solidFill>
            <a:prstDash val="solid"/>
          </a:ln>
        </p:spPr>
      </p:sp>
      <p:sp>
        <p:nvSpPr>
          <p:cNvPr id="24" name="Text 22"/>
          <p:cNvSpPr txBox="1"/>
          <p:nvPr/>
        </p:nvSpPr>
        <p:spPr>
          <a:xfrm>
            <a:off x="6309360" y="2560320"/>
            <a:ext cx="2377440" cy="10058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7. 導入・販売</a:t>
            </a:r>
            <a:endParaRPr lang="en-US" sz="1300" dirty="0"/>
          </a:p>
          <a:p>
            <a:pPr indent="0" marL="0">
              <a:buNone/>
            </a:pPr>
            <a:r>
              <a:rPr lang="en-US" sz="1050" dirty="0">
                <a:solidFill>
                  <a:srgbClr val="5F6C72"/>
                </a:solidFill>
                <a:latin typeface="Yu Gothic" pitchFamily="34" charset="0"/>
                <a:ea typeface="Yu Gothic" pitchFamily="34" charset="-122"/>
                <a:cs typeface="Yu Gothic" pitchFamily="34" charset="-120"/>
              </a:rPr>
              <a:t>採用条件に合わせ商品化・供給</a:t>
            </a:r>
            <a:endParaRPr lang="en-US" sz="1300" dirty="0"/>
          </a:p>
        </p:txBody>
      </p:sp>
      <p:sp>
        <p:nvSpPr>
          <p:cNvPr id="25" name="Shape 23"/>
          <p:cNvSpPr/>
          <p:nvPr/>
        </p:nvSpPr>
        <p:spPr>
          <a:xfrm>
            <a:off x="8961120" y="2560320"/>
            <a:ext cx="2651760" cy="1005840"/>
          </a:xfrm>
          <a:prstGeom prst="roundRect">
            <a:avLst>
              <a:gd name="adj" fmla="val 7273"/>
            </a:avLst>
          </a:prstGeom>
          <a:solidFill>
            <a:srgbClr val="F5F8F8"/>
          </a:solidFill>
          <a:ln w="12700">
            <a:solidFill>
              <a:srgbClr val="F5F8F8"/>
            </a:solidFill>
            <a:prstDash val="solid"/>
          </a:ln>
        </p:spPr>
      </p:sp>
      <p:sp>
        <p:nvSpPr>
          <p:cNvPr id="26" name="Shape 24"/>
          <p:cNvSpPr/>
          <p:nvPr/>
        </p:nvSpPr>
        <p:spPr>
          <a:xfrm>
            <a:off x="8961120" y="2560320"/>
            <a:ext cx="82296" cy="1005840"/>
          </a:xfrm>
          <a:prstGeom prst="rect">
            <a:avLst/>
          </a:prstGeom>
          <a:solidFill>
            <a:srgbClr val="1C7C7D"/>
          </a:solidFill>
          <a:ln w="12700">
            <a:solidFill>
              <a:srgbClr val="1C7C7D"/>
            </a:solidFill>
            <a:prstDash val="solid"/>
          </a:ln>
        </p:spPr>
      </p:sp>
      <p:sp>
        <p:nvSpPr>
          <p:cNvPr id="27" name="Text 25"/>
          <p:cNvSpPr txBox="1"/>
          <p:nvPr/>
        </p:nvSpPr>
        <p:spPr>
          <a:xfrm>
            <a:off x="9144000" y="2560320"/>
            <a:ext cx="2377440" cy="100584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8. 販売後検証</a:t>
            </a:r>
            <a:endParaRPr lang="en-US" sz="1300" dirty="0"/>
          </a:p>
          <a:p>
            <a:pPr indent="0" marL="0">
              <a:buNone/>
            </a:pPr>
            <a:r>
              <a:rPr lang="en-US" sz="1050" dirty="0">
                <a:solidFill>
                  <a:srgbClr val="5F6C72"/>
                </a:solidFill>
                <a:latin typeface="Yu Gothic" pitchFamily="34" charset="0"/>
                <a:ea typeface="Yu Gothic" pitchFamily="34" charset="-122"/>
                <a:cs typeface="Yu Gothic" pitchFamily="34" charset="-120"/>
              </a:rPr>
              <a:t>再分析し改善・次の開発へ</a:t>
            </a:r>
            <a:endParaRPr lang="en-US" sz="1300" dirty="0"/>
          </a:p>
        </p:txBody>
      </p:sp>
      <p:sp>
        <p:nvSpPr>
          <p:cNvPr id="28" name="Shape 26"/>
          <p:cNvSpPr/>
          <p:nvPr/>
        </p:nvSpPr>
        <p:spPr>
          <a:xfrm>
            <a:off x="457200" y="3931920"/>
            <a:ext cx="3611880" cy="457200"/>
          </a:xfrm>
          <a:prstGeom prst="rect">
            <a:avLst/>
          </a:prstGeom>
          <a:solidFill>
            <a:srgbClr val="1C7C7D"/>
          </a:solidFill>
          <a:ln w="12700">
            <a:solidFill>
              <a:srgbClr val="1C7C7D"/>
            </a:solidFill>
            <a:prstDash val="solid"/>
          </a:ln>
        </p:spPr>
      </p:sp>
      <p:sp>
        <p:nvSpPr>
          <p:cNvPr id="29" name="Text 27"/>
          <p:cNvSpPr txBox="1"/>
          <p:nvPr/>
        </p:nvSpPr>
        <p:spPr>
          <a:xfrm>
            <a:off x="457200" y="3931920"/>
            <a:ext cx="36118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トライアル様</a:t>
            </a:r>
            <a:endParaRPr lang="en-US" sz="1400" dirty="0"/>
          </a:p>
        </p:txBody>
      </p:sp>
      <p:sp>
        <p:nvSpPr>
          <p:cNvPr id="30" name="Shape 28"/>
          <p:cNvSpPr/>
          <p:nvPr/>
        </p:nvSpPr>
        <p:spPr>
          <a:xfrm>
            <a:off x="457200" y="4389120"/>
            <a:ext cx="3611880" cy="1005840"/>
          </a:xfrm>
          <a:prstGeom prst="rect">
            <a:avLst/>
          </a:prstGeom>
          <a:solidFill>
            <a:srgbClr val="FFFFFF"/>
          </a:solidFill>
          <a:ln w="12700">
            <a:solidFill>
              <a:srgbClr val="1C7C7D"/>
            </a:solidFill>
            <a:prstDash val="solid"/>
          </a:ln>
        </p:spPr>
      </p:sp>
      <p:sp>
        <p:nvSpPr>
          <p:cNvPr id="31" name="Text 29"/>
          <p:cNvSpPr txBox="1"/>
          <p:nvPr/>
        </p:nvSpPr>
        <p:spPr>
          <a:xfrm>
            <a:off x="594360" y="4389120"/>
            <a:ext cx="3337560" cy="1005840"/>
          </a:xfrm>
          <a:prstGeom prst="rect">
            <a:avLst/>
          </a:prstGeom>
          <a:noFill/>
          <a:ln/>
        </p:spPr>
        <p:txBody>
          <a:bodyPr wrap="square" lIns="0" tIns="0" rIns="0" bIns="0" rtlCol="0" anchor="ctr"/>
          <a:lstStyle/>
          <a:p>
            <a:pPr algn="ctr" indent="0" marL="0">
              <a:buNone/>
            </a:pPr>
            <a:r>
              <a:rPr lang="en-US" sz="1200" dirty="0">
                <a:solidFill>
                  <a:srgbClr val="1F2933"/>
                </a:solidFill>
                <a:latin typeface="Yu Gothic" pitchFamily="34" charset="0"/>
                <a:ea typeface="Yu Gothic" pitchFamily="34" charset="-122"/>
                <a:cs typeface="Yu Gothic" pitchFamily="34" charset="-120"/>
              </a:rPr>
              <a:t>販売実績 / 顧客購買 / 売場 / PB戦略 / 価格・導入条件</a:t>
            </a:r>
            <a:endParaRPr lang="en-US" sz="1200" dirty="0"/>
          </a:p>
        </p:txBody>
      </p:sp>
      <p:sp>
        <p:nvSpPr>
          <p:cNvPr id="32" name="Shape 30"/>
          <p:cNvSpPr/>
          <p:nvPr/>
        </p:nvSpPr>
        <p:spPr>
          <a:xfrm>
            <a:off x="4251960" y="3931920"/>
            <a:ext cx="3611880" cy="457200"/>
          </a:xfrm>
          <a:prstGeom prst="rect">
            <a:avLst/>
          </a:prstGeom>
          <a:solidFill>
            <a:srgbClr val="E67E22"/>
          </a:solidFill>
          <a:ln w="12700">
            <a:solidFill>
              <a:srgbClr val="E67E22"/>
            </a:solidFill>
            <a:prstDash val="solid"/>
          </a:ln>
        </p:spPr>
      </p:sp>
      <p:sp>
        <p:nvSpPr>
          <p:cNvPr id="33" name="Text 31"/>
          <p:cNvSpPr txBox="1"/>
          <p:nvPr/>
        </p:nvSpPr>
        <p:spPr>
          <a:xfrm>
            <a:off x="4251960" y="3931920"/>
            <a:ext cx="36118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共同領域</a:t>
            </a:r>
            <a:endParaRPr lang="en-US" sz="1400" dirty="0"/>
          </a:p>
        </p:txBody>
      </p:sp>
      <p:sp>
        <p:nvSpPr>
          <p:cNvPr id="34" name="Shape 32"/>
          <p:cNvSpPr/>
          <p:nvPr/>
        </p:nvSpPr>
        <p:spPr>
          <a:xfrm>
            <a:off x="4251960" y="4389120"/>
            <a:ext cx="3611880" cy="1005840"/>
          </a:xfrm>
          <a:prstGeom prst="rect">
            <a:avLst/>
          </a:prstGeom>
          <a:solidFill>
            <a:srgbClr val="FFFFFF"/>
          </a:solidFill>
          <a:ln w="12700">
            <a:solidFill>
              <a:srgbClr val="E67E22"/>
            </a:solidFill>
            <a:prstDash val="solid"/>
          </a:ln>
        </p:spPr>
      </p:sp>
      <p:sp>
        <p:nvSpPr>
          <p:cNvPr id="35" name="Text 33"/>
          <p:cNvSpPr txBox="1"/>
          <p:nvPr/>
        </p:nvSpPr>
        <p:spPr>
          <a:xfrm>
            <a:off x="4389120" y="4389120"/>
            <a:ext cx="3337560" cy="1005840"/>
          </a:xfrm>
          <a:prstGeom prst="rect">
            <a:avLst/>
          </a:prstGeom>
          <a:noFill/>
          <a:ln/>
        </p:spPr>
        <p:txBody>
          <a:bodyPr wrap="square" lIns="0" tIns="0" rIns="0" bIns="0" rtlCol="0" anchor="ctr"/>
          <a:lstStyle/>
          <a:p>
            <a:pPr algn="ctr" indent="0" marL="0">
              <a:buNone/>
            </a:pPr>
            <a:r>
              <a:rPr lang="en-US" sz="1200" dirty="0">
                <a:solidFill>
                  <a:srgbClr val="1F2933"/>
                </a:solidFill>
                <a:latin typeface="Yu Gothic" pitchFamily="34" charset="0"/>
                <a:ea typeface="Yu Gothic" pitchFamily="34" charset="-122"/>
                <a:cs typeface="Yu Gothic" pitchFamily="34" charset="-120"/>
              </a:rPr>
              <a:t>データ分析 / AI分析 / 課題設定 / 商品仮説 / 検証 / 改善</a:t>
            </a:r>
            <a:endParaRPr lang="en-US" sz="1200" dirty="0"/>
          </a:p>
        </p:txBody>
      </p:sp>
      <p:sp>
        <p:nvSpPr>
          <p:cNvPr id="36" name="Shape 34"/>
          <p:cNvSpPr/>
          <p:nvPr/>
        </p:nvSpPr>
        <p:spPr>
          <a:xfrm>
            <a:off x="8046720" y="3931920"/>
            <a:ext cx="3611880" cy="457200"/>
          </a:xfrm>
          <a:prstGeom prst="rect">
            <a:avLst/>
          </a:prstGeom>
          <a:solidFill>
            <a:srgbClr val="0E3B43"/>
          </a:solidFill>
          <a:ln w="12700">
            <a:solidFill>
              <a:srgbClr val="0E3B43"/>
            </a:solidFill>
            <a:prstDash val="solid"/>
          </a:ln>
        </p:spPr>
      </p:sp>
      <p:sp>
        <p:nvSpPr>
          <p:cNvPr id="37" name="Text 35"/>
          <p:cNvSpPr txBox="1"/>
          <p:nvPr/>
        </p:nvSpPr>
        <p:spPr>
          <a:xfrm>
            <a:off x="8046720" y="3931920"/>
            <a:ext cx="36118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Yu Gothic" pitchFamily="34" charset="0"/>
                <a:ea typeface="Yu Gothic" pitchFamily="34" charset="-122"/>
                <a:cs typeface="Yu Gothic" pitchFamily="34" charset="-120"/>
              </a:rPr>
              <a:t>トーエートレーディング</a:t>
            </a:r>
            <a:endParaRPr lang="en-US" sz="1400" dirty="0"/>
          </a:p>
        </p:txBody>
      </p:sp>
      <p:sp>
        <p:nvSpPr>
          <p:cNvPr id="38" name="Shape 36"/>
          <p:cNvSpPr/>
          <p:nvPr/>
        </p:nvSpPr>
        <p:spPr>
          <a:xfrm>
            <a:off x="8046720" y="4389120"/>
            <a:ext cx="3611880" cy="1005840"/>
          </a:xfrm>
          <a:prstGeom prst="rect">
            <a:avLst/>
          </a:prstGeom>
          <a:solidFill>
            <a:srgbClr val="FFFFFF"/>
          </a:solidFill>
          <a:ln w="12700">
            <a:solidFill>
              <a:srgbClr val="0E3B43"/>
            </a:solidFill>
            <a:prstDash val="solid"/>
          </a:ln>
        </p:spPr>
      </p:sp>
      <p:sp>
        <p:nvSpPr>
          <p:cNvPr id="39" name="Text 37"/>
          <p:cNvSpPr txBox="1"/>
          <p:nvPr/>
        </p:nvSpPr>
        <p:spPr>
          <a:xfrm>
            <a:off x="8183880" y="4389120"/>
            <a:ext cx="3337560" cy="1005840"/>
          </a:xfrm>
          <a:prstGeom prst="rect">
            <a:avLst/>
          </a:prstGeom>
          <a:noFill/>
          <a:ln/>
        </p:spPr>
        <p:txBody>
          <a:bodyPr wrap="square" lIns="0" tIns="0" rIns="0" bIns="0" rtlCol="0" anchor="ctr"/>
          <a:lstStyle/>
          <a:p>
            <a:pPr algn="ctr" indent="0" marL="0">
              <a:buNone/>
            </a:pPr>
            <a:r>
              <a:rPr lang="en-US" sz="1200" dirty="0">
                <a:solidFill>
                  <a:srgbClr val="1F2933"/>
                </a:solidFill>
                <a:latin typeface="Yu Gothic" pitchFamily="34" charset="0"/>
                <a:ea typeface="Yu Gothic" pitchFamily="34" charset="-122"/>
                <a:cs typeface="Yu Gothic" pitchFamily="34" charset="-120"/>
              </a:rPr>
              <a:t>ペット専門知識 / 商品企画 / 国内外ソーシング / OEM / 品質 / 商品化・供給</a:t>
            </a:r>
            <a:endParaRPr lang="en-US" sz="1200" dirty="0"/>
          </a:p>
        </p:txBody>
      </p:sp>
      <p:sp>
        <p:nvSpPr>
          <p:cNvPr id="40" name="Text 38"/>
          <p:cNvSpPr txBox="1"/>
          <p:nvPr/>
        </p:nvSpPr>
        <p:spPr>
          <a:xfrm>
            <a:off x="457200" y="5577840"/>
            <a:ext cx="11247120" cy="594360"/>
          </a:xfrm>
          <a:prstGeom prst="rect">
            <a:avLst/>
          </a:prstGeom>
          <a:noFill/>
          <a:ln/>
        </p:spPr>
        <p:txBody>
          <a:bodyPr wrap="square" lIns="0" tIns="0" rIns="0" bIns="0" rtlCol="0" anchor="ctr"/>
          <a:lstStyle/>
          <a:p>
            <a:pPr indent="0" marL="0">
              <a:buNone/>
            </a:pPr>
            <a:r>
              <a:rPr lang="en-US" sz="1300" b="1" dirty="0">
                <a:solidFill>
                  <a:srgbClr val="0E3B43"/>
                </a:solidFill>
                <a:latin typeface="Yu Gothic" pitchFamily="34" charset="0"/>
                <a:ea typeface="Yu Gothic" pitchFamily="34" charset="-122"/>
                <a:cs typeface="Yu Gothic" pitchFamily="34" charset="-120"/>
              </a:rPr>
              <a:t>目標: 「仕入先・卸」に留まらず、データ・AI分析・商品開発力を組み合わせた「商品開発パートナー」として継続的に提案できる体制をつくる。</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今後の基本方針: 4つの開発テーマ</a:t>
            </a:r>
            <a:endParaRPr lang="en-US" sz="2400" dirty="0"/>
          </a:p>
        </p:txBody>
      </p:sp>
      <p:sp>
        <p:nvSpPr>
          <p:cNvPr id="3" name="Shape 1"/>
          <p:cNvSpPr/>
          <p:nvPr/>
        </p:nvSpPr>
        <p:spPr>
          <a:xfrm>
            <a:off x="457200" y="1097280"/>
            <a:ext cx="5486400" cy="1965960"/>
          </a:xfrm>
          <a:prstGeom prst="roundRect">
            <a:avLst>
              <a:gd name="adj" fmla="val 3721"/>
            </a:avLst>
          </a:prstGeom>
          <a:solidFill>
            <a:srgbClr val="E6EEEE"/>
          </a:solidFill>
          <a:ln w="12700">
            <a:solidFill>
              <a:srgbClr val="E6EEEE"/>
            </a:solidFill>
            <a:prstDash val="solid"/>
          </a:ln>
        </p:spPr>
      </p:sp>
      <p:sp>
        <p:nvSpPr>
          <p:cNvPr id="4" name="Text 2"/>
          <p:cNvSpPr txBox="1"/>
          <p:nvPr/>
        </p:nvSpPr>
        <p:spPr>
          <a:xfrm>
            <a:off x="594360" y="1188720"/>
            <a:ext cx="5212080" cy="1783080"/>
          </a:xfrm>
          <a:prstGeom prst="rect">
            <a:avLst/>
          </a:prstGeom>
          <a:noFill/>
          <a:ln/>
        </p:spPr>
        <p:txBody>
          <a:bodyPr wrap="square" lIns="25400" tIns="25400" rIns="25400" bIns="25400" rtlCol="0" anchor="t"/>
          <a:lstStyle/>
          <a:p>
            <a:pPr indent="0" marL="0">
              <a:spcAft>
                <a:spcPts val="600"/>
              </a:spcAft>
              <a:buNone/>
            </a:pPr>
            <a:r>
              <a:rPr lang="en-US" sz="1700" b="1" dirty="0">
                <a:solidFill>
                  <a:srgbClr val="E67E22"/>
                </a:solidFill>
                <a:latin typeface="Yu Gothic" pitchFamily="34" charset="0"/>
                <a:ea typeface="Yu Gothic" pitchFamily="34" charset="-122"/>
                <a:cs typeface="Yu Gothic" pitchFamily="34" charset="-120"/>
              </a:rPr>
              <a:t>① 猫フードを最重要領域として深掘り</a:t>
            </a:r>
            <a:endParaRPr lang="en-US" sz="1700" dirty="0"/>
          </a:p>
          <a:p>
            <a:pPr indent="0" marL="0">
              <a:spcAft>
                <a:spcPts val="400"/>
              </a:spcAft>
              <a:buNone/>
            </a:pPr>
            <a:r>
              <a:rPr lang="en-US" sz="1450" dirty="0">
                <a:solidFill>
                  <a:srgbClr val="1F2933"/>
                </a:solidFill>
                <a:latin typeface="Yu Gothic" pitchFamily="34" charset="0"/>
                <a:ea typeface="Yu Gothic" pitchFamily="34" charset="-122"/>
                <a:cs typeface="Yu Gothic" pitchFamily="34" charset="-120"/>
              </a:rPr>
              <a:t>猫ドライ・猫ウェット・猫スナックは大市場だが内部のPB状態が大きく異なる。商品形態・機能・価格帯ごとにPB成立条件を解明する。</a:t>
            </a:r>
            <a:endParaRPr lang="en-US" sz="1700" dirty="0"/>
          </a:p>
        </p:txBody>
      </p:sp>
      <p:sp>
        <p:nvSpPr>
          <p:cNvPr id="5" name="Shape 3"/>
          <p:cNvSpPr/>
          <p:nvPr/>
        </p:nvSpPr>
        <p:spPr>
          <a:xfrm>
            <a:off x="6126480" y="1097280"/>
            <a:ext cx="5486400" cy="1965960"/>
          </a:xfrm>
          <a:prstGeom prst="roundRect">
            <a:avLst>
              <a:gd name="adj" fmla="val 3721"/>
            </a:avLst>
          </a:prstGeom>
          <a:solidFill>
            <a:srgbClr val="E6EEEE"/>
          </a:solidFill>
          <a:ln w="12700">
            <a:solidFill>
              <a:srgbClr val="E6EEEE"/>
            </a:solidFill>
            <a:prstDash val="solid"/>
          </a:ln>
        </p:spPr>
      </p:sp>
      <p:sp>
        <p:nvSpPr>
          <p:cNvPr id="6" name="Text 4"/>
          <p:cNvSpPr txBox="1"/>
          <p:nvPr/>
        </p:nvSpPr>
        <p:spPr>
          <a:xfrm>
            <a:off x="6263640" y="1188720"/>
            <a:ext cx="5212080" cy="1783080"/>
          </a:xfrm>
          <a:prstGeom prst="rect">
            <a:avLst/>
          </a:prstGeom>
          <a:noFill/>
          <a:ln/>
        </p:spPr>
        <p:txBody>
          <a:bodyPr wrap="square" lIns="25400" tIns="25400" rIns="25400" bIns="25400" rtlCol="0" anchor="t"/>
          <a:lstStyle/>
          <a:p>
            <a:pPr indent="0" marL="0">
              <a:spcAft>
                <a:spcPts val="600"/>
              </a:spcAft>
              <a:buNone/>
            </a:pPr>
            <a:r>
              <a:rPr lang="en-US" sz="1700" b="1" dirty="0">
                <a:solidFill>
                  <a:srgbClr val="0E3B43"/>
                </a:solidFill>
                <a:latin typeface="Yu Gothic" pitchFamily="34" charset="0"/>
                <a:ea typeface="Yu Gothic" pitchFamily="34" charset="-122"/>
                <a:cs typeface="Yu Gothic" pitchFamily="34" charset="-120"/>
              </a:rPr>
              <a:t>② 機能性フードを中長期テーマとして調査</a:t>
            </a:r>
            <a:endParaRPr lang="en-US" sz="1700" dirty="0"/>
          </a:p>
          <a:p>
            <a:pPr indent="0" marL="0">
              <a:spcAft>
                <a:spcPts val="400"/>
              </a:spcAft>
              <a:buNone/>
            </a:pPr>
            <a:r>
              <a:rPr lang="en-US" sz="1450" dirty="0">
                <a:solidFill>
                  <a:srgbClr val="1F2933"/>
                </a:solidFill>
                <a:latin typeface="Yu Gothic" pitchFamily="34" charset="0"/>
                <a:ea typeface="Yu Gothic" pitchFamily="34" charset="-122"/>
                <a:cs typeface="Yu Gothic" pitchFamily="34" charset="-120"/>
              </a:rPr>
              <a:t>猫ドライ機能食 13.15億円、犬ドライ機能食 8.24億円の市場でPBは空白。未提案か、品質基準・エビデンス・NBブランド・価格・製造条件に理由があるかを確認。</a:t>
            </a:r>
            <a:endParaRPr lang="en-US" sz="1700" dirty="0"/>
          </a:p>
        </p:txBody>
      </p:sp>
      <p:sp>
        <p:nvSpPr>
          <p:cNvPr id="7" name="Shape 5"/>
          <p:cNvSpPr/>
          <p:nvPr/>
        </p:nvSpPr>
        <p:spPr>
          <a:xfrm>
            <a:off x="457200" y="3246120"/>
            <a:ext cx="5486400" cy="1965960"/>
          </a:xfrm>
          <a:prstGeom prst="roundRect">
            <a:avLst>
              <a:gd name="adj" fmla="val 3721"/>
            </a:avLst>
          </a:prstGeom>
          <a:solidFill>
            <a:srgbClr val="E6EEEE"/>
          </a:solidFill>
          <a:ln w="12700">
            <a:solidFill>
              <a:srgbClr val="E6EEEE"/>
            </a:solidFill>
            <a:prstDash val="solid"/>
          </a:ln>
        </p:spPr>
      </p:sp>
      <p:sp>
        <p:nvSpPr>
          <p:cNvPr id="8" name="Text 6"/>
          <p:cNvSpPr txBox="1"/>
          <p:nvPr/>
        </p:nvSpPr>
        <p:spPr>
          <a:xfrm>
            <a:off x="594360" y="3337560"/>
            <a:ext cx="5212080" cy="1783080"/>
          </a:xfrm>
          <a:prstGeom prst="rect">
            <a:avLst/>
          </a:prstGeom>
          <a:noFill/>
          <a:ln/>
        </p:spPr>
        <p:txBody>
          <a:bodyPr wrap="square" lIns="25400" tIns="25400" rIns="25400" bIns="25400" rtlCol="0" anchor="t"/>
          <a:lstStyle/>
          <a:p>
            <a:pPr indent="0" marL="0">
              <a:spcAft>
                <a:spcPts val="600"/>
              </a:spcAft>
              <a:buNone/>
            </a:pPr>
            <a:r>
              <a:rPr lang="en-US" sz="1700" b="1" dirty="0">
                <a:solidFill>
                  <a:srgbClr val="0E3B43"/>
                </a:solidFill>
                <a:latin typeface="Yu Gothic" pitchFamily="34" charset="0"/>
                <a:ea typeface="Yu Gothic" pitchFamily="34" charset="-122"/>
                <a:cs typeface="Yu Gothic" pitchFamily="34" charset="-120"/>
              </a:rPr>
              <a:t>③ 犬猫スナックを当社の開発・調達力と結び付ける</a:t>
            </a:r>
            <a:endParaRPr lang="en-US" sz="1700" dirty="0"/>
          </a:p>
          <a:p>
            <a:pPr indent="0" marL="0">
              <a:spcAft>
                <a:spcPts val="400"/>
              </a:spcAft>
              <a:buNone/>
            </a:pPr>
            <a:r>
              <a:rPr lang="en-US" sz="1450" dirty="0">
                <a:solidFill>
                  <a:srgbClr val="1F2933"/>
                </a:solidFill>
                <a:latin typeface="Yu Gothic" pitchFamily="34" charset="0"/>
                <a:ea typeface="Yu Gothic" pitchFamily="34" charset="-122"/>
                <a:cs typeface="Yu Gothic" pitchFamily="34" charset="-120"/>
              </a:rPr>
              <a:t>猫レトルト・猫ドライスナック・犬練り込み/成形・オーラルケアガムについて、国内外OEM・原料・品質・価格面で競争力を持てるかを評価し、候補を絞る。</a:t>
            </a:r>
            <a:endParaRPr lang="en-US" sz="1700" dirty="0"/>
          </a:p>
        </p:txBody>
      </p:sp>
      <p:sp>
        <p:nvSpPr>
          <p:cNvPr id="9" name="Shape 7"/>
          <p:cNvSpPr/>
          <p:nvPr/>
        </p:nvSpPr>
        <p:spPr>
          <a:xfrm>
            <a:off x="6126480" y="3246120"/>
            <a:ext cx="5486400" cy="1965960"/>
          </a:xfrm>
          <a:prstGeom prst="roundRect">
            <a:avLst>
              <a:gd name="adj" fmla="val 3721"/>
            </a:avLst>
          </a:prstGeom>
          <a:solidFill>
            <a:srgbClr val="E6EEEE"/>
          </a:solidFill>
          <a:ln w="12700">
            <a:solidFill>
              <a:srgbClr val="E6EEEE"/>
            </a:solidFill>
            <a:prstDash val="solid"/>
          </a:ln>
        </p:spPr>
      </p:sp>
      <p:sp>
        <p:nvSpPr>
          <p:cNvPr id="10" name="Text 8"/>
          <p:cNvSpPr txBox="1"/>
          <p:nvPr/>
        </p:nvSpPr>
        <p:spPr>
          <a:xfrm>
            <a:off x="6263640" y="3337560"/>
            <a:ext cx="5212080" cy="1783080"/>
          </a:xfrm>
          <a:prstGeom prst="rect">
            <a:avLst/>
          </a:prstGeom>
          <a:noFill/>
          <a:ln/>
        </p:spPr>
        <p:txBody>
          <a:bodyPr wrap="square" lIns="25400" tIns="25400" rIns="25400" bIns="25400" rtlCol="0" anchor="t"/>
          <a:lstStyle/>
          <a:p>
            <a:pPr indent="0" marL="0">
              <a:spcAft>
                <a:spcPts val="600"/>
              </a:spcAft>
              <a:buNone/>
            </a:pPr>
            <a:r>
              <a:rPr lang="en-US" sz="1700" b="1" dirty="0">
                <a:solidFill>
                  <a:srgbClr val="0E3B43"/>
                </a:solidFill>
                <a:latin typeface="Yu Gothic" pitchFamily="34" charset="0"/>
                <a:ea typeface="Yu Gothic" pitchFamily="34" charset="-122"/>
                <a:cs typeface="Yu Gothic" pitchFamily="34" charset="-120"/>
              </a:rPr>
              <a:t>④ 既存PB成功カテゴリーを教材にする</a:t>
            </a:r>
            <a:endParaRPr lang="en-US" sz="1700" dirty="0"/>
          </a:p>
          <a:p>
            <a:pPr indent="0" marL="0">
              <a:spcAft>
                <a:spcPts val="400"/>
              </a:spcAft>
              <a:buNone/>
            </a:pPr>
            <a:r>
              <a:rPr lang="en-US" sz="1450" dirty="0">
                <a:solidFill>
                  <a:srgbClr val="1F2933"/>
                </a:solidFill>
                <a:latin typeface="Yu Gothic" pitchFamily="34" charset="0"/>
                <a:ea typeface="Yu Gothic" pitchFamily="34" charset="-122"/>
                <a:cs typeface="Yu Gothic" pitchFamily="34" charset="-120"/>
              </a:rPr>
              <a:t>猫砂・犬シート・猫ウェット缶はPB高浸透。「なぜPBが成立したか」を分析し、その成功条件を新規カテゴリーへ転用する。</a:t>
            </a:r>
            <a:endParaRPr lang="en-US" sz="1700" dirty="0"/>
          </a:p>
        </p:txBody>
      </p:sp>
      <p:sp>
        <p:nvSpPr>
          <p:cNvPr id="11" name="Shape 9"/>
          <p:cNvSpPr/>
          <p:nvPr/>
        </p:nvSpPr>
        <p:spPr>
          <a:xfrm>
            <a:off x="457200" y="5486400"/>
            <a:ext cx="1517904" cy="640080"/>
          </a:xfrm>
          <a:prstGeom prst="chevron">
            <a:avLst/>
          </a:prstGeom>
          <a:solidFill>
            <a:srgbClr val="1C7C7D"/>
          </a:solidFill>
          <a:ln w="12700">
            <a:solidFill>
              <a:srgbClr val="FFFFFF"/>
            </a:solidFill>
            <a:prstDash val="solid"/>
          </a:ln>
        </p:spPr>
      </p:sp>
      <p:sp>
        <p:nvSpPr>
          <p:cNvPr id="12" name="Text 10"/>
          <p:cNvSpPr txBox="1"/>
          <p:nvPr/>
        </p:nvSpPr>
        <p:spPr>
          <a:xfrm>
            <a:off x="566928" y="5486400"/>
            <a:ext cx="133502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販売データ</a:t>
            </a:r>
            <a:endParaRPr lang="en-US" sz="950" dirty="0"/>
          </a:p>
        </p:txBody>
      </p:sp>
      <p:sp>
        <p:nvSpPr>
          <p:cNvPr id="13" name="Shape 11"/>
          <p:cNvSpPr/>
          <p:nvPr/>
        </p:nvSpPr>
        <p:spPr>
          <a:xfrm>
            <a:off x="2066544" y="5486400"/>
            <a:ext cx="1517904" cy="640080"/>
          </a:xfrm>
          <a:prstGeom prst="chevron">
            <a:avLst/>
          </a:prstGeom>
          <a:solidFill>
            <a:srgbClr val="1C7C7D"/>
          </a:solidFill>
          <a:ln w="12700">
            <a:solidFill>
              <a:srgbClr val="FFFFFF"/>
            </a:solidFill>
            <a:prstDash val="solid"/>
          </a:ln>
        </p:spPr>
      </p:sp>
      <p:sp>
        <p:nvSpPr>
          <p:cNvPr id="14" name="Text 12"/>
          <p:cNvSpPr txBox="1"/>
          <p:nvPr/>
        </p:nvSpPr>
        <p:spPr>
          <a:xfrm>
            <a:off x="2176272" y="5486400"/>
            <a:ext cx="133502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Python分析</a:t>
            </a:r>
            <a:endParaRPr lang="en-US" sz="950" dirty="0"/>
          </a:p>
        </p:txBody>
      </p:sp>
      <p:sp>
        <p:nvSpPr>
          <p:cNvPr id="15" name="Shape 13"/>
          <p:cNvSpPr/>
          <p:nvPr/>
        </p:nvSpPr>
        <p:spPr>
          <a:xfrm>
            <a:off x="3675888" y="5486400"/>
            <a:ext cx="1517904" cy="640080"/>
          </a:xfrm>
          <a:prstGeom prst="chevron">
            <a:avLst/>
          </a:prstGeom>
          <a:solidFill>
            <a:srgbClr val="1C7C7D"/>
          </a:solidFill>
          <a:ln w="12700">
            <a:solidFill>
              <a:srgbClr val="FFFFFF"/>
            </a:solidFill>
            <a:prstDash val="solid"/>
          </a:ln>
        </p:spPr>
      </p:sp>
      <p:sp>
        <p:nvSpPr>
          <p:cNvPr id="16" name="Text 14"/>
          <p:cNvSpPr txBox="1"/>
          <p:nvPr/>
        </p:nvSpPr>
        <p:spPr>
          <a:xfrm>
            <a:off x="3785616" y="5486400"/>
            <a:ext cx="133502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複数AIで仮説</a:t>
            </a:r>
            <a:endParaRPr lang="en-US" sz="950" dirty="0"/>
          </a:p>
        </p:txBody>
      </p:sp>
      <p:sp>
        <p:nvSpPr>
          <p:cNvPr id="17" name="Shape 15"/>
          <p:cNvSpPr/>
          <p:nvPr/>
        </p:nvSpPr>
        <p:spPr>
          <a:xfrm>
            <a:off x="5285232" y="5486400"/>
            <a:ext cx="1517904" cy="640080"/>
          </a:xfrm>
          <a:prstGeom prst="chevron">
            <a:avLst/>
          </a:prstGeom>
          <a:solidFill>
            <a:srgbClr val="1C7C7D"/>
          </a:solidFill>
          <a:ln w="12700">
            <a:solidFill>
              <a:srgbClr val="FFFFFF"/>
            </a:solidFill>
            <a:prstDash val="solid"/>
          </a:ln>
        </p:spPr>
      </p:sp>
      <p:sp>
        <p:nvSpPr>
          <p:cNvPr id="18" name="Text 16"/>
          <p:cNvSpPr txBox="1"/>
          <p:nvPr/>
        </p:nvSpPr>
        <p:spPr>
          <a:xfrm>
            <a:off x="5394960" y="5486400"/>
            <a:ext cx="133502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人による検証</a:t>
            </a:r>
            <a:endParaRPr lang="en-US" sz="950" dirty="0"/>
          </a:p>
        </p:txBody>
      </p:sp>
      <p:sp>
        <p:nvSpPr>
          <p:cNvPr id="19" name="Shape 17"/>
          <p:cNvSpPr/>
          <p:nvPr/>
        </p:nvSpPr>
        <p:spPr>
          <a:xfrm>
            <a:off x="6894576" y="5486400"/>
            <a:ext cx="1517904" cy="640080"/>
          </a:xfrm>
          <a:prstGeom prst="chevron">
            <a:avLst/>
          </a:prstGeom>
          <a:solidFill>
            <a:srgbClr val="E67E22"/>
          </a:solidFill>
          <a:ln w="12700">
            <a:solidFill>
              <a:srgbClr val="FFFFFF"/>
            </a:solidFill>
            <a:prstDash val="solid"/>
          </a:ln>
        </p:spPr>
      </p:sp>
      <p:sp>
        <p:nvSpPr>
          <p:cNvPr id="20" name="Text 18"/>
          <p:cNvSpPr txBox="1"/>
          <p:nvPr/>
        </p:nvSpPr>
        <p:spPr>
          <a:xfrm>
            <a:off x="7004304" y="5486400"/>
            <a:ext cx="133502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トライアル様と</a:t>
            </a:r>
            <a:endParaRPr lang="en-US" sz="950" dirty="0"/>
          </a:p>
          <a:p>
            <a:pPr algn="ctr" indent="0" marL="0">
              <a:buNone/>
            </a:pPr>
            <a:r>
              <a:rPr lang="en-US" sz="950" b="1" dirty="0">
                <a:solidFill>
                  <a:srgbClr val="FFFFFF"/>
                </a:solidFill>
                <a:latin typeface="Yu Gothic" pitchFamily="34" charset="0"/>
                <a:ea typeface="Yu Gothic" pitchFamily="34" charset="-122"/>
                <a:cs typeface="Yu Gothic" pitchFamily="34" charset="-120"/>
              </a:rPr>
              <a:t>確認</a:t>
            </a:r>
            <a:endParaRPr lang="en-US" sz="950" dirty="0"/>
          </a:p>
        </p:txBody>
      </p:sp>
      <p:sp>
        <p:nvSpPr>
          <p:cNvPr id="21" name="Shape 19"/>
          <p:cNvSpPr/>
          <p:nvPr/>
        </p:nvSpPr>
        <p:spPr>
          <a:xfrm>
            <a:off x="8503920" y="5486400"/>
            <a:ext cx="1517904" cy="640080"/>
          </a:xfrm>
          <a:prstGeom prst="chevron">
            <a:avLst/>
          </a:prstGeom>
          <a:solidFill>
            <a:srgbClr val="1C7C7D"/>
          </a:solidFill>
          <a:ln w="12700">
            <a:solidFill>
              <a:srgbClr val="FFFFFF"/>
            </a:solidFill>
            <a:prstDash val="solid"/>
          </a:ln>
        </p:spPr>
      </p:sp>
      <p:sp>
        <p:nvSpPr>
          <p:cNvPr id="22" name="Text 20"/>
          <p:cNvSpPr txBox="1"/>
          <p:nvPr/>
        </p:nvSpPr>
        <p:spPr>
          <a:xfrm>
            <a:off x="8613648" y="5486400"/>
            <a:ext cx="133502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商品開発</a:t>
            </a:r>
            <a:endParaRPr lang="en-US" sz="950" dirty="0"/>
          </a:p>
        </p:txBody>
      </p:sp>
      <p:sp>
        <p:nvSpPr>
          <p:cNvPr id="23" name="Shape 21"/>
          <p:cNvSpPr/>
          <p:nvPr/>
        </p:nvSpPr>
        <p:spPr>
          <a:xfrm>
            <a:off x="10113264" y="5486400"/>
            <a:ext cx="1517904" cy="640080"/>
          </a:xfrm>
          <a:prstGeom prst="chevron">
            <a:avLst/>
          </a:prstGeom>
          <a:solidFill>
            <a:srgbClr val="1C7C7D"/>
          </a:solidFill>
          <a:ln w="12700">
            <a:solidFill>
              <a:srgbClr val="FFFFFF"/>
            </a:solidFill>
            <a:prstDash val="solid"/>
          </a:ln>
        </p:spPr>
      </p:sp>
      <p:sp>
        <p:nvSpPr>
          <p:cNvPr id="24" name="Text 22"/>
          <p:cNvSpPr txBox="1"/>
          <p:nvPr/>
        </p:nvSpPr>
        <p:spPr>
          <a:xfrm>
            <a:off x="10222992" y="5486400"/>
            <a:ext cx="1335024" cy="640080"/>
          </a:xfrm>
          <a:prstGeom prst="rect">
            <a:avLst/>
          </a:prstGeom>
          <a:noFill/>
          <a:ln/>
        </p:spPr>
        <p:txBody>
          <a:bodyPr wrap="square" lIns="0" tIns="0" rIns="0" bIns="0" rtlCol="0" anchor="ctr"/>
          <a:lstStyle/>
          <a:p>
            <a:pPr algn="ctr" indent="0" marL="0">
              <a:buNone/>
            </a:pPr>
            <a:r>
              <a:rPr lang="en-US" sz="950" b="1" dirty="0">
                <a:solidFill>
                  <a:srgbClr val="FFFFFF"/>
                </a:solidFill>
                <a:latin typeface="Yu Gothic" pitchFamily="34" charset="0"/>
                <a:ea typeface="Yu Gothic" pitchFamily="34" charset="-122"/>
                <a:cs typeface="Yu Gothic" pitchFamily="34" charset="-120"/>
              </a:rPr>
              <a:t>販売後に</a:t>
            </a:r>
            <a:endParaRPr lang="en-US" sz="950" dirty="0"/>
          </a:p>
          <a:p>
            <a:pPr algn="ctr" indent="0" marL="0">
              <a:buNone/>
            </a:pPr>
            <a:r>
              <a:rPr lang="en-US" sz="950" b="1" dirty="0">
                <a:solidFill>
                  <a:srgbClr val="FFFFFF"/>
                </a:solidFill>
                <a:latin typeface="Yu Gothic" pitchFamily="34" charset="0"/>
                <a:ea typeface="Yu Gothic" pitchFamily="34" charset="-122"/>
                <a:cs typeface="Yu Gothic" pitchFamily="34" charset="-120"/>
              </a:rPr>
              <a:t>再分析</a:t>
            </a:r>
            <a:endParaRPr lang="en-US" sz="95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274320"/>
            <a:ext cx="11247120" cy="548640"/>
          </a:xfrm>
          <a:prstGeom prst="rect">
            <a:avLst/>
          </a:prstGeom>
          <a:noFill/>
          <a:ln/>
        </p:spPr>
        <p:txBody>
          <a:bodyPr wrap="square" lIns="0" tIns="0" rIns="0" bIns="0" rtlCol="0" anchor="ctr"/>
          <a:lstStyle/>
          <a:p>
            <a:pPr indent="0" marL="0">
              <a:buNone/>
            </a:pPr>
            <a:r>
              <a:rPr lang="en-US" sz="2400" b="1" dirty="0">
                <a:solidFill>
                  <a:srgbClr val="0E3B43"/>
                </a:solidFill>
                <a:latin typeface="Yu Gothic" pitchFamily="34" charset="0"/>
                <a:ea typeface="Yu Gothic" pitchFamily="34" charset="-122"/>
                <a:cs typeface="Yu Gothic" pitchFamily="34" charset="-120"/>
              </a:rPr>
              <a:t>次の分析で追加したいデータ</a:t>
            </a:r>
            <a:endParaRPr lang="en-US" sz="2400" dirty="0"/>
          </a:p>
        </p:txBody>
      </p:sp>
      <p:sp>
        <p:nvSpPr>
          <p:cNvPr id="3" name="Text 1"/>
          <p:cNvSpPr txBox="1"/>
          <p:nvPr/>
        </p:nvSpPr>
        <p:spPr>
          <a:xfrm>
            <a:off x="457200" y="822960"/>
            <a:ext cx="11247120" cy="320040"/>
          </a:xfrm>
          <a:prstGeom prst="rect">
            <a:avLst/>
          </a:prstGeom>
          <a:noFill/>
          <a:ln/>
        </p:spPr>
        <p:txBody>
          <a:bodyPr wrap="square" lIns="0" tIns="0" rIns="0" bIns="0" rtlCol="0" anchor="ctr"/>
          <a:lstStyle/>
          <a:p>
            <a:pPr indent="0" marL="0">
              <a:buNone/>
            </a:pPr>
            <a:r>
              <a:rPr lang="en-US" sz="1200" dirty="0">
                <a:solidFill>
                  <a:srgbClr val="5F6C72"/>
                </a:solidFill>
                <a:latin typeface="Yu Gothic" pitchFamily="34" charset="0"/>
                <a:ea typeface="Yu Gothic" pitchFamily="34" charset="-122"/>
                <a:cs typeface="Yu Gothic" pitchFamily="34" charset="-120"/>
              </a:rPr>
              <a:t>追加データで「市場として面白い」から「方針に合い、当社が競争力を持って開発でき、利益も成立する」まで評価精度を高める</a:t>
            </a:r>
            <a:endParaRPr lang="en-US" sz="1200" dirty="0"/>
          </a:p>
        </p:txBody>
      </p:sp>
      <p:sp>
        <p:nvSpPr>
          <p:cNvPr id="4" name="Shape 2"/>
          <p:cNvSpPr/>
          <p:nvPr/>
        </p:nvSpPr>
        <p:spPr>
          <a:xfrm>
            <a:off x="457200" y="1371600"/>
            <a:ext cx="3474720" cy="777240"/>
          </a:xfrm>
          <a:prstGeom prst="roundRect">
            <a:avLst>
              <a:gd name="adj" fmla="val 9412"/>
            </a:avLst>
          </a:prstGeom>
          <a:solidFill>
            <a:srgbClr val="F5F8F8"/>
          </a:solidFill>
          <a:ln w="12700">
            <a:solidFill>
              <a:srgbClr val="F5F8F8"/>
            </a:solidFill>
            <a:prstDash val="solid"/>
          </a:ln>
        </p:spPr>
      </p:sp>
      <p:sp>
        <p:nvSpPr>
          <p:cNvPr id="5" name="Shape 3"/>
          <p:cNvSpPr/>
          <p:nvPr/>
        </p:nvSpPr>
        <p:spPr>
          <a:xfrm>
            <a:off x="594360" y="1554480"/>
            <a:ext cx="411480" cy="411480"/>
          </a:xfrm>
          <a:prstGeom prst="ellipse">
            <a:avLst/>
          </a:prstGeom>
          <a:solidFill>
            <a:srgbClr val="1C7C7D"/>
          </a:solidFill>
          <a:ln w="12700">
            <a:solidFill>
              <a:srgbClr val="1C7C7D"/>
            </a:solidFill>
            <a:prstDash val="solid"/>
          </a:ln>
        </p:spPr>
      </p:sp>
      <p:sp>
        <p:nvSpPr>
          <p:cNvPr id="6" name="Text 4"/>
          <p:cNvSpPr txBox="1"/>
          <p:nvPr/>
        </p:nvSpPr>
        <p:spPr>
          <a:xfrm>
            <a:off x="594360" y="15544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1</a:t>
            </a:r>
            <a:endParaRPr lang="en-US" sz="1200" dirty="0"/>
          </a:p>
        </p:txBody>
      </p:sp>
      <p:sp>
        <p:nvSpPr>
          <p:cNvPr id="7" name="Text 5"/>
          <p:cNvSpPr txBox="1"/>
          <p:nvPr/>
        </p:nvSpPr>
        <p:spPr>
          <a:xfrm>
            <a:off x="1143000" y="1371600"/>
            <a:ext cx="2697480" cy="777240"/>
          </a:xfrm>
          <a:prstGeom prst="rect">
            <a:avLst/>
          </a:prstGeom>
          <a:noFill/>
          <a:ln/>
        </p:spPr>
        <p:txBody>
          <a:bodyPr wrap="square" lIns="0" tIns="0" rIns="0" bIns="0" rtlCol="0" anchor="ctr"/>
          <a:lstStyle/>
          <a:p>
            <a:pPr indent="0" marL="0">
              <a:buNone/>
            </a:pPr>
            <a:r>
              <a:rPr lang="en-US" sz="1200" dirty="0">
                <a:solidFill>
                  <a:srgbClr val="1F2933"/>
                </a:solidFill>
                <a:latin typeface="Yu Gothic" pitchFamily="34" charset="0"/>
                <a:ea typeface="Yu Gothic" pitchFamily="34" charset="-122"/>
                <a:cs typeface="Yu Gothic" pitchFamily="34" charset="-120"/>
              </a:rPr>
              <a:t>商品別売上・売れ数・PB/NB区分</a:t>
            </a:r>
            <a:endParaRPr lang="en-US" sz="1200" dirty="0"/>
          </a:p>
        </p:txBody>
      </p:sp>
      <p:sp>
        <p:nvSpPr>
          <p:cNvPr id="8" name="Shape 6"/>
          <p:cNvSpPr/>
          <p:nvPr/>
        </p:nvSpPr>
        <p:spPr>
          <a:xfrm>
            <a:off x="4114800" y="1371600"/>
            <a:ext cx="3474720" cy="777240"/>
          </a:xfrm>
          <a:prstGeom prst="roundRect">
            <a:avLst>
              <a:gd name="adj" fmla="val 9412"/>
            </a:avLst>
          </a:prstGeom>
          <a:solidFill>
            <a:srgbClr val="F5F8F8"/>
          </a:solidFill>
          <a:ln w="12700">
            <a:solidFill>
              <a:srgbClr val="F5F8F8"/>
            </a:solidFill>
            <a:prstDash val="solid"/>
          </a:ln>
        </p:spPr>
      </p:sp>
      <p:sp>
        <p:nvSpPr>
          <p:cNvPr id="9" name="Shape 7"/>
          <p:cNvSpPr/>
          <p:nvPr/>
        </p:nvSpPr>
        <p:spPr>
          <a:xfrm>
            <a:off x="4251960" y="1554480"/>
            <a:ext cx="411480" cy="411480"/>
          </a:xfrm>
          <a:prstGeom prst="ellipse">
            <a:avLst/>
          </a:prstGeom>
          <a:solidFill>
            <a:srgbClr val="1C7C7D"/>
          </a:solidFill>
          <a:ln w="12700">
            <a:solidFill>
              <a:srgbClr val="1C7C7D"/>
            </a:solidFill>
            <a:prstDash val="solid"/>
          </a:ln>
        </p:spPr>
      </p:sp>
      <p:sp>
        <p:nvSpPr>
          <p:cNvPr id="10" name="Text 8"/>
          <p:cNvSpPr txBox="1"/>
          <p:nvPr/>
        </p:nvSpPr>
        <p:spPr>
          <a:xfrm>
            <a:off x="4251960" y="155448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2</a:t>
            </a:r>
            <a:endParaRPr lang="en-US" sz="1200" dirty="0"/>
          </a:p>
        </p:txBody>
      </p:sp>
      <p:sp>
        <p:nvSpPr>
          <p:cNvPr id="11" name="Text 9"/>
          <p:cNvSpPr txBox="1"/>
          <p:nvPr/>
        </p:nvSpPr>
        <p:spPr>
          <a:xfrm>
            <a:off x="4800600" y="1371600"/>
            <a:ext cx="2697480" cy="777240"/>
          </a:xfrm>
          <a:prstGeom prst="rect">
            <a:avLst/>
          </a:prstGeom>
          <a:noFill/>
          <a:ln/>
        </p:spPr>
        <p:txBody>
          <a:bodyPr wrap="square" lIns="0" tIns="0" rIns="0" bIns="0" rtlCol="0" anchor="ctr"/>
          <a:lstStyle/>
          <a:p>
            <a:pPr indent="0" marL="0">
              <a:buNone/>
            </a:pPr>
            <a:r>
              <a:rPr lang="en-US" sz="1200" dirty="0">
                <a:solidFill>
                  <a:srgbClr val="1F2933"/>
                </a:solidFill>
                <a:latin typeface="Yu Gothic" pitchFamily="34" charset="0"/>
                <a:ea typeface="Yu Gothic" pitchFamily="34" charset="-122"/>
                <a:cs typeface="Yu Gothic" pitchFamily="34" charset="-120"/>
              </a:rPr>
              <a:t>売価・原価・粗利</a:t>
            </a:r>
            <a:endParaRPr lang="en-US" sz="1200" dirty="0"/>
          </a:p>
        </p:txBody>
      </p:sp>
      <p:sp>
        <p:nvSpPr>
          <p:cNvPr id="12" name="Shape 10"/>
          <p:cNvSpPr/>
          <p:nvPr/>
        </p:nvSpPr>
        <p:spPr>
          <a:xfrm>
            <a:off x="457200" y="2331720"/>
            <a:ext cx="3474720" cy="777240"/>
          </a:xfrm>
          <a:prstGeom prst="roundRect">
            <a:avLst>
              <a:gd name="adj" fmla="val 9412"/>
            </a:avLst>
          </a:prstGeom>
          <a:solidFill>
            <a:srgbClr val="F5F8F8"/>
          </a:solidFill>
          <a:ln w="12700">
            <a:solidFill>
              <a:srgbClr val="F5F8F8"/>
            </a:solidFill>
            <a:prstDash val="solid"/>
          </a:ln>
        </p:spPr>
      </p:sp>
      <p:sp>
        <p:nvSpPr>
          <p:cNvPr id="13" name="Shape 11"/>
          <p:cNvSpPr/>
          <p:nvPr/>
        </p:nvSpPr>
        <p:spPr>
          <a:xfrm>
            <a:off x="594360" y="2514600"/>
            <a:ext cx="411480" cy="411480"/>
          </a:xfrm>
          <a:prstGeom prst="ellipse">
            <a:avLst/>
          </a:prstGeom>
          <a:solidFill>
            <a:srgbClr val="1C7C7D"/>
          </a:solidFill>
          <a:ln w="12700">
            <a:solidFill>
              <a:srgbClr val="1C7C7D"/>
            </a:solidFill>
            <a:prstDash val="solid"/>
          </a:ln>
        </p:spPr>
      </p:sp>
      <p:sp>
        <p:nvSpPr>
          <p:cNvPr id="14" name="Text 12"/>
          <p:cNvSpPr txBox="1"/>
          <p:nvPr/>
        </p:nvSpPr>
        <p:spPr>
          <a:xfrm>
            <a:off x="594360" y="25146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3</a:t>
            </a:r>
            <a:endParaRPr lang="en-US" sz="1200" dirty="0"/>
          </a:p>
        </p:txBody>
      </p:sp>
      <p:sp>
        <p:nvSpPr>
          <p:cNvPr id="15" name="Text 13"/>
          <p:cNvSpPr txBox="1"/>
          <p:nvPr/>
        </p:nvSpPr>
        <p:spPr>
          <a:xfrm>
            <a:off x="1143000" y="2331720"/>
            <a:ext cx="2697480" cy="777240"/>
          </a:xfrm>
          <a:prstGeom prst="rect">
            <a:avLst/>
          </a:prstGeom>
          <a:noFill/>
          <a:ln/>
        </p:spPr>
        <p:txBody>
          <a:bodyPr wrap="square" lIns="0" tIns="0" rIns="0" bIns="0" rtlCol="0" anchor="ctr"/>
          <a:lstStyle/>
          <a:p>
            <a:pPr indent="0" marL="0">
              <a:buNone/>
            </a:pPr>
            <a:r>
              <a:rPr lang="en-US" sz="1200" dirty="0">
                <a:solidFill>
                  <a:srgbClr val="1F2933"/>
                </a:solidFill>
                <a:latin typeface="Yu Gothic" pitchFamily="34" charset="0"/>
                <a:ea typeface="Yu Gothic" pitchFamily="34" charset="-122"/>
                <a:cs typeface="Yu Gothic" pitchFamily="34" charset="-120"/>
              </a:rPr>
              <a:t>店舗数・配荷率・店舗別実績</a:t>
            </a:r>
            <a:endParaRPr lang="en-US" sz="1200" dirty="0"/>
          </a:p>
        </p:txBody>
      </p:sp>
      <p:sp>
        <p:nvSpPr>
          <p:cNvPr id="16" name="Shape 14"/>
          <p:cNvSpPr/>
          <p:nvPr/>
        </p:nvSpPr>
        <p:spPr>
          <a:xfrm>
            <a:off x="4114800" y="2331720"/>
            <a:ext cx="3474720" cy="777240"/>
          </a:xfrm>
          <a:prstGeom prst="roundRect">
            <a:avLst>
              <a:gd name="adj" fmla="val 9412"/>
            </a:avLst>
          </a:prstGeom>
          <a:solidFill>
            <a:srgbClr val="F5F8F8"/>
          </a:solidFill>
          <a:ln w="12700">
            <a:solidFill>
              <a:srgbClr val="F5F8F8"/>
            </a:solidFill>
            <a:prstDash val="solid"/>
          </a:ln>
        </p:spPr>
      </p:sp>
      <p:sp>
        <p:nvSpPr>
          <p:cNvPr id="17" name="Shape 15"/>
          <p:cNvSpPr/>
          <p:nvPr/>
        </p:nvSpPr>
        <p:spPr>
          <a:xfrm>
            <a:off x="4251960" y="2514600"/>
            <a:ext cx="411480" cy="411480"/>
          </a:xfrm>
          <a:prstGeom prst="ellipse">
            <a:avLst/>
          </a:prstGeom>
          <a:solidFill>
            <a:srgbClr val="1C7C7D"/>
          </a:solidFill>
          <a:ln w="12700">
            <a:solidFill>
              <a:srgbClr val="1C7C7D"/>
            </a:solidFill>
            <a:prstDash val="solid"/>
          </a:ln>
        </p:spPr>
      </p:sp>
      <p:sp>
        <p:nvSpPr>
          <p:cNvPr id="18" name="Text 16"/>
          <p:cNvSpPr txBox="1"/>
          <p:nvPr/>
        </p:nvSpPr>
        <p:spPr>
          <a:xfrm>
            <a:off x="4251960" y="251460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4</a:t>
            </a:r>
            <a:endParaRPr lang="en-US" sz="1200" dirty="0"/>
          </a:p>
        </p:txBody>
      </p:sp>
      <p:sp>
        <p:nvSpPr>
          <p:cNvPr id="19" name="Text 17"/>
          <p:cNvSpPr txBox="1"/>
          <p:nvPr/>
        </p:nvSpPr>
        <p:spPr>
          <a:xfrm>
            <a:off x="4800600" y="2331720"/>
            <a:ext cx="2697480" cy="777240"/>
          </a:xfrm>
          <a:prstGeom prst="rect">
            <a:avLst/>
          </a:prstGeom>
          <a:noFill/>
          <a:ln/>
        </p:spPr>
        <p:txBody>
          <a:bodyPr wrap="square" lIns="0" tIns="0" rIns="0" bIns="0" rtlCol="0" anchor="ctr"/>
          <a:lstStyle/>
          <a:p>
            <a:pPr indent="0" marL="0">
              <a:buNone/>
            </a:pPr>
            <a:r>
              <a:rPr lang="en-US" sz="1200" dirty="0">
                <a:solidFill>
                  <a:srgbClr val="1F2933"/>
                </a:solidFill>
                <a:latin typeface="Yu Gothic" pitchFamily="34" charset="0"/>
                <a:ea typeface="Yu Gothic" pitchFamily="34" charset="-122"/>
                <a:cs typeface="Yu Gothic" pitchFamily="34" charset="-120"/>
              </a:rPr>
              <a:t>在庫・欠品・廃番情報</a:t>
            </a:r>
            <a:endParaRPr lang="en-US" sz="1200" dirty="0"/>
          </a:p>
        </p:txBody>
      </p:sp>
      <p:sp>
        <p:nvSpPr>
          <p:cNvPr id="20" name="Shape 18"/>
          <p:cNvSpPr/>
          <p:nvPr/>
        </p:nvSpPr>
        <p:spPr>
          <a:xfrm>
            <a:off x="457200" y="3291840"/>
            <a:ext cx="3474720" cy="777240"/>
          </a:xfrm>
          <a:prstGeom prst="roundRect">
            <a:avLst>
              <a:gd name="adj" fmla="val 9412"/>
            </a:avLst>
          </a:prstGeom>
          <a:solidFill>
            <a:srgbClr val="F5F8F8"/>
          </a:solidFill>
          <a:ln w="12700">
            <a:solidFill>
              <a:srgbClr val="F5F8F8"/>
            </a:solidFill>
            <a:prstDash val="solid"/>
          </a:ln>
        </p:spPr>
      </p:sp>
      <p:sp>
        <p:nvSpPr>
          <p:cNvPr id="21" name="Shape 19"/>
          <p:cNvSpPr/>
          <p:nvPr/>
        </p:nvSpPr>
        <p:spPr>
          <a:xfrm>
            <a:off x="594360" y="3474720"/>
            <a:ext cx="411480" cy="411480"/>
          </a:xfrm>
          <a:prstGeom prst="ellipse">
            <a:avLst/>
          </a:prstGeom>
          <a:solidFill>
            <a:srgbClr val="1C7C7D"/>
          </a:solidFill>
          <a:ln w="12700">
            <a:solidFill>
              <a:srgbClr val="1C7C7D"/>
            </a:solidFill>
            <a:prstDash val="solid"/>
          </a:ln>
        </p:spPr>
      </p:sp>
      <p:sp>
        <p:nvSpPr>
          <p:cNvPr id="22" name="Text 20"/>
          <p:cNvSpPr txBox="1"/>
          <p:nvPr/>
        </p:nvSpPr>
        <p:spPr>
          <a:xfrm>
            <a:off x="594360" y="34747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5</a:t>
            </a:r>
            <a:endParaRPr lang="en-US" sz="1200" dirty="0"/>
          </a:p>
        </p:txBody>
      </p:sp>
      <p:sp>
        <p:nvSpPr>
          <p:cNvPr id="23" name="Text 21"/>
          <p:cNvSpPr txBox="1"/>
          <p:nvPr/>
        </p:nvSpPr>
        <p:spPr>
          <a:xfrm>
            <a:off x="1143000" y="3291840"/>
            <a:ext cx="2697480" cy="777240"/>
          </a:xfrm>
          <a:prstGeom prst="rect">
            <a:avLst/>
          </a:prstGeom>
          <a:noFill/>
          <a:ln/>
        </p:spPr>
        <p:txBody>
          <a:bodyPr wrap="square" lIns="0" tIns="0" rIns="0" bIns="0" rtlCol="0" anchor="ctr"/>
          <a:lstStyle/>
          <a:p>
            <a:pPr indent="0" marL="0">
              <a:buNone/>
            </a:pPr>
            <a:r>
              <a:rPr lang="en-US" sz="1200" dirty="0">
                <a:solidFill>
                  <a:srgbClr val="1F2933"/>
                </a:solidFill>
                <a:latin typeface="Yu Gothic" pitchFamily="34" charset="0"/>
                <a:ea typeface="Yu Gothic" pitchFamily="34" charset="-122"/>
                <a:cs typeface="Yu Gothic" pitchFamily="34" charset="-120"/>
              </a:rPr>
              <a:t>PB/NBの全SKU数</a:t>
            </a:r>
            <a:endParaRPr lang="en-US" sz="1200" dirty="0"/>
          </a:p>
        </p:txBody>
      </p:sp>
      <p:sp>
        <p:nvSpPr>
          <p:cNvPr id="24" name="Shape 22"/>
          <p:cNvSpPr/>
          <p:nvPr/>
        </p:nvSpPr>
        <p:spPr>
          <a:xfrm>
            <a:off x="4114800" y="3291840"/>
            <a:ext cx="3474720" cy="777240"/>
          </a:xfrm>
          <a:prstGeom prst="roundRect">
            <a:avLst>
              <a:gd name="adj" fmla="val 9412"/>
            </a:avLst>
          </a:prstGeom>
          <a:solidFill>
            <a:srgbClr val="F5F8F8"/>
          </a:solidFill>
          <a:ln w="12700">
            <a:solidFill>
              <a:srgbClr val="F5F8F8"/>
            </a:solidFill>
            <a:prstDash val="solid"/>
          </a:ln>
        </p:spPr>
      </p:sp>
      <p:sp>
        <p:nvSpPr>
          <p:cNvPr id="25" name="Shape 23"/>
          <p:cNvSpPr/>
          <p:nvPr/>
        </p:nvSpPr>
        <p:spPr>
          <a:xfrm>
            <a:off x="4251960" y="3474720"/>
            <a:ext cx="411480" cy="411480"/>
          </a:xfrm>
          <a:prstGeom prst="ellipse">
            <a:avLst/>
          </a:prstGeom>
          <a:solidFill>
            <a:srgbClr val="1C7C7D"/>
          </a:solidFill>
          <a:ln w="12700">
            <a:solidFill>
              <a:srgbClr val="1C7C7D"/>
            </a:solidFill>
            <a:prstDash val="solid"/>
          </a:ln>
        </p:spPr>
      </p:sp>
      <p:sp>
        <p:nvSpPr>
          <p:cNvPr id="26" name="Text 24"/>
          <p:cNvSpPr txBox="1"/>
          <p:nvPr/>
        </p:nvSpPr>
        <p:spPr>
          <a:xfrm>
            <a:off x="4251960" y="347472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6</a:t>
            </a:r>
            <a:endParaRPr lang="en-US" sz="1200" dirty="0"/>
          </a:p>
        </p:txBody>
      </p:sp>
      <p:sp>
        <p:nvSpPr>
          <p:cNvPr id="27" name="Text 25"/>
          <p:cNvSpPr txBox="1"/>
          <p:nvPr/>
        </p:nvSpPr>
        <p:spPr>
          <a:xfrm>
            <a:off x="4800600" y="3291840"/>
            <a:ext cx="2697480" cy="777240"/>
          </a:xfrm>
          <a:prstGeom prst="rect">
            <a:avLst/>
          </a:prstGeom>
          <a:noFill/>
          <a:ln/>
        </p:spPr>
        <p:txBody>
          <a:bodyPr wrap="square" lIns="0" tIns="0" rIns="0" bIns="0" rtlCol="0" anchor="ctr"/>
          <a:lstStyle/>
          <a:p>
            <a:pPr indent="0" marL="0">
              <a:buNone/>
            </a:pPr>
            <a:r>
              <a:rPr lang="en-US" sz="1200" dirty="0">
                <a:solidFill>
                  <a:srgbClr val="1F2933"/>
                </a:solidFill>
                <a:latin typeface="Yu Gothic" pitchFamily="34" charset="0"/>
                <a:ea typeface="Yu Gothic" pitchFamily="34" charset="-122"/>
                <a:cs typeface="Yu Gothic" pitchFamily="34" charset="-120"/>
              </a:rPr>
              <a:t>過去PB商品の導入・終了履歴と理由</a:t>
            </a:r>
            <a:endParaRPr lang="en-US" sz="1200" dirty="0"/>
          </a:p>
        </p:txBody>
      </p:sp>
      <p:sp>
        <p:nvSpPr>
          <p:cNvPr id="28" name="Shape 26"/>
          <p:cNvSpPr/>
          <p:nvPr/>
        </p:nvSpPr>
        <p:spPr>
          <a:xfrm>
            <a:off x="457200" y="4251960"/>
            <a:ext cx="3474720" cy="777240"/>
          </a:xfrm>
          <a:prstGeom prst="roundRect">
            <a:avLst>
              <a:gd name="adj" fmla="val 9412"/>
            </a:avLst>
          </a:prstGeom>
          <a:solidFill>
            <a:srgbClr val="F5F8F8"/>
          </a:solidFill>
          <a:ln w="12700">
            <a:solidFill>
              <a:srgbClr val="F5F8F8"/>
            </a:solidFill>
            <a:prstDash val="solid"/>
          </a:ln>
        </p:spPr>
      </p:sp>
      <p:sp>
        <p:nvSpPr>
          <p:cNvPr id="29" name="Shape 27"/>
          <p:cNvSpPr/>
          <p:nvPr/>
        </p:nvSpPr>
        <p:spPr>
          <a:xfrm>
            <a:off x="594360" y="4434840"/>
            <a:ext cx="411480" cy="411480"/>
          </a:xfrm>
          <a:prstGeom prst="ellipse">
            <a:avLst/>
          </a:prstGeom>
          <a:solidFill>
            <a:srgbClr val="1C7C7D"/>
          </a:solidFill>
          <a:ln w="12700">
            <a:solidFill>
              <a:srgbClr val="1C7C7D"/>
            </a:solidFill>
            <a:prstDash val="solid"/>
          </a:ln>
        </p:spPr>
      </p:sp>
      <p:sp>
        <p:nvSpPr>
          <p:cNvPr id="30" name="Text 28"/>
          <p:cNvSpPr txBox="1"/>
          <p:nvPr/>
        </p:nvSpPr>
        <p:spPr>
          <a:xfrm>
            <a:off x="594360" y="443484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7</a:t>
            </a:r>
            <a:endParaRPr lang="en-US" sz="1200" dirty="0"/>
          </a:p>
        </p:txBody>
      </p:sp>
      <p:sp>
        <p:nvSpPr>
          <p:cNvPr id="31" name="Text 29"/>
          <p:cNvSpPr txBox="1"/>
          <p:nvPr/>
        </p:nvSpPr>
        <p:spPr>
          <a:xfrm>
            <a:off x="1143000" y="4251960"/>
            <a:ext cx="2697480" cy="777240"/>
          </a:xfrm>
          <a:prstGeom prst="rect">
            <a:avLst/>
          </a:prstGeom>
          <a:noFill/>
          <a:ln/>
        </p:spPr>
        <p:txBody>
          <a:bodyPr wrap="square" lIns="0" tIns="0" rIns="0" bIns="0" rtlCol="0" anchor="ctr"/>
          <a:lstStyle/>
          <a:p>
            <a:pPr indent="0" marL="0">
              <a:buNone/>
            </a:pPr>
            <a:r>
              <a:rPr lang="en-US" sz="1200" dirty="0">
                <a:solidFill>
                  <a:srgbClr val="1F2933"/>
                </a:solidFill>
                <a:latin typeface="Yu Gothic" pitchFamily="34" charset="0"/>
                <a:ea typeface="Yu Gothic" pitchFamily="34" charset="-122"/>
                <a:cs typeface="Yu Gothic" pitchFamily="34" charset="-120"/>
              </a:rPr>
              <a:t>MOQ・リードタイム・調達可否・サプライヤー条件</a:t>
            </a:r>
            <a:endParaRPr lang="en-US" sz="1200" dirty="0"/>
          </a:p>
        </p:txBody>
      </p:sp>
      <p:sp>
        <p:nvSpPr>
          <p:cNvPr id="32" name="Shape 30"/>
          <p:cNvSpPr/>
          <p:nvPr/>
        </p:nvSpPr>
        <p:spPr>
          <a:xfrm>
            <a:off x="4114800" y="4251960"/>
            <a:ext cx="3474720" cy="777240"/>
          </a:xfrm>
          <a:prstGeom prst="roundRect">
            <a:avLst>
              <a:gd name="adj" fmla="val 9412"/>
            </a:avLst>
          </a:prstGeom>
          <a:solidFill>
            <a:srgbClr val="F5F8F8"/>
          </a:solidFill>
          <a:ln w="12700">
            <a:solidFill>
              <a:srgbClr val="F5F8F8"/>
            </a:solidFill>
            <a:prstDash val="solid"/>
          </a:ln>
        </p:spPr>
      </p:sp>
      <p:sp>
        <p:nvSpPr>
          <p:cNvPr id="33" name="Shape 31"/>
          <p:cNvSpPr/>
          <p:nvPr/>
        </p:nvSpPr>
        <p:spPr>
          <a:xfrm>
            <a:off x="4251960" y="4434840"/>
            <a:ext cx="411480" cy="411480"/>
          </a:xfrm>
          <a:prstGeom prst="ellipse">
            <a:avLst/>
          </a:prstGeom>
          <a:solidFill>
            <a:srgbClr val="1C7C7D"/>
          </a:solidFill>
          <a:ln w="12700">
            <a:solidFill>
              <a:srgbClr val="1C7C7D"/>
            </a:solidFill>
            <a:prstDash val="solid"/>
          </a:ln>
        </p:spPr>
      </p:sp>
      <p:sp>
        <p:nvSpPr>
          <p:cNvPr id="34" name="Text 32"/>
          <p:cNvSpPr txBox="1"/>
          <p:nvPr/>
        </p:nvSpPr>
        <p:spPr>
          <a:xfrm>
            <a:off x="4251960" y="4434840"/>
            <a:ext cx="411480" cy="411480"/>
          </a:xfrm>
          <a:prstGeom prst="rect">
            <a:avLst/>
          </a:prstGeom>
          <a:noFill/>
          <a:ln/>
        </p:spPr>
        <p:txBody>
          <a:bodyPr wrap="square" lIns="0" tIns="0" rIns="0" bIns="0" rtlCol="0" anchor="ctr"/>
          <a:lstStyle/>
          <a:p>
            <a:pPr algn="ctr" indent="0" marL="0">
              <a:buNone/>
            </a:pPr>
            <a:r>
              <a:rPr lang="en-US" sz="1200" b="1" dirty="0">
                <a:solidFill>
                  <a:srgbClr val="FFFFFF"/>
                </a:solidFill>
                <a:latin typeface="Yu Gothic" pitchFamily="34" charset="0"/>
                <a:ea typeface="Yu Gothic" pitchFamily="34" charset="-122"/>
                <a:cs typeface="Yu Gothic" pitchFamily="34" charset="-120"/>
              </a:rPr>
              <a:t>8</a:t>
            </a:r>
            <a:endParaRPr lang="en-US" sz="1200" dirty="0"/>
          </a:p>
        </p:txBody>
      </p:sp>
      <p:sp>
        <p:nvSpPr>
          <p:cNvPr id="35" name="Text 33"/>
          <p:cNvSpPr txBox="1"/>
          <p:nvPr/>
        </p:nvSpPr>
        <p:spPr>
          <a:xfrm>
            <a:off x="4800600" y="4251960"/>
            <a:ext cx="2697480" cy="777240"/>
          </a:xfrm>
          <a:prstGeom prst="rect">
            <a:avLst/>
          </a:prstGeom>
          <a:noFill/>
          <a:ln/>
        </p:spPr>
        <p:txBody>
          <a:bodyPr wrap="square" lIns="0" tIns="0" rIns="0" bIns="0" rtlCol="0" anchor="ctr"/>
          <a:lstStyle/>
          <a:p>
            <a:pPr indent="0" marL="0">
              <a:buNone/>
            </a:pPr>
            <a:r>
              <a:rPr lang="en-US" sz="1200" dirty="0">
                <a:solidFill>
                  <a:srgbClr val="1F2933"/>
                </a:solidFill>
                <a:latin typeface="Yu Gothic" pitchFamily="34" charset="0"/>
                <a:ea typeface="Yu Gothic" pitchFamily="34" charset="-122"/>
                <a:cs typeface="Yu Gothic" pitchFamily="34" charset="-120"/>
              </a:rPr>
              <a:t>トライアル様が今後伸ばしたいカテゴリー・PB方針</a:t>
            </a:r>
            <a:endParaRPr lang="en-US" sz="1200" dirty="0"/>
          </a:p>
        </p:txBody>
      </p:sp>
      <p:sp>
        <p:nvSpPr>
          <p:cNvPr id="36" name="Shape 34"/>
          <p:cNvSpPr/>
          <p:nvPr/>
        </p:nvSpPr>
        <p:spPr>
          <a:xfrm>
            <a:off x="7955280" y="1371600"/>
            <a:ext cx="3749040" cy="3657600"/>
          </a:xfrm>
          <a:prstGeom prst="roundRect">
            <a:avLst>
              <a:gd name="adj" fmla="val 2000"/>
            </a:avLst>
          </a:prstGeom>
          <a:solidFill>
            <a:srgbClr val="E6EEEE"/>
          </a:solidFill>
          <a:ln w="12700">
            <a:solidFill>
              <a:srgbClr val="E6EEEE"/>
            </a:solidFill>
            <a:prstDash val="solid"/>
          </a:ln>
        </p:spPr>
      </p:sp>
      <p:sp>
        <p:nvSpPr>
          <p:cNvPr id="37" name="Text 35"/>
          <p:cNvSpPr txBox="1"/>
          <p:nvPr/>
        </p:nvSpPr>
        <p:spPr>
          <a:xfrm>
            <a:off x="8092440" y="1463040"/>
            <a:ext cx="3474720" cy="3474720"/>
          </a:xfrm>
          <a:prstGeom prst="rect">
            <a:avLst/>
          </a:prstGeom>
          <a:noFill/>
          <a:ln/>
        </p:spPr>
        <p:txBody>
          <a:bodyPr wrap="square" lIns="25400" tIns="25400" rIns="25400" bIns="25400" rtlCol="0" anchor="t"/>
          <a:lstStyle/>
          <a:p>
            <a:pPr indent="0" marL="0">
              <a:spcAft>
                <a:spcPts val="600"/>
              </a:spcAft>
              <a:buNone/>
            </a:pPr>
            <a:r>
              <a:rPr lang="en-US" sz="1300" b="1" dirty="0">
                <a:solidFill>
                  <a:srgbClr val="0E3B43"/>
                </a:solidFill>
                <a:latin typeface="Yu Gothic" pitchFamily="34" charset="0"/>
                <a:ea typeface="Yu Gothic" pitchFamily="34" charset="-122"/>
                <a:cs typeface="Yu Gothic" pitchFamily="34" charset="-120"/>
              </a:rPr>
              <a:t>前提・注意事項</a:t>
            </a:r>
            <a:endParaRPr lang="en-US" sz="1300" dirty="0"/>
          </a:p>
          <a:p>
            <a:pPr marL="152400" indent="-152400">
              <a:spcAft>
                <a:spcPts val="400"/>
              </a:spcAft>
              <a:buSzPct val="100000"/>
              <a:buChar char="•"/>
            </a:pPr>
            <a:r>
              <a:rPr lang="en-US" sz="1100" dirty="0">
                <a:solidFill>
                  <a:srgbClr val="1F2933"/>
                </a:solidFill>
                <a:latin typeface="Yu Gothic" pitchFamily="34" charset="0"/>
                <a:ea typeface="Yu Gothic" pitchFamily="34" charset="-122"/>
                <a:cs typeface="Yu Gothic" pitchFamily="34" charset="-120"/>
              </a:rPr>
              <a:t>27/6期は2ヶ月分のため、PB比率とSKU数の参考表示のみ。売上金額・成長率の比較には使っていません。</a:t>
            </a:r>
            <a:endParaRPr lang="en-US" sz="1300" dirty="0"/>
          </a:p>
          <a:p>
            <a:pPr marL="152400" indent="-152400">
              <a:spcAft>
                <a:spcPts val="400"/>
              </a:spcAft>
              <a:buSzPct val="100000"/>
              <a:buChar char="•"/>
            </a:pPr>
            <a:r>
              <a:rPr lang="en-US" sz="1100" dirty="0">
                <a:solidFill>
                  <a:srgbClr val="1F2933"/>
                </a:solidFill>
                <a:latin typeface="Yu Gothic" pitchFamily="34" charset="0"/>
                <a:ea typeface="Yu Gothic" pitchFamily="34" charset="-122"/>
                <a:cs typeface="Yu Gothic" pitchFamily="34" charset="-120"/>
              </a:rPr>
              <a:t>推計PB/NB売上は「全体売上 × PB比率」からの推計値で、実績明細ではありません。</a:t>
            </a:r>
            <a:endParaRPr lang="en-US" sz="1300" dirty="0"/>
          </a:p>
          <a:p>
            <a:pPr marL="152400" indent="-152400">
              <a:spcAft>
                <a:spcPts val="400"/>
              </a:spcAft>
              <a:buSzPct val="100000"/>
              <a:buChar char="•"/>
            </a:pPr>
            <a:r>
              <a:rPr lang="en-US" sz="1100" dirty="0">
                <a:solidFill>
                  <a:srgbClr val="1F2933"/>
                </a:solidFill>
                <a:latin typeface="Yu Gothic" pitchFamily="34" charset="0"/>
                <a:ea typeface="Yu Gothic" pitchFamily="34" charset="-122"/>
                <a:cs typeface="Yu Gothic" pitchFamily="34" charset="-120"/>
              </a:rPr>
              <a:t>粗利・原価のデータは含まれていません。PBシェアが高くても利益が高いとは限りません。</a:t>
            </a:r>
            <a:endParaRPr lang="en-US" sz="1300" dirty="0"/>
          </a:p>
          <a:p>
            <a:pPr marL="152400" indent="-152400">
              <a:spcAft>
                <a:spcPts val="400"/>
              </a:spcAft>
              <a:buSzPct val="100000"/>
              <a:buChar char="•"/>
            </a:pPr>
            <a:r>
              <a:rPr lang="en-US" sz="1100" dirty="0">
                <a:solidFill>
                  <a:srgbClr val="1F2933"/>
                </a:solidFill>
                <a:latin typeface="Yu Gothic" pitchFamily="34" charset="0"/>
                <a:ea typeface="Yu Gothic" pitchFamily="34" charset="-122"/>
                <a:cs typeface="Yu Gothic" pitchFamily="34" charset="-120"/>
              </a:rPr>
              <a:t>AIの一致数は成功確率ではありません。</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F6C72"/>
                </a:solidFill>
                <a:latin typeface="Yu Gothic"/>
                <a:ea typeface="Yu Gothic"/>
                <a:cs typeface="Yu Gothic"/>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oei Trial PB">
  <a:themeElements>
    <a:clrScheme name="Toei Trial PB">
      <a:dk1>
        <a:srgbClr val="1F2933"/>
      </a:dk1>
      <a:lt1>
        <a:srgbClr val="FFFFFF"/>
      </a:lt1>
      <a:dk2>
        <a:srgbClr val="0E3B43"/>
      </a:dk2>
      <a:lt2>
        <a:srgbClr val="E6EEEE"/>
      </a:lt2>
      <a:accent1>
        <a:srgbClr val="1C7C7D"/>
      </a:accent1>
      <a:accent2>
        <a:srgbClr val="2E7D32"/>
      </a:accent2>
      <a:accent3>
        <a:srgbClr val="C62828"/>
      </a:accent3>
      <a:accent4>
        <a:srgbClr val="E67E22"/>
      </a:accent4>
      <a:accent5>
        <a:srgbClr val="5F6C72"/>
      </a:accent5>
      <a:accent6>
        <a:srgbClr val="F2A33A"/>
      </a:accent6>
      <a:hlink>
        <a:srgbClr val="1C7C7D"/>
      </a:hlink>
      <a:folHlink>
        <a:srgbClr val="5F6C72"/>
      </a:folHlink>
    </a:clrScheme>
    <a:fontScheme name="Toei Trial PB">
      <a:majorFont>
        <a:latin typeface="Yu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Yu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株式会社トーエートレーディング</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トライアル様との今後の商品開発方針</dc:title>
  <dc:subject>PptxGenJS Presentation</dc:subject>
  <dc:creator>PptxGenJS</dc:creator>
  <cp:lastModifiedBy>PptxGenJS</cp:lastModifiedBy>
  <cp:revision>1</cp:revision>
  <dcterms:created xsi:type="dcterms:W3CDTF">2026-10-02T10:51:57Z</dcterms:created>
  <dcterms:modified xsi:type="dcterms:W3CDTF">2026-10-02T10:51:57Z</dcterms:modified>
</cp:coreProperties>
</file>